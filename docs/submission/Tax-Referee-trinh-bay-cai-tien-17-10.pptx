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ban giám khảo. Chúng em là đội Fprinciples, sản phẩm là Tax Referee, một trọng tài cho thuế giá trị gia tăng đầu vào trên hóa đơn điện tử. Cả bài hôm nay gói trong một câu: máy quyết từng hóa đơn, còn người chốt cả lô. Quy tắc ra quyết định, AI chỉ làm việc đọc chứng từ. Em sẽ đi qua cách làm theo lô mới thêm trong vòng này, trả lời hai câu hỏi của Ban tổ chức về bảo mật và kiến trúc, rồi demo trực tiếp trên bản đang chạy.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hình dung chị kế toán vào cuối tháng. Hóa đơn đổ về từ mail, từ Zalo, có cái là file XML, có cái chỉ là ảnh chụp. Mỗi hóa đơn phải đạt nhiều điều kiện cùng lúc, và chỉ cần sai một điều kiện là mất tiền thuế được khấu trừ. Ví dụ một hóa đơn sáu triệu trả bằng tiền mặt, lập sau ngày 1 tháng 7 năm 2025, thì không được khấu trừ, vì ngưỡng bây giờ là năm triệu. Có hai cách làm sai. Một là cho qua hết: nhanh, nhưng khi thanh tra thì bị loại. Hai là cái gì cũng hỏi sếp: an toàn, nhưng sếp nghẽn, và tự động hóa không còn ý nghĩa.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tưởng của chúng em giống cô giáo chấm bài. Bài đúng hết thì cho điểm luôn. Bài sai chỗ nào thì khoanh đỏ đúng chỗ đó và hỏi lại. Tax Referee làm y như vậy: hóa đơn đạt hết điều kiện thì máy tự duyệt; chưa đạt thì dừng, nói rõ dừng vì sao, và hỏi đúng người. Chỉ có ba kiểu dừng: chưa rõ thông tin, ngoài quy định, và vượt thẩm quyền. Phần quyết định không gọi mô hình ngôn ngữ lần nào, nên cùng một hóa đơn chạy lại bao nhiêu lần cũng ra cùng kết quả. Ca máy tự duyệt vẫn bị hậu kiểm ngẫu nhiên mười phần trăm.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làm việc mới. Bước một, thu hóa đơn từ Gmail, Zalo hoặc tải lên, và biết ngay ai gửi. Bước hai, kiểm theo lô: xếp theo mã số thuế, ngày, số hóa đơn, rồi máy quyết từng hóa đơn. Bước ba, ca nào dừng thì hỏi đúng người, trả lời một lần kiểu "1A, 2A". Bước bốn là điểm mới quan trọng nhất: Kế toán trưởng hoặc CFO phải chốt lô thì mới ghi sổ. Bước năm, sếp xem tổng quan. Và mọi bước đều vào nhật ký chỉ ghi thêm. Giống dây chuyền kiểm hàng: máy soi từng món, nhưng tổ trưởng ký phiếu thì xe hàng mới được xuất kho.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chị kế toán tải cả lô một lần, hoặc hóa đơn tự vào từ Gmail và Zalo. Hệ thống đọc hết rồi mới xếp: theo mã số thuế, rồi ngày, rồi số hóa đơn, sau đó mới kiểm. Giống xếp bài thi theo số báo danh trước khi chấm, ai chấm lại cũng ra cùng một thứ tự. Một file gửi hai lần, trùng mã băm SHA-256, chỉ tính một lần. Với lô lớn, những hóa đơn cùng một câu hỏi được trả lời chung một lần, nhưng từng hóa đơn vẫn được kiểm và ghi nhật ký riêng.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sếp tin máy thì máy phải nói được lý do. Mỗi hóa đơn có một phiếu giải trình. Khi máy duyệt, phiếu liệt kê từng điều kiện đã đạt, có con số đi kèm, ai đọc cũng tự kiểm lại được. Khi máy dừng, phiếu tô đỏ đúng quy tắc bị vướng, đúng trường dữ liệu, và ghi rõ bao nhiêu tiền thuế đang bị treo. Giống bài kiểm tra trả về có lời phê: đúng chỗ nào, sai chỗ nào, mất bao nhiêu điểm.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Nguyên tắc của vòng này là: máy quyết, người chốt. Máy quyết từng hóa đơn theo quy tắc và ghi nhật ký, nhưng không ghi sổ khi lô chưa được chốt. Kế toán viên tạo lô và gắn hóa đơn. Kế toán trưởng duyệt ca dưới hai trăm triệu và chốt lô. Ca từ hai trăm triệu trở lên là việc của CFO, và lô có hóa đơn như vậy thì chỉ CFO chốt được. Người tạo lô không tự chốt lô của mình, để luôn có bốn mắt. Tóm lại: chưa có chữ ký chốt lô thì chưa có gì vào sổ.</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Hóa đơn đến qua mail thì phải biết ai gửi thật. Email chỉ được tính là của nhân viên khi địa chỉ có trong danh bạ và qua kiểm tra xác thực SPF hoặc DKIM. Cùng địa chỉ đó mà không qua xác thực thì bị đánh dấu nghi giả mạo. Người ngoài danh bạ thì chờ kế toán xác nhận. Giống bảo vệ tòa nhà: có thẻ đúng thì cho vào; mặc đồng phục mà không có thẻ thì giữ lại hỏi. Máy báo cho Kế toán trưởng, trả lời người gửi qua Zalo hoặc Gmail, và ai cũng có trang Lịch sử của tôi để xem hóa đơn mình đã gửi, đã duyệt.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Sếp không cần mở từng hóa đơn. Màn hình tổng quan cho biết bao nhiêu phần trăm máy tự xử lý, bao nhiêu người duyệt, bao nhiêu bị từ chối. Tiền thuế đã khấu trừ và tiền thuế đang chờ. Lý do dừng hay gặp nhất, để biết nên sửa quy trình ở đâu. Câu hỏi được trả lời sau bao lâu. Và chia theo kênh, theo người gửi, để thấy ai hay gửi hóa đơn thiếu.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một là bảo mật. Câu trả lời ngắn: chúng em cố ý không để AI quyết định. Định danh: máy tự duyệt thì nhật ký ghi tên trọng tài kèm mã băm của bộ quy tắc và dữ liệu, máy không mượn danh người nhập. Đặc quyền tối thiểu: quyền kiểm ở server, Kế toán trưởng sửa ca ba trăm ba mươi triệu xuống một trăm chín mươi tám triệu thì ca vẫn phải chờ CFO. Ranh giới tất định: agent đọc ảnh chỉ được khai mười bốn trường. Cách ly: mỗi phiên một database, nhật ký bị sửa là lộ. Giới hạn em nói thẳng: vai trò trong demo là mô phỏng, trình đọc PDF chưa nằm trong container riêng.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bảo mật thì phải chứng minh được. Trang trust có nút chạy mười hai phép thử tấn công, chia theo bốn trụ vừa nói, chạy ngay trên mã đang deploy chứ không phải ảnh chụp. Trang health cho thấy số lần gọi mô hình ngôn ngữ trên đường quyết định bằng không. Ngoài ra bộ bảy mươi hai ca red-team đều đạt. Chỗ nào chưa chặn được, như agent đọc sai số tiền, chúng em ghi thẳng trong phần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hai là kiến trúc. Một chứng từ đi qua bảy lớp: nạp, chuẩn hóa, quyết định tất định, workflow, người trong vòng lặp, bằng chứng, và vận hành. AI chỉ có mặt ở hai lớp đầu, để đọc ảnh và tra danh tính bên bán, và chỉ để đọc. AI diễn đạt câu hỏi ở lớp năm thì tắt mặc định. Bên phải là phần thật và phần giả lập: quy tắc, phân quyền, nhật ký, phép thử là mã chạy thật. Vai người dùng thì đổi được trong phiên demo, danh bạ người gửi là dữ liệu mẫu.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đánh đổi chúng em tự chọn. Một, quy tắc thay vì để mô hình ngôn ngữ quyết định: được khả năng tái lập và giải trình với cơ quan thuế, mất độ linh hoạt, từ khóa có thể sót ca lạ. Nếu thêm AI thì AI chỉ được làm chặt hơn, không bao giờ được nới. Hai, mỗi phiên một file SQLite: cách ly đơn giản, nhưng chỉ chạy trên một máy; cần nhiều instance thì chuyển sang PostgreSQL. Ba, gọi Vision đồng bộ qua bên thứ ba: nhanh ra demo, nhưng dữ liệu ảnh đi ra nước ngoài; có khách thật thì phải có hợp đồng xử lý dữ liệu hoặc chạy chế độ chỉ XML.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Thứ vỡ đầu tiên khi mở rộng không phải bộ quy tắc, vì nó chạy cục bộ. Vỡ trước là khâu đọc ảnh và PDF trên một instance. Nên lộ trình là: hôm nay đã có ranh giới cho Vision, bánh cóc thẩm quyền, ngân sách AI, trang trust, và lô có người chốt. Ba mươi ngày tới: đăng nhập một lần và xác thực hai lớp cho CFO, worker đọc file trong container không mạng, hàng đợi, đưa khóa nhật ký vào KMS. Chín mươi ngày: lấy XML có chữ ký số làm nguồn sự thật và đối chiếu dữ liệu hóa đơn điện tử của cơ quan thuế. Trên VNG Cloud có thể dùng VKS, vDB PostgreSQL, vStorage có Object Lock, KMS và IAM; phần này cần VNG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dữ liệu. File XML được đọc bằng mã thường, không bao giờ gửi cho AI. Ảnh và PDF scan thì gửi cho nhà cung cấp Vision, là bên thứ ba ở nước ngoài, và chỉ lấy về mười bốn trường. Khách hàng nào không muốn thì chạy chế độ chỉ XML. Mỗi phiên có database riêng, nhật ký chỉ ghi thêm. Về pháp luật, chúng em đã đối chiếu Luật Bảo vệ dữ liệu cá nhân và Nghị định 356 năm 2025 qua nguồn thứ cấp, nên không trích số điều. Lên production thì cần hợp đồng xử lý dữ liệu với nhà cung cấp AI, hoặc chạy chỉ XML.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các con số đo được, kèm ngữ cảnh. Bộ Verify đạt chín trên chín, gồm bốn ca chung và năm ca Đề A. Năm ca Đề A chạy khoảng tám mươi mili giây trên bản live. Chạy lại một trăm tám mươi ca hồi quy mất khoảng hai đến ba giây, không quyết định nào bị đổi. Bảy mươi hai ca red-team đạt cả, sáu mươi ca phát triển đạt cả, mười sáu bộ test tự động. Chúng em còn cho ba vai giám khảo mô phỏng chấm thử: họ tìm ra mười hai nhóm lỗi làm mất điểm, đội đã sửa và viết test cho từng nhóm.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Còn đây là so sánh trước và sau trên mười một ca viết theo kiểu giám khảo, giữa bản ngày mười ba và bản ngày mười lăm tháng mười. Số ca xử lý đúng tăng từ ba lên mười một trên mười một. Ca thường quy bị hỏi thừa giảm từ ba trên ba xuống không. Xếp sai nhóm dừng từ bốn trên tám xuống không. Câu hỏi đạt chất lượng từ một trên mười lên tám trên tám. Giới hạn em nói luôn: các ca này do đội và AI viết, chưa phải đánh giá độc lập. Buổi thử với ba người dùng ngày mười sáu chưa cho số liệu định lượng.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chúng em muốn nói thẳng. Giới hạn: vai người dùng trong demo là mô phỏng, trình đọc PDF chưa chạy trong container riêng, khóa ký nhật ký nằm cùng máy, và SQLite chỉ chạy trên một máy. Rủi ro lớn nhất: ảnh bị đọc sai số tiền mà các con số vẫn khớp nhau, thì ca có thể đi luồng thấp hơn. Dữ kiện như ủy nhiệm chi vẫn do người khai. Bước tiếp theo: đăng nhập một lần và xác thực hai lớp, worker đọc file cô lập, đối chiếu dữ liệu hóa đơn điện tử của cơ quan thuế, và thử với người dùng thật để có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em demo trên bản đang chạy. Kế toán viên tải một lô nhiều file. Ban giám khảo sẽ thấy lô được xếp theo mã số thuế, ngày, số, và file trùng chỉ tính một lần. Em mở phiếu giải trình của một ca được duyệt và một ca bị dừng tô đỏ. Kế toán trưởng trả lời nhóm câu hỏi một lần. Người tạo lô thử tự chốt lô của mình và bị chặn, rồi người có quyền chốt lô. Cuối cùng là màn hình tổng quan cho sếp và trang trust chạy mười hai phép thử. Nếu mạng hội trường chậm, em chiếu video một phút.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02920"/>
            <a:ext cx="8046720" cy="274320"/>
          </a:xfrm>
          <a:prstGeom prst="rect">
            <a:avLst/>
          </a:prstGeom>
          <a:noFill/>
        </p:spPr>
        <p:txBody>
          <a:bodyPr wrap="square" lIns="0" rIns="0" tIns="0" bIns="0" anchor="t">
            <a:noAutofit/>
          </a:bodyPr>
          <a:lstStyle/>
          <a:p>
            <a:pPr algn="l"/>
            <a:r>
              <a:rPr sz="1100" b="1" i="0">
                <a:solidFill>
                  <a:srgbClr val="D9F99D"/>
                </a:solidFill>
                <a:latin typeface="Calibri"/>
              </a:rPr>
              <a:t>TAX REFEREE · ĐỀ A — THE ESCALATION REFEREE · VÒNG CẢI TIẾN 17/10</a:t>
            </a:r>
          </a:p>
        </p:txBody>
      </p:sp>
      <p:sp>
        <p:nvSpPr>
          <p:cNvPr id="3" name="TextBox 2"/>
          <p:cNvSpPr txBox="1"/>
          <p:nvPr/>
        </p:nvSpPr>
        <p:spPr>
          <a:xfrm>
            <a:off x="548640" y="868680"/>
            <a:ext cx="8046720" cy="1325880"/>
          </a:xfrm>
          <a:prstGeom prst="rect">
            <a:avLst/>
          </a:prstGeom>
          <a:noFill/>
        </p:spPr>
        <p:txBody>
          <a:bodyPr wrap="square" lIns="0" rIns="0" tIns="0" bIns="0" anchor="t">
            <a:noAutofit/>
          </a:bodyPr>
          <a:lstStyle/>
          <a:p>
            <a:pPr algn="l"/>
            <a:r>
              <a:rPr sz="4000" b="1" i="0">
                <a:solidFill>
                  <a:srgbClr val="FFFFFF"/>
                </a:solidFill>
                <a:latin typeface="Cambria"/>
              </a:rPr>
              <a:t>Máy quyết từng hóa đơn.</a:t>
            </a:r>
          </a:p>
          <a:p>
            <a:pPr algn="l"/>
            <a:r>
              <a:rPr sz="4000" b="1" i="0">
                <a:solidFill>
                  <a:srgbClr val="D9F99D"/>
                </a:solidFill>
                <a:latin typeface="Cambria"/>
              </a:rPr>
              <a:t>Người chốt cả lô.</a:t>
            </a:r>
          </a:p>
        </p:txBody>
      </p:sp>
      <p:sp>
        <p:nvSpPr>
          <p:cNvPr id="4" name="TextBox 3"/>
          <p:cNvSpPr txBox="1"/>
          <p:nvPr/>
        </p:nvSpPr>
        <p:spPr>
          <a:xfrm>
            <a:off x="548640" y="2286000"/>
            <a:ext cx="8046720" cy="365760"/>
          </a:xfrm>
          <a:prstGeom prst="rect">
            <a:avLst/>
          </a:prstGeom>
          <a:noFill/>
        </p:spPr>
        <p:txBody>
          <a:bodyPr wrap="square" lIns="0" rIns="0" tIns="0" bIns="0" anchor="t">
            <a:noAutofit/>
          </a:bodyPr>
          <a:lstStyle/>
          <a:p>
            <a:pPr algn="l"/>
            <a:r>
              <a:rPr sz="1800" b="0" i="0">
                <a:solidFill>
                  <a:srgbClr val="E2E8F0"/>
                </a:solidFill>
                <a:latin typeface="Calibri"/>
              </a:rPr>
              <a:t>Trọng tài thuế GTGT đầu vào cho hóa đơn điện tử Việt Nam</a:t>
            </a:r>
          </a:p>
        </p:txBody>
      </p:sp>
      <p:sp>
        <p:nvSpPr>
          <p:cNvPr id="5" name="TextBox 4"/>
          <p:cNvSpPr txBox="1"/>
          <p:nvPr/>
        </p:nvSpPr>
        <p:spPr>
          <a:xfrm>
            <a:off x="548640" y="2670048"/>
            <a:ext cx="8046720" cy="320040"/>
          </a:xfrm>
          <a:prstGeom prst="rect">
            <a:avLst/>
          </a:prstGeom>
          <a:noFill/>
        </p:spPr>
        <p:txBody>
          <a:bodyPr wrap="square" lIns="0" rIns="0" tIns="0" bIns="0" anchor="t">
            <a:noAutofit/>
          </a:bodyPr>
          <a:lstStyle/>
          <a:p>
            <a:pPr algn="l"/>
            <a:r>
              <a:rPr sz="1500" b="0" i="0">
                <a:solidFill>
                  <a:srgbClr val="CBD5E1"/>
                </a:solidFill>
                <a:latin typeface="Calibri"/>
              </a:rPr>
              <a:t>Quy tắc tất định quyết định. AI chỉ đọc chứng từ.</a:t>
            </a:r>
          </a:p>
        </p:txBody>
      </p:sp>
      <p:sp>
        <p:nvSpPr>
          <p:cNvPr id="6" name="Rounded Rectangle 5"/>
          <p:cNvSpPr/>
          <p:nvPr/>
        </p:nvSpPr>
        <p:spPr>
          <a:xfrm>
            <a:off x="548640" y="3246120"/>
            <a:ext cx="2514600" cy="960120"/>
          </a:xfrm>
          <a:prstGeom prst="roundRect">
            <a:avLst>
              <a:gd name="adj" fmla="val 10000"/>
            </a:avLst>
          </a:prstGeom>
          <a:solidFill>
            <a:srgbClr val="1E293B"/>
          </a:solidFill>
          <a:ln>
            <a:noFill/>
          </a:ln>
        </p:spPr>
        <p:txBody>
          <a:bodyPr rtlCol="0" anchor="ctr" lIns="109728" rIns="109728" tIns="54864" bIns="54864"/>
          <a:lstStyle/>
          <a:p>
            <a:pPr algn="ctr"/>
          </a:p>
        </p:txBody>
      </p:sp>
      <p:sp>
        <p:nvSpPr>
          <p:cNvPr id="7" name="TextBox 6"/>
          <p:cNvSpPr txBox="1"/>
          <p:nvPr/>
        </p:nvSpPr>
        <p:spPr>
          <a:xfrm>
            <a:off x="731520" y="3310128"/>
            <a:ext cx="2194560" cy="457200"/>
          </a:xfrm>
          <a:prstGeom prst="rect">
            <a:avLst/>
          </a:prstGeom>
          <a:noFill/>
        </p:spPr>
        <p:txBody>
          <a:bodyPr wrap="square" lIns="0" rIns="0" tIns="0" bIns="0" anchor="t">
            <a:noAutofit/>
          </a:bodyPr>
          <a:lstStyle/>
          <a:p>
            <a:pPr algn="l"/>
            <a:r>
              <a:rPr sz="2600" b="1" i="0">
                <a:solidFill>
                  <a:srgbClr val="D9F99D"/>
                </a:solidFill>
                <a:latin typeface="Cambria"/>
              </a:rPr>
              <a:t>0</a:t>
            </a:r>
          </a:p>
        </p:txBody>
      </p:sp>
      <p:sp>
        <p:nvSpPr>
          <p:cNvPr id="8" name="TextBox 7"/>
          <p:cNvSpPr txBox="1"/>
          <p:nvPr/>
        </p:nvSpPr>
        <p:spPr>
          <a:xfrm>
            <a:off x="731520" y="3767328"/>
            <a:ext cx="2194560" cy="384048"/>
          </a:xfrm>
          <a:prstGeom prst="rect">
            <a:avLst/>
          </a:prstGeom>
          <a:noFill/>
        </p:spPr>
        <p:txBody>
          <a:bodyPr wrap="square" lIns="0" rIns="0" tIns="0" bIns="0" anchor="t">
            <a:noAutofit/>
          </a:bodyPr>
          <a:lstStyle/>
          <a:p>
            <a:pPr algn="l"/>
            <a:r>
              <a:rPr sz="1100" b="0" i="0">
                <a:solidFill>
                  <a:srgbClr val="CBD5E1"/>
                </a:solidFill>
                <a:latin typeface="Calibri"/>
              </a:rPr>
              <a:t>lần gọi LLM trên đường quyết định</a:t>
            </a:r>
          </a:p>
        </p:txBody>
      </p:sp>
      <p:sp>
        <p:nvSpPr>
          <p:cNvPr id="9" name="Rounded Rectangle 8"/>
          <p:cNvSpPr/>
          <p:nvPr/>
        </p:nvSpPr>
        <p:spPr>
          <a:xfrm>
            <a:off x="3246120" y="3246120"/>
            <a:ext cx="2514600" cy="960120"/>
          </a:xfrm>
          <a:prstGeom prst="roundRect">
            <a:avLst>
              <a:gd name="adj" fmla="val 10000"/>
            </a:avLst>
          </a:prstGeom>
          <a:solidFill>
            <a:srgbClr val="1E293B"/>
          </a:solidFill>
          <a:ln>
            <a:noFill/>
          </a:ln>
        </p:spPr>
        <p:txBody>
          <a:bodyPr rtlCol="0" anchor="ctr" lIns="109728" rIns="109728" tIns="54864" bIns="54864"/>
          <a:lstStyle/>
          <a:p>
            <a:pPr algn="ctr"/>
          </a:p>
        </p:txBody>
      </p:sp>
      <p:sp>
        <p:nvSpPr>
          <p:cNvPr id="10" name="TextBox 9"/>
          <p:cNvSpPr txBox="1"/>
          <p:nvPr/>
        </p:nvSpPr>
        <p:spPr>
          <a:xfrm>
            <a:off x="3429000" y="3310128"/>
            <a:ext cx="2194560" cy="457200"/>
          </a:xfrm>
          <a:prstGeom prst="rect">
            <a:avLst/>
          </a:prstGeom>
          <a:noFill/>
        </p:spPr>
        <p:txBody>
          <a:bodyPr wrap="square" lIns="0" rIns="0" tIns="0" bIns="0" anchor="t">
            <a:noAutofit/>
          </a:bodyPr>
          <a:lstStyle/>
          <a:p>
            <a:pPr algn="l"/>
            <a:r>
              <a:rPr sz="2600" b="1" i="0">
                <a:solidFill>
                  <a:srgbClr val="D9F99D"/>
                </a:solidFill>
                <a:latin typeface="Cambria"/>
              </a:rPr>
              <a:t>9/9</a:t>
            </a:r>
          </a:p>
        </p:txBody>
      </p:sp>
      <p:sp>
        <p:nvSpPr>
          <p:cNvPr id="11" name="TextBox 10"/>
          <p:cNvSpPr txBox="1"/>
          <p:nvPr/>
        </p:nvSpPr>
        <p:spPr>
          <a:xfrm>
            <a:off x="3429000" y="3767328"/>
            <a:ext cx="2194560" cy="384048"/>
          </a:xfrm>
          <a:prstGeom prst="rect">
            <a:avLst/>
          </a:prstGeom>
          <a:noFill/>
        </p:spPr>
        <p:txBody>
          <a:bodyPr wrap="square" lIns="0" rIns="0" tIns="0" bIns="0" anchor="t">
            <a:noAutofit/>
          </a:bodyPr>
          <a:lstStyle/>
          <a:p>
            <a:pPr algn="l"/>
            <a:r>
              <a:rPr sz="1100" b="0" i="0">
                <a:solidFill>
                  <a:srgbClr val="CBD5E1"/>
                </a:solidFill>
                <a:latin typeface="Calibri"/>
              </a:rPr>
              <a:t>ca Verify đạt (4 ca chung + 5 ca Đề A)</a:t>
            </a:r>
          </a:p>
        </p:txBody>
      </p:sp>
      <p:sp>
        <p:nvSpPr>
          <p:cNvPr id="12" name="Rounded Rectangle 11"/>
          <p:cNvSpPr/>
          <p:nvPr/>
        </p:nvSpPr>
        <p:spPr>
          <a:xfrm>
            <a:off x="5943600" y="3246120"/>
            <a:ext cx="2514600" cy="960120"/>
          </a:xfrm>
          <a:prstGeom prst="roundRect">
            <a:avLst>
              <a:gd name="adj" fmla="val 10000"/>
            </a:avLst>
          </a:prstGeom>
          <a:solidFill>
            <a:srgbClr val="1E293B"/>
          </a:solidFill>
          <a:ln>
            <a:noFill/>
          </a:ln>
        </p:spPr>
        <p:txBody>
          <a:bodyPr rtlCol="0" anchor="ctr" lIns="109728" rIns="109728" tIns="54864" bIns="54864"/>
          <a:lstStyle/>
          <a:p>
            <a:pPr algn="ctr"/>
          </a:p>
        </p:txBody>
      </p:sp>
      <p:sp>
        <p:nvSpPr>
          <p:cNvPr id="13" name="TextBox 12"/>
          <p:cNvSpPr txBox="1"/>
          <p:nvPr/>
        </p:nvSpPr>
        <p:spPr>
          <a:xfrm>
            <a:off x="6126480" y="3310128"/>
            <a:ext cx="2194560" cy="457200"/>
          </a:xfrm>
          <a:prstGeom prst="rect">
            <a:avLst/>
          </a:prstGeom>
          <a:noFill/>
        </p:spPr>
        <p:txBody>
          <a:bodyPr wrap="square" lIns="0" rIns="0" tIns="0" bIns="0" anchor="t">
            <a:noAutofit/>
          </a:bodyPr>
          <a:lstStyle/>
          <a:p>
            <a:pPr algn="l"/>
            <a:r>
              <a:rPr sz="2600" b="1" i="0">
                <a:solidFill>
                  <a:srgbClr val="D9F99D"/>
                </a:solidFill>
                <a:latin typeface="Cambria"/>
              </a:rPr>
              <a:t>12/12</a:t>
            </a:r>
          </a:p>
        </p:txBody>
      </p:sp>
      <p:sp>
        <p:nvSpPr>
          <p:cNvPr id="14" name="TextBox 13"/>
          <p:cNvSpPr txBox="1"/>
          <p:nvPr/>
        </p:nvSpPr>
        <p:spPr>
          <a:xfrm>
            <a:off x="6126480" y="3767328"/>
            <a:ext cx="2194560" cy="384048"/>
          </a:xfrm>
          <a:prstGeom prst="rect">
            <a:avLst/>
          </a:prstGeom>
          <a:noFill/>
        </p:spPr>
        <p:txBody>
          <a:bodyPr wrap="square" lIns="0" rIns="0" tIns="0" bIns="0" anchor="t">
            <a:noAutofit/>
          </a:bodyPr>
          <a:lstStyle/>
          <a:p>
            <a:pPr algn="l"/>
            <a:r>
              <a:rPr sz="1100" b="0" i="0">
                <a:solidFill>
                  <a:srgbClr val="CBD5E1"/>
                </a:solidFill>
                <a:latin typeface="Calibri"/>
              </a:rPr>
              <a:t>phép thử bảo mật trên bản đang chạy</a:t>
            </a:r>
          </a:p>
        </p:txBody>
      </p:sp>
      <p:sp>
        <p:nvSpPr>
          <p:cNvPr id="15" name="TextBox 14"/>
          <p:cNvSpPr txBox="1"/>
          <p:nvPr/>
        </p:nvSpPr>
        <p:spPr>
          <a:xfrm>
            <a:off x="548640" y="4572000"/>
            <a:ext cx="8046720" cy="274320"/>
          </a:xfrm>
          <a:prstGeom prst="rect">
            <a:avLst/>
          </a:prstGeom>
          <a:noFill/>
        </p:spPr>
        <p:txBody>
          <a:bodyPr wrap="square" lIns="0" rIns="0" tIns="0" bIns="0" anchor="t">
            <a:noAutofit/>
          </a:bodyPr>
          <a:lstStyle/>
          <a:p>
            <a:pPr algn="l"/>
            <a:r>
              <a:rPr sz="1000" b="0" i="0">
                <a:solidFill>
                  <a:srgbClr val="94A3B8"/>
                </a:solidFill>
                <a:latin typeface="Calibri"/>
              </a:rPr>
              <a:t>Đội Fprinciples · MLAI Hackathon 2026 · Track VNG · limegreen-salamander-517622.hostingersite.com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VẤN ĐỀ</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Cuối tháng: hàng trăm hóa đơn, một chị kế toán</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2</a:t>
            </a:r>
          </a:p>
        </p:txBody>
      </p:sp>
      <p:sp>
        <p:nvSpPr>
          <p:cNvPr id="6" name="Rounded Rectangle 5"/>
          <p:cNvSpPr/>
          <p:nvPr/>
        </p:nvSpPr>
        <p:spPr>
          <a:xfrm>
            <a:off x="457200" y="1280160"/>
            <a:ext cx="1005840" cy="365760"/>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Gmail</a:t>
            </a:r>
          </a:p>
        </p:txBody>
      </p:sp>
      <p:cxnSp>
        <p:nvCxnSpPr>
          <p:cNvPr id="7" name="Connector 6"/>
          <p:cNvCxnSpPr/>
          <p:nvPr/>
        </p:nvCxnSpPr>
        <p:spPr>
          <a:xfrm>
            <a:off x="1508760" y="1463039"/>
            <a:ext cx="365759" cy="365761"/>
          </a:xfrm>
          <a:prstGeom prst="line">
            <a:avLst/>
          </a:prstGeom>
          <a:ln w="19050">
            <a:solidFill>
              <a:srgbClr val="94A3B8"/>
            </a:solidFill>
            <a:tailEnd type="triangle" w="med" len="med"/>
          </a:ln>
        </p:spPr>
      </p:cxnSp>
      <p:sp>
        <p:nvSpPr>
          <p:cNvPr id="8" name="Rounded Rectangle 7"/>
          <p:cNvSpPr/>
          <p:nvPr/>
        </p:nvSpPr>
        <p:spPr>
          <a:xfrm>
            <a:off x="457200" y="1783080"/>
            <a:ext cx="1005840" cy="365760"/>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Zalo</a:t>
            </a:r>
          </a:p>
        </p:txBody>
      </p:sp>
      <p:cxnSp>
        <p:nvCxnSpPr>
          <p:cNvPr id="9" name="Connector 8"/>
          <p:cNvCxnSpPr/>
          <p:nvPr/>
        </p:nvCxnSpPr>
        <p:spPr>
          <a:xfrm flipV="1">
            <a:off x="1508760" y="1828800"/>
            <a:ext cx="365759" cy="137160"/>
          </a:xfrm>
          <a:prstGeom prst="line">
            <a:avLst/>
          </a:prstGeom>
          <a:ln w="19050">
            <a:solidFill>
              <a:srgbClr val="94A3B8"/>
            </a:solidFill>
            <a:tailEnd type="triangle" w="med" len="med"/>
          </a:ln>
        </p:spPr>
      </p:cxnSp>
      <p:sp>
        <p:nvSpPr>
          <p:cNvPr id="10" name="Rounded Rectangle 9"/>
          <p:cNvSpPr/>
          <p:nvPr/>
        </p:nvSpPr>
        <p:spPr>
          <a:xfrm>
            <a:off x="457200" y="2286000"/>
            <a:ext cx="1005840" cy="365760"/>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Tải lên</a:t>
            </a:r>
          </a:p>
        </p:txBody>
      </p:sp>
      <p:cxnSp>
        <p:nvCxnSpPr>
          <p:cNvPr id="11" name="Connector 10"/>
          <p:cNvCxnSpPr/>
          <p:nvPr/>
        </p:nvCxnSpPr>
        <p:spPr>
          <a:xfrm flipV="1">
            <a:off x="1508760" y="1828800"/>
            <a:ext cx="365759" cy="640080"/>
          </a:xfrm>
          <a:prstGeom prst="line">
            <a:avLst/>
          </a:prstGeom>
          <a:ln w="19050">
            <a:solidFill>
              <a:srgbClr val="94A3B8"/>
            </a:solidFill>
            <a:tailEnd type="triangle" w="med" len="med"/>
          </a:ln>
        </p:spPr>
      </p:cxnSp>
      <p:sp>
        <p:nvSpPr>
          <p:cNvPr id="12" name="Rounded Rectangle 11"/>
          <p:cNvSpPr/>
          <p:nvPr/>
        </p:nvSpPr>
        <p:spPr>
          <a:xfrm>
            <a:off x="1920240" y="1280160"/>
            <a:ext cx="2286000" cy="1097280"/>
          </a:xfrm>
          <a:prstGeom prst="roundRect">
            <a:avLst>
              <a:gd name="adj" fmla="val 8000"/>
            </a:avLst>
          </a:prstGeom>
          <a:solidFill>
            <a:srgbClr val="F1F5F9"/>
          </a:solidFill>
          <a:ln>
            <a:noFill/>
          </a:ln>
        </p:spPr>
        <p:txBody>
          <a:bodyPr rtlCol="0" anchor="ctr" lIns="109728" rIns="109728" tIns="54864" bIns="54864" wrap="square">
            <a:noAutofit/>
          </a:bodyPr>
          <a:lstStyle/>
          <a:p>
            <a:pPr algn="ctr"/>
            <a:r>
              <a:rPr sz="1500" b="1" i="0">
                <a:solidFill>
                  <a:srgbClr val="0F172A"/>
                </a:solidFill>
                <a:latin typeface="Calibri"/>
              </a:rPr>
              <a:t>Hàng trăm hóa đơn</a:t>
            </a:r>
          </a:p>
          <a:p>
            <a:pPr algn="ctr"/>
            <a:r>
              <a:rPr sz="1200" b="0" i="0">
                <a:solidFill>
                  <a:srgbClr val="64748B"/>
                </a:solidFill>
                <a:latin typeface="Calibri"/>
              </a:rPr>
              <a:t>XML, PDF, ảnh chụp</a:t>
            </a:r>
          </a:p>
        </p:txBody>
      </p:sp>
      <p:sp>
        <p:nvSpPr>
          <p:cNvPr id="13" name="TextBox 12"/>
          <p:cNvSpPr txBox="1"/>
          <p:nvPr/>
        </p:nvSpPr>
        <p:spPr>
          <a:xfrm>
            <a:off x="457200" y="2743200"/>
            <a:ext cx="3749039" cy="731520"/>
          </a:xfrm>
          <a:prstGeom prst="rect">
            <a:avLst/>
          </a:prstGeom>
          <a:noFill/>
        </p:spPr>
        <p:txBody>
          <a:bodyPr wrap="square" lIns="0" rIns="0" tIns="0" bIns="0" anchor="t">
            <a:noAutofit/>
          </a:bodyPr>
          <a:lstStyle/>
          <a:p>
            <a:pPr algn="l"/>
            <a:r>
              <a:rPr sz="1400" b="0" i="0">
                <a:solidFill>
                  <a:srgbClr val="334155"/>
                </a:solidFill>
                <a:latin typeface="Calibri"/>
              </a:rPr>
              <a:t>Mỗi hóa đơn phải đạt nhiều điều kiện cùng lúc. Sai một điều kiện là mất tiền thuế được khấu trừ.</a:t>
            </a:r>
          </a:p>
        </p:txBody>
      </p:sp>
      <p:sp>
        <p:nvSpPr>
          <p:cNvPr id="14" name="Rounded Rectangle 13"/>
          <p:cNvSpPr/>
          <p:nvPr/>
        </p:nvSpPr>
        <p:spPr>
          <a:xfrm>
            <a:off x="457200" y="3566160"/>
            <a:ext cx="3749039" cy="868680"/>
          </a:xfrm>
          <a:prstGeom prst="roundRect">
            <a:avLst>
              <a:gd name="adj" fmla="val 8000"/>
            </a:avLst>
          </a:prstGeom>
          <a:solidFill>
            <a:srgbClr val="ECFCCB"/>
          </a:solidFill>
          <a:ln>
            <a:noFill/>
          </a:ln>
        </p:spPr>
        <p:txBody>
          <a:bodyPr rtlCol="0" anchor="ctr" lIns="137160" rIns="137160" tIns="54864" bIns="54864" wrap="square">
            <a:noAutofit/>
          </a:bodyPr>
          <a:lstStyle/>
          <a:p>
            <a:pPr algn="l"/>
            <a:r>
              <a:rPr sz="1250" b="1" i="0">
                <a:solidFill>
                  <a:srgbClr val="0F172A"/>
                </a:solidFill>
                <a:latin typeface="Calibri"/>
              </a:rPr>
              <a:t>Ví dụ: </a:t>
            </a:r>
            <a:r>
              <a:rPr sz="1250" b="0" i="0">
                <a:solidFill>
                  <a:srgbClr val="0F172A"/>
                </a:solidFill>
                <a:latin typeface="Calibri"/>
              </a:rPr>
              <a:t>hóa đơn 6 triệu trả tiền mặt, lập sau 01/7/2025, không được khấu trừ. Ngưỡng nay là 5 triệu.</a:t>
            </a:r>
          </a:p>
        </p:txBody>
      </p:sp>
      <p:sp>
        <p:nvSpPr>
          <p:cNvPr id="15" name="TextBox 14"/>
          <p:cNvSpPr txBox="1"/>
          <p:nvPr/>
        </p:nvSpPr>
        <p:spPr>
          <a:xfrm>
            <a:off x="4572000" y="1280160"/>
            <a:ext cx="4114800" cy="274320"/>
          </a:xfrm>
          <a:prstGeom prst="rect">
            <a:avLst/>
          </a:prstGeom>
          <a:noFill/>
        </p:spPr>
        <p:txBody>
          <a:bodyPr wrap="square" lIns="0" rIns="0" tIns="0" bIns="0" anchor="t">
            <a:noAutofit/>
          </a:bodyPr>
          <a:lstStyle/>
          <a:p>
            <a:pPr algn="l"/>
            <a:r>
              <a:rPr sz="1400" b="1" i="0">
                <a:solidFill>
                  <a:srgbClr val="0F172A"/>
                </a:solidFill>
                <a:latin typeface="Calibri"/>
              </a:rPr>
              <a:t>Hai cách làm sai</a:t>
            </a:r>
          </a:p>
        </p:txBody>
      </p:sp>
      <p:sp>
        <p:nvSpPr>
          <p:cNvPr id="16" name="Rounded Rectangle 15"/>
          <p:cNvSpPr/>
          <p:nvPr/>
        </p:nvSpPr>
        <p:spPr>
          <a:xfrm>
            <a:off x="4572000" y="1691640"/>
            <a:ext cx="4114800" cy="1234440"/>
          </a:xfrm>
          <a:prstGeom prst="roundRect">
            <a:avLst>
              <a:gd name="adj" fmla="val 8000"/>
            </a:avLst>
          </a:prstGeom>
          <a:solidFill>
            <a:srgbClr val="FFE4E6"/>
          </a:solidFill>
          <a:ln>
            <a:noFill/>
          </a:ln>
        </p:spPr>
        <p:txBody>
          <a:bodyPr rtlCol="0" anchor="ctr" lIns="109728" rIns="109728" tIns="54864" bIns="54864"/>
          <a:lstStyle/>
          <a:p>
            <a:pPr algn="ctr"/>
          </a:p>
        </p:txBody>
      </p:sp>
      <p:sp>
        <p:nvSpPr>
          <p:cNvPr id="17" name="Oval 16"/>
          <p:cNvSpPr/>
          <p:nvPr/>
        </p:nvSpPr>
        <p:spPr>
          <a:xfrm>
            <a:off x="4754880" y="2075688"/>
            <a:ext cx="457200" cy="457200"/>
          </a:xfrm>
          <a:prstGeom prst="ellipse">
            <a:avLst/>
          </a:prstGeom>
          <a:solidFill>
            <a:srgbClr val="BE123C"/>
          </a:solidFill>
          <a:ln>
            <a:noFill/>
          </a:ln>
        </p:spPr>
        <p:txBody>
          <a:bodyPr rtlCol="0" anchor="ctr" lIns="0" rIns="0" tIns="0" bIns="0" wrap="square">
            <a:noAutofit/>
          </a:bodyPr>
          <a:lstStyle/>
          <a:p>
            <a:pPr algn="ctr"/>
            <a:r>
              <a:rPr sz="1400" b="1" i="0">
                <a:solidFill>
                  <a:srgbClr val="FFFFFF"/>
                </a:solidFill>
                <a:latin typeface="Calibri"/>
              </a:rPr>
              <a:t>1</a:t>
            </a:r>
          </a:p>
        </p:txBody>
      </p:sp>
      <p:sp>
        <p:nvSpPr>
          <p:cNvPr id="18" name="TextBox 17"/>
          <p:cNvSpPr txBox="1"/>
          <p:nvPr/>
        </p:nvSpPr>
        <p:spPr>
          <a:xfrm>
            <a:off x="5394960" y="1892808"/>
            <a:ext cx="3154680" cy="320040"/>
          </a:xfrm>
          <a:prstGeom prst="rect">
            <a:avLst/>
          </a:prstGeom>
          <a:noFill/>
        </p:spPr>
        <p:txBody>
          <a:bodyPr wrap="square" lIns="0" rIns="0" tIns="0" bIns="0" anchor="t">
            <a:noAutofit/>
          </a:bodyPr>
          <a:lstStyle/>
          <a:p>
            <a:pPr algn="l"/>
            <a:r>
              <a:rPr sz="1600" b="1" i="0">
                <a:solidFill>
                  <a:srgbClr val="0F172A"/>
                </a:solidFill>
                <a:latin typeface="Calibri"/>
              </a:rPr>
              <a:t>Cho qua hết</a:t>
            </a:r>
          </a:p>
        </p:txBody>
      </p:sp>
      <p:sp>
        <p:nvSpPr>
          <p:cNvPr id="19" name="TextBox 18"/>
          <p:cNvSpPr txBox="1"/>
          <p:nvPr/>
        </p:nvSpPr>
        <p:spPr>
          <a:xfrm>
            <a:off x="5394960" y="2240280"/>
            <a:ext cx="3154680" cy="594360"/>
          </a:xfrm>
          <a:prstGeom prst="rect">
            <a:avLst/>
          </a:prstGeom>
          <a:noFill/>
        </p:spPr>
        <p:txBody>
          <a:bodyPr wrap="square" lIns="0" rIns="0" tIns="0" bIns="0" anchor="t">
            <a:noAutofit/>
          </a:bodyPr>
          <a:lstStyle/>
          <a:p>
            <a:pPr algn="l"/>
            <a:r>
              <a:rPr sz="1300" b="0" i="0">
                <a:solidFill>
                  <a:srgbClr val="334155"/>
                </a:solidFill>
                <a:latin typeface="Calibri"/>
              </a:rPr>
              <a:t>Nhanh. Nhưng thanh tra loại thuế, còn bị phạt.</a:t>
            </a:r>
          </a:p>
        </p:txBody>
      </p:sp>
      <p:sp>
        <p:nvSpPr>
          <p:cNvPr id="20" name="Rounded Rectangle 19"/>
          <p:cNvSpPr/>
          <p:nvPr/>
        </p:nvSpPr>
        <p:spPr>
          <a:xfrm>
            <a:off x="4572000" y="3108960"/>
            <a:ext cx="4114800" cy="1234440"/>
          </a:xfrm>
          <a:prstGeom prst="roundRect">
            <a:avLst>
              <a:gd name="adj" fmla="val 8000"/>
            </a:avLst>
          </a:prstGeom>
          <a:solidFill>
            <a:srgbClr val="FEF3C7"/>
          </a:solidFill>
          <a:ln>
            <a:noFill/>
          </a:ln>
        </p:spPr>
        <p:txBody>
          <a:bodyPr rtlCol="0" anchor="ctr" lIns="109728" rIns="109728" tIns="54864" bIns="54864"/>
          <a:lstStyle/>
          <a:p>
            <a:pPr algn="ctr"/>
          </a:p>
        </p:txBody>
      </p:sp>
      <p:sp>
        <p:nvSpPr>
          <p:cNvPr id="21" name="Oval 20"/>
          <p:cNvSpPr/>
          <p:nvPr/>
        </p:nvSpPr>
        <p:spPr>
          <a:xfrm>
            <a:off x="4754880" y="3493008"/>
            <a:ext cx="457200" cy="457200"/>
          </a:xfrm>
          <a:prstGeom prst="ellipse">
            <a:avLst/>
          </a:prstGeom>
          <a:solidFill>
            <a:srgbClr val="B45309"/>
          </a:solidFill>
          <a:ln>
            <a:noFill/>
          </a:ln>
        </p:spPr>
        <p:txBody>
          <a:bodyPr rtlCol="0" anchor="ctr" lIns="0" rIns="0" tIns="0" bIns="0" wrap="square">
            <a:noAutofit/>
          </a:bodyPr>
          <a:lstStyle/>
          <a:p>
            <a:pPr algn="ctr"/>
            <a:r>
              <a:rPr sz="1400" b="1" i="0">
                <a:solidFill>
                  <a:srgbClr val="FFFFFF"/>
                </a:solidFill>
                <a:latin typeface="Calibri"/>
              </a:rPr>
              <a:t>2</a:t>
            </a:r>
          </a:p>
        </p:txBody>
      </p:sp>
      <p:sp>
        <p:nvSpPr>
          <p:cNvPr id="22" name="TextBox 21"/>
          <p:cNvSpPr txBox="1"/>
          <p:nvPr/>
        </p:nvSpPr>
        <p:spPr>
          <a:xfrm>
            <a:off x="5394960" y="3310128"/>
            <a:ext cx="3154680" cy="320040"/>
          </a:xfrm>
          <a:prstGeom prst="rect">
            <a:avLst/>
          </a:prstGeom>
          <a:noFill/>
        </p:spPr>
        <p:txBody>
          <a:bodyPr wrap="square" lIns="0" rIns="0" tIns="0" bIns="0" anchor="t">
            <a:noAutofit/>
          </a:bodyPr>
          <a:lstStyle/>
          <a:p>
            <a:pPr algn="l"/>
            <a:r>
              <a:rPr sz="1600" b="1" i="0">
                <a:solidFill>
                  <a:srgbClr val="0F172A"/>
                </a:solidFill>
                <a:latin typeface="Calibri"/>
              </a:rPr>
              <a:t>Cái gì cũng hỏi sếp</a:t>
            </a:r>
          </a:p>
        </p:txBody>
      </p:sp>
      <p:sp>
        <p:nvSpPr>
          <p:cNvPr id="23" name="TextBox 22"/>
          <p:cNvSpPr txBox="1"/>
          <p:nvPr/>
        </p:nvSpPr>
        <p:spPr>
          <a:xfrm>
            <a:off x="5394960" y="3657600"/>
            <a:ext cx="3154680" cy="594360"/>
          </a:xfrm>
          <a:prstGeom prst="rect">
            <a:avLst/>
          </a:prstGeom>
          <a:noFill/>
        </p:spPr>
        <p:txBody>
          <a:bodyPr wrap="square" lIns="0" rIns="0" tIns="0" bIns="0" anchor="t">
            <a:noAutofit/>
          </a:bodyPr>
          <a:lstStyle/>
          <a:p>
            <a:pPr algn="l"/>
            <a:r>
              <a:rPr sz="1300" b="0" i="0">
                <a:solidFill>
                  <a:srgbClr val="334155"/>
                </a:solidFill>
                <a:latin typeface="Calibri"/>
              </a:rPr>
              <a:t>An toàn. Nhưng sếp nghẽn cuối tháng, tự động hóa thành vô nghĩa.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Ý TƯỞNG</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Quy tắc quyết định, AI chỉ đọc chứng từ</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3</a:t>
            </a:r>
          </a:p>
        </p:txBody>
      </p:sp>
      <p:sp>
        <p:nvSpPr>
          <p:cNvPr id="6" name="Rounded Rectangle 5"/>
          <p:cNvSpPr/>
          <p:nvPr/>
        </p:nvSpPr>
        <p:spPr>
          <a:xfrm>
            <a:off x="457200" y="1234440"/>
            <a:ext cx="3931920" cy="2011680"/>
          </a:xfrm>
          <a:prstGeom prst="roundRect">
            <a:avLst>
              <a:gd name="adj" fmla="val 8000"/>
            </a:avLst>
          </a:prstGeom>
          <a:solidFill>
            <a:srgbClr val="F1F5F9"/>
          </a:solidFill>
          <a:ln>
            <a:noFill/>
          </a:ln>
        </p:spPr>
        <p:txBody>
          <a:bodyPr rtlCol="0" anchor="ctr" lIns="228600" rIns="228600" tIns="54864" bIns="54864" wrap="square">
            <a:noAutofit/>
          </a:bodyPr>
          <a:lstStyle/>
          <a:p>
            <a:pPr algn="l">
              <a:spcAft>
                <a:spcPts val="800"/>
              </a:spcAft>
            </a:pPr>
            <a:r>
              <a:rPr sz="1300" b="1" i="0">
                <a:solidFill>
                  <a:srgbClr val="4D7C0F"/>
                </a:solidFill>
                <a:latin typeface="Calibri"/>
              </a:rPr>
              <a:t>Giống cô giáo chấm bài</a:t>
            </a:r>
          </a:p>
          <a:p>
            <a:pPr algn="l"/>
            <a:r>
              <a:rPr sz="1700" b="0" i="1">
                <a:solidFill>
                  <a:srgbClr val="0F172A"/>
                </a:solidFill>
                <a:latin typeface="Cambria"/>
              </a:rPr>
              <a:t>Bài đúng hết thì cho điểm luôn. Bài sai chỗ nào thì khoanh đỏ đúng chỗ đó và hỏi lại.</a:t>
            </a:r>
          </a:p>
        </p:txBody>
      </p:sp>
      <p:sp>
        <p:nvSpPr>
          <p:cNvPr id="7" name="TextBox 6"/>
          <p:cNvSpPr txBox="1"/>
          <p:nvPr/>
        </p:nvSpPr>
        <p:spPr>
          <a:xfrm>
            <a:off x="457200" y="3474720"/>
            <a:ext cx="3931920" cy="914400"/>
          </a:xfrm>
          <a:prstGeom prst="rect">
            <a:avLst/>
          </a:prstGeom>
          <a:noFill/>
        </p:spPr>
        <p:txBody>
          <a:bodyPr wrap="square" lIns="0" rIns="0" tIns="0" bIns="0" anchor="t">
            <a:noAutofit/>
          </a:bodyPr>
          <a:lstStyle/>
          <a:p>
            <a:pPr algn="l">
              <a:spcAft>
                <a:spcPts val="400"/>
              </a:spcAft>
            </a:pPr>
            <a:r>
              <a:rPr sz="1300" b="1" i="0">
                <a:solidFill>
                  <a:srgbClr val="0F172A"/>
                </a:solidFill>
                <a:latin typeface="Calibri"/>
              </a:rPr>
              <a:t>0 lần gọi LLM</a:t>
            </a:r>
            <a:r>
              <a:rPr sz="1300" b="0" i="0">
                <a:solidFill>
                  <a:srgbClr val="334155"/>
                </a:solidFill>
                <a:latin typeface="Calibri"/>
              </a:rPr>
              <a:t> trên đường quyết định.</a:t>
            </a:r>
          </a:p>
          <a:p>
            <a:pPr algn="l"/>
            <a:r>
              <a:rPr sz="1300" b="0" i="0">
                <a:solidFill>
                  <a:srgbClr val="334155"/>
                </a:solidFill>
                <a:latin typeface="Calibri"/>
              </a:rPr>
              <a:t>Cùng một hóa đơn, chạy lại bao nhiêu lần cũng ra một kết quả.</a:t>
            </a:r>
          </a:p>
        </p:txBody>
      </p:sp>
      <p:sp>
        <p:nvSpPr>
          <p:cNvPr id="8" name="Rounded Rectangle 7"/>
          <p:cNvSpPr/>
          <p:nvPr/>
        </p:nvSpPr>
        <p:spPr>
          <a:xfrm>
            <a:off x="4754880" y="1234440"/>
            <a:ext cx="3931920" cy="502920"/>
          </a:xfrm>
          <a:prstGeom prst="roundRect">
            <a:avLst>
              <a:gd name="adj" fmla="val 8000"/>
            </a:avLst>
          </a:prstGeom>
          <a:solidFill>
            <a:srgbClr val="0F172A"/>
          </a:solidFill>
          <a:ln>
            <a:noFill/>
          </a:ln>
        </p:spPr>
        <p:txBody>
          <a:bodyPr rtlCol="0" anchor="ctr" lIns="109728" rIns="109728" tIns="54864" bIns="54864" wrap="square">
            <a:noAutofit/>
          </a:bodyPr>
          <a:lstStyle/>
          <a:p>
            <a:pPr algn="ctr"/>
            <a:r>
              <a:rPr sz="1400" b="1" i="0">
                <a:solidFill>
                  <a:srgbClr val="FFFFFF"/>
                </a:solidFill>
                <a:latin typeface="Calibri"/>
              </a:rPr>
              <a:t>Hóa đơn đạt hết điều kiện?</a:t>
            </a:r>
          </a:p>
        </p:txBody>
      </p:sp>
      <p:cxnSp>
        <p:nvCxnSpPr>
          <p:cNvPr id="9" name="Connector 8"/>
          <p:cNvCxnSpPr/>
          <p:nvPr/>
        </p:nvCxnSpPr>
        <p:spPr>
          <a:xfrm>
            <a:off x="5669280" y="1755648"/>
            <a:ext cx="0" cy="347472"/>
          </a:xfrm>
          <a:prstGeom prst="line">
            <a:avLst/>
          </a:prstGeom>
          <a:ln w="19050">
            <a:solidFill>
              <a:srgbClr val="94A3B8"/>
            </a:solidFill>
            <a:tailEnd type="triangle" w="med" len="med"/>
          </a:ln>
        </p:spPr>
      </p:cxnSp>
      <p:cxnSp>
        <p:nvCxnSpPr>
          <p:cNvPr id="10" name="Connector 9"/>
          <p:cNvCxnSpPr/>
          <p:nvPr/>
        </p:nvCxnSpPr>
        <p:spPr>
          <a:xfrm>
            <a:off x="7772400" y="1755648"/>
            <a:ext cx="0" cy="347472"/>
          </a:xfrm>
          <a:prstGeom prst="line">
            <a:avLst/>
          </a:prstGeom>
          <a:ln w="19050">
            <a:solidFill>
              <a:srgbClr val="94A3B8"/>
            </a:solidFill>
            <a:tailEnd type="triangle" w="med" len="med"/>
          </a:ln>
        </p:spPr>
      </p:cxnSp>
      <p:sp>
        <p:nvSpPr>
          <p:cNvPr id="11" name="Rounded Rectangle 10"/>
          <p:cNvSpPr/>
          <p:nvPr/>
        </p:nvSpPr>
        <p:spPr>
          <a:xfrm>
            <a:off x="4754880" y="2148840"/>
            <a:ext cx="1828800" cy="822960"/>
          </a:xfrm>
          <a:prstGeom prst="roundRect">
            <a:avLst>
              <a:gd name="adj" fmla="val 8000"/>
            </a:avLst>
          </a:prstGeom>
          <a:solidFill>
            <a:srgbClr val="ECFCCB"/>
          </a:solidFill>
          <a:ln>
            <a:noFill/>
          </a:ln>
        </p:spPr>
        <p:txBody>
          <a:bodyPr rtlCol="0" anchor="ctr" lIns="109728" rIns="109728" tIns="54864" bIns="54864" wrap="square">
            <a:noAutofit/>
          </a:bodyPr>
          <a:lstStyle/>
          <a:p>
            <a:pPr algn="ctr"/>
            <a:r>
              <a:rPr sz="1300" b="1" i="0">
                <a:solidFill>
                  <a:srgbClr val="4D7C0F"/>
                </a:solidFill>
                <a:latin typeface="Calibri"/>
              </a:rPr>
              <a:t>Đạt</a:t>
            </a:r>
          </a:p>
          <a:p>
            <a:pPr algn="ctr"/>
            <a:r>
              <a:rPr sz="1300" b="1" i="0">
                <a:solidFill>
                  <a:srgbClr val="0F172A"/>
                </a:solidFill>
                <a:latin typeface="Calibri"/>
              </a:rPr>
              <a:t>Máy tự duyệt</a:t>
            </a:r>
          </a:p>
        </p:txBody>
      </p:sp>
      <p:sp>
        <p:nvSpPr>
          <p:cNvPr id="12" name="Rounded Rectangle 11"/>
          <p:cNvSpPr/>
          <p:nvPr/>
        </p:nvSpPr>
        <p:spPr>
          <a:xfrm>
            <a:off x="6858000" y="2148840"/>
            <a:ext cx="1828800" cy="822960"/>
          </a:xfrm>
          <a:prstGeom prst="roundRect">
            <a:avLst>
              <a:gd name="adj" fmla="val 8000"/>
            </a:avLst>
          </a:prstGeom>
          <a:solidFill>
            <a:srgbClr val="FFE4E6"/>
          </a:solidFill>
          <a:ln>
            <a:noFill/>
          </a:ln>
        </p:spPr>
        <p:txBody>
          <a:bodyPr rtlCol="0" anchor="ctr" lIns="109728" rIns="109728" tIns="54864" bIns="54864" wrap="square">
            <a:noAutofit/>
          </a:bodyPr>
          <a:lstStyle/>
          <a:p>
            <a:pPr algn="ctr"/>
            <a:r>
              <a:rPr sz="1300" b="1" i="0">
                <a:solidFill>
                  <a:srgbClr val="BE123C"/>
                </a:solidFill>
                <a:latin typeface="Calibri"/>
              </a:rPr>
              <a:t>Chưa đạt</a:t>
            </a:r>
          </a:p>
          <a:p>
            <a:pPr algn="ctr"/>
            <a:r>
              <a:rPr sz="1300" b="1" i="0">
                <a:solidFill>
                  <a:srgbClr val="0F172A"/>
                </a:solidFill>
                <a:latin typeface="Calibri"/>
              </a:rPr>
              <a:t>Dừng, hỏi đúng người</a:t>
            </a:r>
          </a:p>
        </p:txBody>
      </p:sp>
      <p:sp>
        <p:nvSpPr>
          <p:cNvPr id="13" name="TextBox 12"/>
          <p:cNvSpPr txBox="1"/>
          <p:nvPr/>
        </p:nvSpPr>
        <p:spPr>
          <a:xfrm>
            <a:off x="4754880" y="3154680"/>
            <a:ext cx="1828800" cy="1188720"/>
          </a:xfrm>
          <a:prstGeom prst="rect">
            <a:avLst/>
          </a:prstGeom>
          <a:noFill/>
        </p:spPr>
        <p:txBody>
          <a:bodyPr wrap="square" lIns="0" rIns="0" tIns="0" bIns="0" anchor="t">
            <a:noAutofit/>
          </a:bodyPr>
          <a:lstStyle/>
          <a:p>
            <a:pPr algn="l"/>
            <a:r>
              <a:rPr sz="1200" b="0" i="0">
                <a:solidFill>
                  <a:srgbClr val="64748B"/>
                </a:solidFill>
                <a:latin typeface="Calibri"/>
              </a:rPr>
              <a:t>Vẫn hậu kiểm ngẫu nhiên 10% ca máy duyệt, gấp 3 khi sát ngưỡng.</a:t>
            </a:r>
          </a:p>
        </p:txBody>
      </p:sp>
      <p:sp>
        <p:nvSpPr>
          <p:cNvPr id="14" name="Rounded Rectangle 13"/>
          <p:cNvSpPr/>
          <p:nvPr/>
        </p:nvSpPr>
        <p:spPr>
          <a:xfrm>
            <a:off x="6858000" y="3127248"/>
            <a:ext cx="1828800" cy="347472"/>
          </a:xfrm>
          <a:prstGeom prst="roundRect">
            <a:avLst>
              <a:gd name="adj" fmla="val 8000"/>
            </a:avLst>
          </a:prstGeom>
          <a:solidFill>
            <a:srgbClr val="FFFFFF"/>
          </a:solidFill>
          <a:ln w="9525">
            <a:solidFill>
              <a:srgbClr val="BE123C"/>
            </a:solidFill>
          </a:ln>
        </p:spPr>
        <p:txBody>
          <a:bodyPr rtlCol="0" anchor="ctr" lIns="36576" rIns="36576" tIns="36576" bIns="36576" wrap="square">
            <a:noAutofit/>
          </a:bodyPr>
          <a:lstStyle/>
          <a:p>
            <a:pPr algn="ctr"/>
            <a:r>
              <a:rPr sz="1200" b="1" i="0">
                <a:solidFill>
                  <a:srgbClr val="BE123C"/>
                </a:solidFill>
                <a:latin typeface="Calibri"/>
              </a:rPr>
              <a:t>Chưa rõ thông tin</a:t>
            </a:r>
          </a:p>
        </p:txBody>
      </p:sp>
      <p:sp>
        <p:nvSpPr>
          <p:cNvPr id="15" name="Rounded Rectangle 14"/>
          <p:cNvSpPr/>
          <p:nvPr/>
        </p:nvSpPr>
        <p:spPr>
          <a:xfrm>
            <a:off x="6858000" y="3557015"/>
            <a:ext cx="1828800" cy="347472"/>
          </a:xfrm>
          <a:prstGeom prst="roundRect">
            <a:avLst>
              <a:gd name="adj" fmla="val 8000"/>
            </a:avLst>
          </a:prstGeom>
          <a:solidFill>
            <a:srgbClr val="FFFFFF"/>
          </a:solidFill>
          <a:ln w="9525">
            <a:solidFill>
              <a:srgbClr val="BE123C"/>
            </a:solidFill>
          </a:ln>
        </p:spPr>
        <p:txBody>
          <a:bodyPr rtlCol="0" anchor="ctr" lIns="36576" rIns="36576" tIns="36576" bIns="36576" wrap="square">
            <a:noAutofit/>
          </a:bodyPr>
          <a:lstStyle/>
          <a:p>
            <a:pPr algn="ctr"/>
            <a:r>
              <a:rPr sz="1200" b="1" i="0">
                <a:solidFill>
                  <a:srgbClr val="BE123C"/>
                </a:solidFill>
                <a:latin typeface="Calibri"/>
              </a:rPr>
              <a:t>Ngoài quy định</a:t>
            </a:r>
          </a:p>
        </p:txBody>
      </p:sp>
      <p:sp>
        <p:nvSpPr>
          <p:cNvPr id="16" name="Rounded Rectangle 15"/>
          <p:cNvSpPr/>
          <p:nvPr/>
        </p:nvSpPr>
        <p:spPr>
          <a:xfrm>
            <a:off x="6858000" y="3986783"/>
            <a:ext cx="1828800" cy="347472"/>
          </a:xfrm>
          <a:prstGeom prst="roundRect">
            <a:avLst>
              <a:gd name="adj" fmla="val 8000"/>
            </a:avLst>
          </a:prstGeom>
          <a:solidFill>
            <a:srgbClr val="FFFFFF"/>
          </a:solidFill>
          <a:ln w="9525">
            <a:solidFill>
              <a:srgbClr val="BE123C"/>
            </a:solidFill>
          </a:ln>
        </p:spPr>
        <p:txBody>
          <a:bodyPr rtlCol="0" anchor="ctr" lIns="36576" rIns="36576" tIns="36576" bIns="36576" wrap="square">
            <a:noAutofit/>
          </a:bodyPr>
          <a:lstStyle/>
          <a:p>
            <a:pPr algn="ctr"/>
            <a:r>
              <a:rPr sz="1200" b="1" i="0">
                <a:solidFill>
                  <a:srgbClr val="BE123C"/>
                </a:solidFill>
                <a:latin typeface="Calibri"/>
              </a:rPr>
              <a:t>Vượt thẩm quyền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CÁCH LÀM MỚI</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Từ lúc nhận hóa đơn đến lúc ghi sổ</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4</a:t>
            </a:r>
          </a:p>
        </p:txBody>
      </p:sp>
      <p:sp>
        <p:nvSpPr>
          <p:cNvPr id="6" name="Rounded Rectangle 5"/>
          <p:cNvSpPr/>
          <p:nvPr/>
        </p:nvSpPr>
        <p:spPr>
          <a:xfrm>
            <a:off x="457200" y="1325880"/>
            <a:ext cx="1207008" cy="914400"/>
          </a:xfrm>
          <a:prstGeom prst="roundRect">
            <a:avLst>
              <a:gd name="adj" fmla="val 8000"/>
            </a:avLst>
          </a:prstGeom>
          <a:solidFill>
            <a:srgbClr val="F1F5F9"/>
          </a:solidFill>
          <a:ln>
            <a:noFill/>
          </a:ln>
        </p:spPr>
        <p:txBody>
          <a:bodyPr rtlCol="0" anchor="ctr" lIns="54864" rIns="54864" tIns="54864" bIns="54864" wrap="square">
            <a:noAutofit/>
          </a:bodyPr>
          <a:lstStyle/>
          <a:p>
            <a:pPr algn="ctr"/>
            <a:r>
              <a:rPr sz="1100" b="1" i="0">
                <a:solidFill>
                  <a:srgbClr val="4D7C0F"/>
                </a:solidFill>
                <a:latin typeface="Calibri"/>
              </a:rPr>
              <a:t>1</a:t>
            </a:r>
          </a:p>
          <a:p>
            <a:pPr algn="ctr"/>
            <a:r>
              <a:rPr sz="1300" b="1" i="0">
                <a:solidFill>
                  <a:srgbClr val="0F172A"/>
                </a:solidFill>
                <a:latin typeface="Calibri"/>
              </a:rPr>
              <a:t>Thu</a:t>
            </a:r>
          </a:p>
        </p:txBody>
      </p:sp>
      <p:cxnSp>
        <p:nvCxnSpPr>
          <p:cNvPr id="7" name="Connector 6"/>
          <p:cNvCxnSpPr/>
          <p:nvPr/>
        </p:nvCxnSpPr>
        <p:spPr>
          <a:xfrm>
            <a:off x="1682496" y="1783080"/>
            <a:ext cx="160934" cy="0"/>
          </a:xfrm>
          <a:prstGeom prst="line">
            <a:avLst/>
          </a:prstGeom>
          <a:ln w="15875">
            <a:solidFill>
              <a:srgbClr val="94A3B8"/>
            </a:solidFill>
            <a:tailEnd type="triangle" w="med" len="med"/>
          </a:ln>
        </p:spPr>
      </p:cxnSp>
      <p:sp>
        <p:nvSpPr>
          <p:cNvPr id="8" name="TextBox 7"/>
          <p:cNvSpPr txBox="1"/>
          <p:nvPr/>
        </p:nvSpPr>
        <p:spPr>
          <a:xfrm>
            <a:off x="475488"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Gmail, Zalo, tải lên. Biết ai gửi.</a:t>
            </a:r>
          </a:p>
        </p:txBody>
      </p:sp>
      <p:sp>
        <p:nvSpPr>
          <p:cNvPr id="9" name="Rounded Rectangle 8"/>
          <p:cNvSpPr/>
          <p:nvPr/>
        </p:nvSpPr>
        <p:spPr>
          <a:xfrm>
            <a:off x="1861718" y="1325880"/>
            <a:ext cx="1207008" cy="914400"/>
          </a:xfrm>
          <a:prstGeom prst="roundRect">
            <a:avLst>
              <a:gd name="adj" fmla="val 8000"/>
            </a:avLst>
          </a:prstGeom>
          <a:solidFill>
            <a:srgbClr val="F1F5F9"/>
          </a:solidFill>
          <a:ln>
            <a:noFill/>
          </a:ln>
        </p:spPr>
        <p:txBody>
          <a:bodyPr rtlCol="0" anchor="ctr" lIns="54864" rIns="54864" tIns="54864" bIns="54864" wrap="square">
            <a:noAutofit/>
          </a:bodyPr>
          <a:lstStyle/>
          <a:p>
            <a:pPr algn="ctr"/>
            <a:r>
              <a:rPr sz="1100" b="1" i="0">
                <a:solidFill>
                  <a:srgbClr val="4D7C0F"/>
                </a:solidFill>
                <a:latin typeface="Calibri"/>
              </a:rPr>
              <a:t>2</a:t>
            </a:r>
          </a:p>
          <a:p>
            <a:pPr algn="ctr"/>
            <a:r>
              <a:rPr sz="1300" b="1" i="0">
                <a:solidFill>
                  <a:srgbClr val="0F172A"/>
                </a:solidFill>
                <a:latin typeface="Calibri"/>
              </a:rPr>
              <a:t>Kiểm theo lô</a:t>
            </a:r>
          </a:p>
        </p:txBody>
      </p:sp>
      <p:cxnSp>
        <p:nvCxnSpPr>
          <p:cNvPr id="10" name="Connector 9"/>
          <p:cNvCxnSpPr/>
          <p:nvPr/>
        </p:nvCxnSpPr>
        <p:spPr>
          <a:xfrm>
            <a:off x="3087014" y="1783080"/>
            <a:ext cx="160934" cy="0"/>
          </a:xfrm>
          <a:prstGeom prst="line">
            <a:avLst/>
          </a:prstGeom>
          <a:ln w="15875">
            <a:solidFill>
              <a:srgbClr val="94A3B8"/>
            </a:solidFill>
            <a:tailEnd type="triangle" w="med" len="med"/>
          </a:ln>
        </p:spPr>
      </p:cxnSp>
      <p:sp>
        <p:nvSpPr>
          <p:cNvPr id="11" name="TextBox 10"/>
          <p:cNvSpPr txBox="1"/>
          <p:nvPr/>
        </p:nvSpPr>
        <p:spPr>
          <a:xfrm>
            <a:off x="1880006"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Xếp MST → ngày → số. Máy quyết từng hóa đơn.</a:t>
            </a:r>
          </a:p>
        </p:txBody>
      </p:sp>
      <p:sp>
        <p:nvSpPr>
          <p:cNvPr id="12" name="Rounded Rectangle 11"/>
          <p:cNvSpPr/>
          <p:nvPr/>
        </p:nvSpPr>
        <p:spPr>
          <a:xfrm>
            <a:off x="3266236" y="1325880"/>
            <a:ext cx="1207008" cy="914400"/>
          </a:xfrm>
          <a:prstGeom prst="roundRect">
            <a:avLst>
              <a:gd name="adj" fmla="val 8000"/>
            </a:avLst>
          </a:prstGeom>
          <a:solidFill>
            <a:srgbClr val="F1F5F9"/>
          </a:solidFill>
          <a:ln>
            <a:noFill/>
          </a:ln>
        </p:spPr>
        <p:txBody>
          <a:bodyPr rtlCol="0" anchor="ctr" lIns="54864" rIns="54864" tIns="54864" bIns="54864" wrap="square">
            <a:noAutofit/>
          </a:bodyPr>
          <a:lstStyle/>
          <a:p>
            <a:pPr algn="ctr"/>
            <a:r>
              <a:rPr sz="1100" b="1" i="0">
                <a:solidFill>
                  <a:srgbClr val="4D7C0F"/>
                </a:solidFill>
                <a:latin typeface="Calibri"/>
              </a:rPr>
              <a:t>3</a:t>
            </a:r>
          </a:p>
          <a:p>
            <a:pPr algn="ctr"/>
            <a:r>
              <a:rPr sz="1300" b="1" i="0">
                <a:solidFill>
                  <a:srgbClr val="0F172A"/>
                </a:solidFill>
                <a:latin typeface="Calibri"/>
              </a:rPr>
              <a:t>Hỏi đúng người</a:t>
            </a:r>
          </a:p>
        </p:txBody>
      </p:sp>
      <p:cxnSp>
        <p:nvCxnSpPr>
          <p:cNvPr id="13" name="Connector 12"/>
          <p:cNvCxnSpPr/>
          <p:nvPr/>
        </p:nvCxnSpPr>
        <p:spPr>
          <a:xfrm>
            <a:off x="4491532" y="1783080"/>
            <a:ext cx="160935" cy="0"/>
          </a:xfrm>
          <a:prstGeom prst="line">
            <a:avLst/>
          </a:prstGeom>
          <a:ln w="15875">
            <a:solidFill>
              <a:srgbClr val="94A3B8"/>
            </a:solidFill>
            <a:tailEnd type="triangle" w="med" len="med"/>
          </a:ln>
        </p:spPr>
      </p:cxnSp>
      <p:sp>
        <p:nvSpPr>
          <p:cNvPr id="14" name="TextBox 13"/>
          <p:cNvSpPr txBox="1"/>
          <p:nvPr/>
        </p:nvSpPr>
        <p:spPr>
          <a:xfrm>
            <a:off x="3284524"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Trả lời một lần: “1A, 2A”.</a:t>
            </a:r>
          </a:p>
        </p:txBody>
      </p:sp>
      <p:sp>
        <p:nvSpPr>
          <p:cNvPr id="15" name="Rounded Rectangle 14"/>
          <p:cNvSpPr/>
          <p:nvPr/>
        </p:nvSpPr>
        <p:spPr>
          <a:xfrm>
            <a:off x="4670755" y="1325880"/>
            <a:ext cx="1207008" cy="914400"/>
          </a:xfrm>
          <a:prstGeom prst="roundRect">
            <a:avLst>
              <a:gd name="adj" fmla="val 8000"/>
            </a:avLst>
          </a:prstGeom>
          <a:solidFill>
            <a:srgbClr val="0F172A"/>
          </a:solidFill>
          <a:ln>
            <a:noFill/>
          </a:ln>
        </p:spPr>
        <p:txBody>
          <a:bodyPr rtlCol="0" anchor="ctr" lIns="54864" rIns="54864" tIns="54864" bIns="54864" wrap="square">
            <a:noAutofit/>
          </a:bodyPr>
          <a:lstStyle/>
          <a:p>
            <a:pPr algn="ctr"/>
            <a:r>
              <a:rPr sz="1100" b="1" i="0">
                <a:solidFill>
                  <a:srgbClr val="D9F99D"/>
                </a:solidFill>
                <a:latin typeface="Calibri"/>
              </a:rPr>
              <a:t>4</a:t>
            </a:r>
          </a:p>
          <a:p>
            <a:pPr algn="ctr"/>
            <a:r>
              <a:rPr sz="1300" b="1" i="0">
                <a:solidFill>
                  <a:srgbClr val="FFFFFF"/>
                </a:solidFill>
                <a:latin typeface="Calibri"/>
              </a:rPr>
              <a:t>Người chốt lô</a:t>
            </a:r>
          </a:p>
        </p:txBody>
      </p:sp>
      <p:cxnSp>
        <p:nvCxnSpPr>
          <p:cNvPr id="16" name="Connector 15"/>
          <p:cNvCxnSpPr/>
          <p:nvPr/>
        </p:nvCxnSpPr>
        <p:spPr>
          <a:xfrm>
            <a:off x="5896051" y="1783080"/>
            <a:ext cx="160934" cy="0"/>
          </a:xfrm>
          <a:prstGeom prst="line">
            <a:avLst/>
          </a:prstGeom>
          <a:ln w="15875">
            <a:solidFill>
              <a:srgbClr val="94A3B8"/>
            </a:solidFill>
            <a:tailEnd type="triangle" w="med" len="med"/>
          </a:ln>
        </p:spPr>
      </p:cxnSp>
      <p:sp>
        <p:nvSpPr>
          <p:cNvPr id="17" name="TextBox 16"/>
          <p:cNvSpPr txBox="1"/>
          <p:nvPr/>
        </p:nvSpPr>
        <p:spPr>
          <a:xfrm>
            <a:off x="4689043"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KTT hoặc CFO ký thì mới ghi sổ.</a:t>
            </a:r>
          </a:p>
        </p:txBody>
      </p:sp>
      <p:sp>
        <p:nvSpPr>
          <p:cNvPr id="18" name="Rounded Rectangle 17"/>
          <p:cNvSpPr/>
          <p:nvPr/>
        </p:nvSpPr>
        <p:spPr>
          <a:xfrm>
            <a:off x="6075273" y="1325880"/>
            <a:ext cx="1207008" cy="914400"/>
          </a:xfrm>
          <a:prstGeom prst="roundRect">
            <a:avLst>
              <a:gd name="adj" fmla="val 8000"/>
            </a:avLst>
          </a:prstGeom>
          <a:solidFill>
            <a:srgbClr val="F1F5F9"/>
          </a:solidFill>
          <a:ln>
            <a:noFill/>
          </a:ln>
        </p:spPr>
        <p:txBody>
          <a:bodyPr rtlCol="0" anchor="ctr" lIns="54864" rIns="54864" tIns="54864" bIns="54864" wrap="square">
            <a:noAutofit/>
          </a:bodyPr>
          <a:lstStyle/>
          <a:p>
            <a:pPr algn="ctr"/>
            <a:r>
              <a:rPr sz="1100" b="1" i="0">
                <a:solidFill>
                  <a:srgbClr val="4D7C0F"/>
                </a:solidFill>
                <a:latin typeface="Calibri"/>
              </a:rPr>
              <a:t>5</a:t>
            </a:r>
          </a:p>
          <a:p>
            <a:pPr algn="ctr"/>
            <a:r>
              <a:rPr sz="1300" b="1" i="0">
                <a:solidFill>
                  <a:srgbClr val="0F172A"/>
                </a:solidFill>
                <a:latin typeface="Calibri"/>
              </a:rPr>
              <a:t>Sếp theo dõi</a:t>
            </a:r>
          </a:p>
        </p:txBody>
      </p:sp>
      <p:cxnSp>
        <p:nvCxnSpPr>
          <p:cNvPr id="19" name="Connector 18"/>
          <p:cNvCxnSpPr/>
          <p:nvPr/>
        </p:nvCxnSpPr>
        <p:spPr>
          <a:xfrm>
            <a:off x="7300569" y="1783080"/>
            <a:ext cx="160935" cy="0"/>
          </a:xfrm>
          <a:prstGeom prst="line">
            <a:avLst/>
          </a:prstGeom>
          <a:ln w="15875">
            <a:solidFill>
              <a:srgbClr val="94A3B8"/>
            </a:solidFill>
            <a:tailEnd type="triangle" w="med" len="med"/>
          </a:ln>
        </p:spPr>
      </p:cxnSp>
      <p:sp>
        <p:nvSpPr>
          <p:cNvPr id="20" name="TextBox 19"/>
          <p:cNvSpPr txBox="1"/>
          <p:nvPr/>
        </p:nvSpPr>
        <p:spPr>
          <a:xfrm>
            <a:off x="6093561"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Tự xử lý bao nhiêu, chờ bao nhiêu, VAT.</a:t>
            </a:r>
          </a:p>
        </p:txBody>
      </p:sp>
      <p:sp>
        <p:nvSpPr>
          <p:cNvPr id="21" name="Rounded Rectangle 20"/>
          <p:cNvSpPr/>
          <p:nvPr/>
        </p:nvSpPr>
        <p:spPr>
          <a:xfrm>
            <a:off x="7479792" y="1325880"/>
            <a:ext cx="1207008" cy="914400"/>
          </a:xfrm>
          <a:prstGeom prst="roundRect">
            <a:avLst>
              <a:gd name="adj" fmla="val 8000"/>
            </a:avLst>
          </a:prstGeom>
          <a:solidFill>
            <a:srgbClr val="F1F5F9"/>
          </a:solidFill>
          <a:ln>
            <a:noFill/>
          </a:ln>
        </p:spPr>
        <p:txBody>
          <a:bodyPr rtlCol="0" anchor="ctr" lIns="54864" rIns="54864" tIns="54864" bIns="54864" wrap="square">
            <a:noAutofit/>
          </a:bodyPr>
          <a:lstStyle/>
          <a:p>
            <a:pPr algn="ctr"/>
            <a:r>
              <a:rPr sz="1100" b="1" i="0">
                <a:solidFill>
                  <a:srgbClr val="4D7C0F"/>
                </a:solidFill>
                <a:latin typeface="Calibri"/>
              </a:rPr>
              <a:t>6</a:t>
            </a:r>
          </a:p>
          <a:p>
            <a:pPr algn="ctr"/>
            <a:r>
              <a:rPr sz="1300" b="1" i="0">
                <a:solidFill>
                  <a:srgbClr val="0F172A"/>
                </a:solidFill>
                <a:latin typeface="Calibri"/>
              </a:rPr>
              <a:t>Nhật ký</a:t>
            </a:r>
          </a:p>
        </p:txBody>
      </p:sp>
      <p:sp>
        <p:nvSpPr>
          <p:cNvPr id="22" name="TextBox 21"/>
          <p:cNvSpPr txBox="1"/>
          <p:nvPr/>
        </p:nvSpPr>
        <p:spPr>
          <a:xfrm>
            <a:off x="7498079" y="2377440"/>
            <a:ext cx="1170432" cy="1097280"/>
          </a:xfrm>
          <a:prstGeom prst="rect">
            <a:avLst/>
          </a:prstGeom>
          <a:noFill/>
        </p:spPr>
        <p:txBody>
          <a:bodyPr wrap="square" lIns="0" rIns="0" tIns="0" bIns="0" anchor="t">
            <a:noAutofit/>
          </a:bodyPr>
          <a:lstStyle/>
          <a:p>
            <a:pPr algn="l"/>
            <a:r>
              <a:rPr sz="1250" b="0" i="0">
                <a:solidFill>
                  <a:srgbClr val="334155"/>
                </a:solidFill>
                <a:latin typeface="Calibri"/>
              </a:rPr>
              <a:t>Chỉ ghi thêm. Sửa là lộ.</a:t>
            </a:r>
          </a:p>
        </p:txBody>
      </p:sp>
      <p:sp>
        <p:nvSpPr>
          <p:cNvPr id="23" name="Rounded Rectangle 22"/>
          <p:cNvSpPr/>
          <p:nvPr/>
        </p:nvSpPr>
        <p:spPr>
          <a:xfrm>
            <a:off x="457200" y="3611880"/>
            <a:ext cx="8229600" cy="731520"/>
          </a:xfrm>
          <a:prstGeom prst="roundRect">
            <a:avLst>
              <a:gd name="adj" fmla="val 8000"/>
            </a:avLst>
          </a:prstGeom>
          <a:solidFill>
            <a:srgbClr val="ECFCCB"/>
          </a:solidFill>
          <a:ln>
            <a:noFill/>
          </a:ln>
        </p:spPr>
        <p:txBody>
          <a:bodyPr rtlCol="0" anchor="ctr" lIns="228600" rIns="228600" tIns="54864" bIns="54864" wrap="square">
            <a:noAutofit/>
          </a:bodyPr>
          <a:lstStyle/>
          <a:p>
            <a:pPr algn="l"/>
            <a:r>
              <a:rPr sz="1400" b="1" i="0">
                <a:solidFill>
                  <a:srgbClr val="0F172A"/>
                </a:solidFill>
                <a:latin typeface="Calibri"/>
              </a:rPr>
              <a:t>Giống dây chuyền kiểm hàng: </a:t>
            </a:r>
            <a:r>
              <a:rPr sz="1400" b="0" i="0">
                <a:solidFill>
                  <a:srgbClr val="0F172A"/>
                </a:solidFill>
                <a:latin typeface="Calibri"/>
              </a:rPr>
              <a:t>máy soi từng món, nhưng tổ trưởng ký phiếu thì xe hàng mới được xuất kho.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MỚI TRONG VÒNG NÀY · THEO LÔ</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Nhiều file một lần, thứ tự luôn như nhau</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5</a:t>
            </a:r>
          </a:p>
        </p:txBody>
      </p:sp>
      <p:sp>
        <p:nvSpPr>
          <p:cNvPr id="6" name="Oval 5"/>
          <p:cNvSpPr/>
          <p:nvPr/>
        </p:nvSpPr>
        <p:spPr>
          <a:xfrm>
            <a:off x="457200" y="1316736"/>
            <a:ext cx="384048" cy="384048"/>
          </a:xfrm>
          <a:prstGeom prst="ellipse">
            <a:avLst/>
          </a:prstGeom>
          <a:solidFill>
            <a:srgbClr val="4D7C0F"/>
          </a:solidFill>
          <a:ln>
            <a:noFill/>
          </a:ln>
        </p:spPr>
        <p:txBody>
          <a:bodyPr rtlCol="0" anchor="ctr" lIns="0" rIns="0" tIns="0" bIns="0" wrap="square">
            <a:noAutofit/>
          </a:bodyPr>
          <a:lstStyle/>
          <a:p>
            <a:pPr algn="ctr"/>
            <a:r>
              <a:rPr sz="1300" b="1" i="0">
                <a:solidFill>
                  <a:srgbClr val="FFFFFF"/>
                </a:solidFill>
                <a:latin typeface="Calibri"/>
              </a:rPr>
              <a:t>1</a:t>
            </a:r>
          </a:p>
        </p:txBody>
      </p:sp>
      <p:sp>
        <p:nvSpPr>
          <p:cNvPr id="7" name="TextBox 6"/>
          <p:cNvSpPr txBox="1"/>
          <p:nvPr/>
        </p:nvSpPr>
        <p:spPr>
          <a:xfrm>
            <a:off x="1005840" y="1280160"/>
            <a:ext cx="3291840" cy="548640"/>
          </a:xfrm>
          <a:prstGeom prst="rect">
            <a:avLst/>
          </a:prstGeom>
          <a:noFill/>
        </p:spPr>
        <p:txBody>
          <a:bodyPr wrap="square" lIns="0" rIns="0" tIns="0" bIns="0" anchor="ctr">
            <a:noAutofit/>
          </a:bodyPr>
          <a:lstStyle/>
          <a:p>
            <a:pPr algn="l"/>
            <a:r>
              <a:rPr sz="1400" b="0" i="0">
                <a:solidFill>
                  <a:srgbClr val="334155"/>
                </a:solidFill>
                <a:latin typeface="Calibri"/>
              </a:rPr>
              <a:t>Tải nhiều file một lần, hoặc nhận từ Gmail, Zalo.</a:t>
            </a:r>
          </a:p>
        </p:txBody>
      </p:sp>
      <p:sp>
        <p:nvSpPr>
          <p:cNvPr id="8" name="Oval 7"/>
          <p:cNvSpPr/>
          <p:nvPr/>
        </p:nvSpPr>
        <p:spPr>
          <a:xfrm>
            <a:off x="457200" y="1975104"/>
            <a:ext cx="384048" cy="384048"/>
          </a:xfrm>
          <a:prstGeom prst="ellipse">
            <a:avLst/>
          </a:prstGeom>
          <a:solidFill>
            <a:srgbClr val="4D7C0F"/>
          </a:solidFill>
          <a:ln>
            <a:noFill/>
          </a:ln>
        </p:spPr>
        <p:txBody>
          <a:bodyPr rtlCol="0" anchor="ctr" lIns="0" rIns="0" tIns="0" bIns="0" wrap="square">
            <a:noAutofit/>
          </a:bodyPr>
          <a:lstStyle/>
          <a:p>
            <a:pPr algn="ctr"/>
            <a:r>
              <a:rPr sz="1300" b="1" i="0">
                <a:solidFill>
                  <a:srgbClr val="FFFFFF"/>
                </a:solidFill>
                <a:latin typeface="Calibri"/>
              </a:rPr>
              <a:t>2</a:t>
            </a:r>
          </a:p>
        </p:txBody>
      </p:sp>
      <p:sp>
        <p:nvSpPr>
          <p:cNvPr id="9" name="TextBox 8"/>
          <p:cNvSpPr txBox="1"/>
          <p:nvPr/>
        </p:nvSpPr>
        <p:spPr>
          <a:xfrm>
            <a:off x="1005840" y="1938528"/>
            <a:ext cx="3291840" cy="548640"/>
          </a:xfrm>
          <a:prstGeom prst="rect">
            <a:avLst/>
          </a:prstGeom>
          <a:noFill/>
        </p:spPr>
        <p:txBody>
          <a:bodyPr wrap="square" lIns="0" rIns="0" tIns="0" bIns="0" anchor="ctr">
            <a:noAutofit/>
          </a:bodyPr>
          <a:lstStyle/>
          <a:p>
            <a:pPr algn="l"/>
            <a:r>
              <a:rPr sz="1400" b="0" i="0">
                <a:solidFill>
                  <a:srgbClr val="334155"/>
                </a:solidFill>
                <a:latin typeface="Calibri"/>
              </a:rPr>
              <a:t>Đọc hết rồi mới xếp: MST → ngày → số, sau đó mới kiểm.</a:t>
            </a:r>
          </a:p>
        </p:txBody>
      </p:sp>
      <p:sp>
        <p:nvSpPr>
          <p:cNvPr id="10" name="Oval 9"/>
          <p:cNvSpPr/>
          <p:nvPr/>
        </p:nvSpPr>
        <p:spPr>
          <a:xfrm>
            <a:off x="457200" y="2633472"/>
            <a:ext cx="384048" cy="384048"/>
          </a:xfrm>
          <a:prstGeom prst="ellipse">
            <a:avLst/>
          </a:prstGeom>
          <a:solidFill>
            <a:srgbClr val="4D7C0F"/>
          </a:solidFill>
          <a:ln>
            <a:noFill/>
          </a:ln>
        </p:spPr>
        <p:txBody>
          <a:bodyPr rtlCol="0" anchor="ctr" lIns="0" rIns="0" tIns="0" bIns="0" wrap="square">
            <a:noAutofit/>
          </a:bodyPr>
          <a:lstStyle/>
          <a:p>
            <a:pPr algn="ctr"/>
            <a:r>
              <a:rPr sz="1300" b="1" i="0">
                <a:solidFill>
                  <a:srgbClr val="FFFFFF"/>
                </a:solidFill>
                <a:latin typeface="Calibri"/>
              </a:rPr>
              <a:t>3</a:t>
            </a:r>
          </a:p>
        </p:txBody>
      </p:sp>
      <p:sp>
        <p:nvSpPr>
          <p:cNvPr id="11" name="TextBox 10"/>
          <p:cNvSpPr txBox="1"/>
          <p:nvPr/>
        </p:nvSpPr>
        <p:spPr>
          <a:xfrm>
            <a:off x="1005840" y="2596896"/>
            <a:ext cx="3291840" cy="548640"/>
          </a:xfrm>
          <a:prstGeom prst="rect">
            <a:avLst/>
          </a:prstGeom>
          <a:noFill/>
        </p:spPr>
        <p:txBody>
          <a:bodyPr wrap="square" lIns="0" rIns="0" tIns="0" bIns="0" anchor="ctr">
            <a:noAutofit/>
          </a:bodyPr>
          <a:lstStyle/>
          <a:p>
            <a:pPr algn="l"/>
            <a:r>
              <a:rPr sz="1400" b="0" i="0">
                <a:solidFill>
                  <a:srgbClr val="334155"/>
                </a:solidFill>
                <a:latin typeface="Calibri"/>
              </a:rPr>
              <a:t>Một file gửi hai lần (trùng SHA-256) chỉ tính một.</a:t>
            </a:r>
          </a:p>
        </p:txBody>
      </p:sp>
      <p:sp>
        <p:nvSpPr>
          <p:cNvPr id="12" name="Rounded Rectangle 11"/>
          <p:cNvSpPr/>
          <p:nvPr/>
        </p:nvSpPr>
        <p:spPr>
          <a:xfrm>
            <a:off x="457200" y="3383280"/>
            <a:ext cx="3840480" cy="1097280"/>
          </a:xfrm>
          <a:prstGeom prst="roundRect">
            <a:avLst>
              <a:gd name="adj" fmla="val 8000"/>
            </a:avLst>
          </a:prstGeom>
          <a:solidFill>
            <a:srgbClr val="F1F5F9"/>
          </a:solidFill>
          <a:ln>
            <a:noFill/>
          </a:ln>
        </p:spPr>
        <p:txBody>
          <a:bodyPr rtlCol="0" anchor="ctr" lIns="182880" rIns="182880" tIns="54864" bIns="54864" wrap="square">
            <a:noAutofit/>
          </a:bodyPr>
          <a:lstStyle/>
          <a:p>
            <a:pPr algn="l"/>
            <a:r>
              <a:rPr sz="1300" b="1" i="0">
                <a:solidFill>
                  <a:srgbClr val="0F172A"/>
                </a:solidFill>
                <a:latin typeface="Calibri"/>
              </a:rPr>
              <a:t>Lô lớn: </a:t>
            </a:r>
            <a:r>
              <a:rPr sz="1300" b="0" i="0">
                <a:solidFill>
                  <a:srgbClr val="334155"/>
                </a:solidFill>
                <a:latin typeface="Calibri"/>
              </a:rPr>
              <a:t>hóa đơn cùng một câu hỏi được trả lời chung một lần. Từng hóa đơn vẫn được kiểm và ghi nhật ký riêng.</a:t>
            </a:r>
          </a:p>
        </p:txBody>
      </p:sp>
      <p:pic>
        <p:nvPicPr>
          <p:cNvPr id="13" name="Ảnh màn hình batch" descr="batch.png"/>
          <p:cNvPicPr>
            <a:picLocks noChangeAspect="1"/>
          </p:cNvPicPr>
          <p:nvPr/>
        </p:nvPicPr>
        <p:blipFill>
          <a:blip r:embed="rId3"/>
          <a:stretch>
            <a:fillRect/>
          </a:stretch>
        </p:blipFill>
        <p:spPr>
          <a:xfrm>
            <a:off x="4572000" y="1234440"/>
            <a:ext cx="4114800" cy="2313445"/>
          </a:xfrm>
          <a:prstGeom prst="rect">
            <a:avLst/>
          </a:prstGeom>
          <a:ln w="9525">
            <a:solidFill>
              <a:srgbClr val="CBD5E1"/>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MỚI TRONG VÒNG NÀY · PHIẾU GIẢI TRÌNH</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Vì sao máy duyệt, vì sao máy dừng</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6</a:t>
            </a:r>
          </a:p>
        </p:txBody>
      </p:sp>
      <p:sp>
        <p:nvSpPr>
          <p:cNvPr id="6" name="Rounded Rectangle 5"/>
          <p:cNvSpPr/>
          <p:nvPr/>
        </p:nvSpPr>
        <p:spPr>
          <a:xfrm>
            <a:off x="457200" y="1234440"/>
            <a:ext cx="3840480" cy="1463040"/>
          </a:xfrm>
          <a:prstGeom prst="roundRect">
            <a:avLst>
              <a:gd name="adj" fmla="val 8000"/>
            </a:avLst>
          </a:prstGeom>
          <a:solidFill>
            <a:srgbClr val="ECFCCB"/>
          </a:solidFill>
          <a:ln>
            <a:noFill/>
          </a:ln>
        </p:spPr>
        <p:txBody>
          <a:bodyPr rtlCol="0" anchor="ctr" lIns="228600" rIns="228600" tIns="54864" bIns="54864" wrap="square">
            <a:noAutofit/>
          </a:bodyPr>
          <a:lstStyle/>
          <a:p>
            <a:pPr algn="l">
              <a:spcAft>
                <a:spcPts val="600"/>
              </a:spcAft>
            </a:pPr>
            <a:r>
              <a:rPr sz="1600" b="1" i="0">
                <a:solidFill>
                  <a:srgbClr val="4D7C0F"/>
                </a:solidFill>
                <a:latin typeface="Calibri"/>
              </a:rPr>
              <a:t>Khi máy duyệt</a:t>
            </a:r>
          </a:p>
          <a:p>
            <a:pPr algn="l"/>
            <a:r>
              <a:rPr sz="1350" b="0" i="0">
                <a:solidFill>
                  <a:srgbClr val="0F172A"/>
                </a:solidFill>
                <a:latin typeface="Calibri"/>
              </a:rPr>
              <a:t>Liệt kê từng điều kiện đã đạt, có con số đi kèm. Ai đọc cũng tự kiểm lại được.</a:t>
            </a:r>
          </a:p>
        </p:txBody>
      </p:sp>
      <p:sp>
        <p:nvSpPr>
          <p:cNvPr id="7" name="Rounded Rectangle 6"/>
          <p:cNvSpPr/>
          <p:nvPr/>
        </p:nvSpPr>
        <p:spPr>
          <a:xfrm>
            <a:off x="457200" y="2926080"/>
            <a:ext cx="3840480" cy="1554480"/>
          </a:xfrm>
          <a:prstGeom prst="roundRect">
            <a:avLst>
              <a:gd name="adj" fmla="val 8000"/>
            </a:avLst>
          </a:prstGeom>
          <a:solidFill>
            <a:srgbClr val="FFE4E6"/>
          </a:solidFill>
          <a:ln>
            <a:noFill/>
          </a:ln>
        </p:spPr>
        <p:txBody>
          <a:bodyPr rtlCol="0" anchor="ctr" lIns="228600" rIns="228600" tIns="54864" bIns="54864" wrap="square">
            <a:noAutofit/>
          </a:bodyPr>
          <a:lstStyle/>
          <a:p>
            <a:pPr algn="l">
              <a:spcAft>
                <a:spcPts val="600"/>
              </a:spcAft>
            </a:pPr>
            <a:r>
              <a:rPr sz="1600" b="1" i="0">
                <a:solidFill>
                  <a:srgbClr val="BE123C"/>
                </a:solidFill>
                <a:latin typeface="Calibri"/>
              </a:rPr>
              <a:t>Khi máy dừng</a:t>
            </a:r>
          </a:p>
          <a:p>
            <a:pPr algn="l"/>
            <a:r>
              <a:rPr sz="1350" b="0" i="0">
                <a:solidFill>
                  <a:srgbClr val="0F172A"/>
                </a:solidFill>
                <a:latin typeface="Calibri"/>
              </a:rPr>
              <a:t>Tô đỏ đúng quy tắc, đúng trường dữ liệu, và số VAT đang bị treo.</a:t>
            </a:r>
          </a:p>
        </p:txBody>
      </p:sp>
      <p:pic>
        <p:nvPicPr>
          <p:cNvPr id="8" name="Ảnh màn hình explain" descr="explain.png"/>
          <p:cNvPicPr>
            <a:picLocks noChangeAspect="1"/>
          </p:cNvPicPr>
          <p:nvPr/>
        </p:nvPicPr>
        <p:blipFill>
          <a:blip r:embed="rId3"/>
          <a:stretch>
            <a:fillRect/>
          </a:stretch>
        </p:blipFill>
        <p:spPr>
          <a:xfrm>
            <a:off x="4572000" y="1234440"/>
            <a:ext cx="4114800" cy="2313445"/>
          </a:xfrm>
          <a:prstGeom prst="rect">
            <a:avLst/>
          </a:prstGeom>
          <a:ln w="9525">
            <a:solidFill>
              <a:srgbClr val="CBD5E1"/>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MỚI TRONG VÒNG NÀY · MÁY QUYẾT, NGƯỜI CHỐT</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Ai làm gì trong một lô</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7</a:t>
            </a:r>
          </a:p>
        </p:txBody>
      </p:sp>
      <p:sp>
        <p:nvSpPr>
          <p:cNvPr id="6" name="Rounded Rectangle 5"/>
          <p:cNvSpPr/>
          <p:nvPr/>
        </p:nvSpPr>
        <p:spPr>
          <a:xfrm>
            <a:off x="457200" y="1188720"/>
            <a:ext cx="8229600" cy="384048"/>
          </a:xfrm>
          <a:prstGeom prst="roundRect">
            <a:avLst>
              <a:gd name="adj" fmla="val 10000"/>
            </a:avLst>
          </a:prstGeom>
          <a:solidFill>
            <a:srgbClr val="0F172A"/>
          </a:solidFill>
          <a:ln>
            <a:noFill/>
          </a:ln>
        </p:spPr>
        <p:txBody>
          <a:bodyPr rtlCol="0" anchor="ctr" lIns="109728" rIns="109728" tIns="54864" bIns="54864"/>
          <a:lstStyle/>
          <a:p>
            <a:pPr algn="ctr"/>
          </a:p>
        </p:txBody>
      </p:sp>
      <p:sp>
        <p:nvSpPr>
          <p:cNvPr id="7" name="TextBox 6"/>
          <p:cNvSpPr txBox="1"/>
          <p:nvPr/>
        </p:nvSpPr>
        <p:spPr>
          <a:xfrm>
            <a:off x="594360" y="1188720"/>
            <a:ext cx="1554480" cy="384048"/>
          </a:xfrm>
          <a:prstGeom prst="rect">
            <a:avLst/>
          </a:prstGeom>
          <a:noFill/>
        </p:spPr>
        <p:txBody>
          <a:bodyPr wrap="square" lIns="0" rIns="0" tIns="0" bIns="0" anchor="ctr">
            <a:noAutofit/>
          </a:bodyPr>
          <a:lstStyle/>
          <a:p>
            <a:pPr algn="l"/>
            <a:r>
              <a:rPr sz="1200" b="1" i="0">
                <a:solidFill>
                  <a:srgbClr val="FFFFFF"/>
                </a:solidFill>
                <a:latin typeface="Calibri"/>
              </a:rPr>
              <a:t>Vai</a:t>
            </a:r>
          </a:p>
        </p:txBody>
      </p:sp>
      <p:sp>
        <p:nvSpPr>
          <p:cNvPr id="8" name="TextBox 7"/>
          <p:cNvSpPr txBox="1"/>
          <p:nvPr/>
        </p:nvSpPr>
        <p:spPr>
          <a:xfrm>
            <a:off x="2331720" y="1188720"/>
            <a:ext cx="3246120" cy="384048"/>
          </a:xfrm>
          <a:prstGeom prst="rect">
            <a:avLst/>
          </a:prstGeom>
          <a:noFill/>
        </p:spPr>
        <p:txBody>
          <a:bodyPr wrap="square" lIns="0" rIns="0" tIns="0" bIns="0" anchor="ctr">
            <a:noAutofit/>
          </a:bodyPr>
          <a:lstStyle/>
          <a:p>
            <a:pPr algn="l"/>
            <a:r>
              <a:rPr sz="1200" b="1" i="0">
                <a:solidFill>
                  <a:srgbClr val="FFFFFF"/>
                </a:solidFill>
                <a:latin typeface="Calibri"/>
              </a:rPr>
              <a:t>Được làm</a:t>
            </a:r>
          </a:p>
        </p:txBody>
      </p:sp>
      <p:sp>
        <p:nvSpPr>
          <p:cNvPr id="9" name="TextBox 8"/>
          <p:cNvSpPr txBox="1"/>
          <p:nvPr/>
        </p:nvSpPr>
        <p:spPr>
          <a:xfrm>
            <a:off x="5760720" y="1188720"/>
            <a:ext cx="2880360" cy="384048"/>
          </a:xfrm>
          <a:prstGeom prst="rect">
            <a:avLst/>
          </a:prstGeom>
          <a:noFill/>
        </p:spPr>
        <p:txBody>
          <a:bodyPr wrap="square" lIns="0" rIns="0" tIns="0" bIns="0" anchor="ctr">
            <a:noAutofit/>
          </a:bodyPr>
          <a:lstStyle/>
          <a:p>
            <a:pPr algn="l"/>
            <a:r>
              <a:rPr sz="1200" b="1" i="0">
                <a:solidFill>
                  <a:srgbClr val="FFFFFF"/>
                </a:solidFill>
                <a:latin typeface="Calibri"/>
              </a:rPr>
              <a:t>Không được làm</a:t>
            </a:r>
          </a:p>
        </p:txBody>
      </p:sp>
      <p:sp>
        <p:nvSpPr>
          <p:cNvPr id="10" name="Rounded Rectangle 9"/>
          <p:cNvSpPr/>
          <p:nvPr/>
        </p:nvSpPr>
        <p:spPr>
          <a:xfrm>
            <a:off x="457200" y="1627632"/>
            <a:ext cx="8229600" cy="502920"/>
          </a:xfrm>
          <a:prstGeom prst="roundRect">
            <a:avLst>
              <a:gd name="adj" fmla="val 10000"/>
            </a:avLst>
          </a:prstGeom>
          <a:solidFill>
            <a:srgbClr val="F1F5F9"/>
          </a:solidFill>
          <a:ln>
            <a:noFill/>
          </a:ln>
        </p:spPr>
        <p:txBody>
          <a:bodyPr rtlCol="0" anchor="ctr" lIns="109728" rIns="109728" tIns="54864" bIns="54864"/>
          <a:lstStyle/>
          <a:p>
            <a:pPr algn="ctr"/>
          </a:p>
        </p:txBody>
      </p:sp>
      <p:sp>
        <p:nvSpPr>
          <p:cNvPr id="11" name="TextBox 10"/>
          <p:cNvSpPr txBox="1"/>
          <p:nvPr/>
        </p:nvSpPr>
        <p:spPr>
          <a:xfrm>
            <a:off x="594360" y="1627632"/>
            <a:ext cx="1508760" cy="502920"/>
          </a:xfrm>
          <a:prstGeom prst="rect">
            <a:avLst/>
          </a:prstGeom>
          <a:noFill/>
        </p:spPr>
        <p:txBody>
          <a:bodyPr wrap="square" lIns="0" rIns="0" tIns="0" bIns="0" anchor="ctr">
            <a:noAutofit/>
          </a:bodyPr>
          <a:lstStyle/>
          <a:p>
            <a:pPr algn="l"/>
            <a:r>
              <a:rPr sz="1250" b="1" i="0">
                <a:solidFill>
                  <a:srgbClr val="0F172A"/>
                </a:solidFill>
                <a:latin typeface="Calibri"/>
              </a:rPr>
              <a:t>Máy (trọng tài)</a:t>
            </a:r>
          </a:p>
        </p:txBody>
      </p:sp>
      <p:sp>
        <p:nvSpPr>
          <p:cNvPr id="12" name="TextBox 11"/>
          <p:cNvSpPr txBox="1"/>
          <p:nvPr/>
        </p:nvSpPr>
        <p:spPr>
          <a:xfrm>
            <a:off x="2331720" y="1627632"/>
            <a:ext cx="3200400" cy="502920"/>
          </a:xfrm>
          <a:prstGeom prst="rect">
            <a:avLst/>
          </a:prstGeom>
          <a:noFill/>
        </p:spPr>
        <p:txBody>
          <a:bodyPr wrap="square" lIns="0" rIns="0" tIns="0" bIns="0" anchor="ctr">
            <a:noAutofit/>
          </a:bodyPr>
          <a:lstStyle/>
          <a:p>
            <a:pPr algn="l"/>
            <a:r>
              <a:rPr sz="1250" b="0" i="0">
                <a:solidFill>
                  <a:srgbClr val="334155"/>
                </a:solidFill>
                <a:latin typeface="Calibri"/>
              </a:rPr>
              <a:t>Quyết từng hóa đơn theo quy tắc, ghi nhật ký</a:t>
            </a:r>
          </a:p>
        </p:txBody>
      </p:sp>
      <p:sp>
        <p:nvSpPr>
          <p:cNvPr id="13" name="TextBox 12"/>
          <p:cNvSpPr txBox="1"/>
          <p:nvPr/>
        </p:nvSpPr>
        <p:spPr>
          <a:xfrm>
            <a:off x="5760720" y="1627632"/>
            <a:ext cx="2834640" cy="502920"/>
          </a:xfrm>
          <a:prstGeom prst="rect">
            <a:avLst/>
          </a:prstGeom>
          <a:noFill/>
        </p:spPr>
        <p:txBody>
          <a:bodyPr wrap="square" lIns="0" rIns="0" tIns="0" bIns="0" anchor="ctr">
            <a:noAutofit/>
          </a:bodyPr>
          <a:lstStyle/>
          <a:p>
            <a:pPr algn="l"/>
            <a:r>
              <a:rPr sz="1250" b="0" i="0">
                <a:solidFill>
                  <a:srgbClr val="334155"/>
                </a:solidFill>
                <a:latin typeface="Calibri"/>
              </a:rPr>
              <a:t>Ghi sổ khi lô chưa được chốt</a:t>
            </a:r>
          </a:p>
        </p:txBody>
      </p:sp>
      <p:sp>
        <p:nvSpPr>
          <p:cNvPr id="14" name="Rounded Rectangle 13"/>
          <p:cNvSpPr/>
          <p:nvPr/>
        </p:nvSpPr>
        <p:spPr>
          <a:xfrm>
            <a:off x="457200" y="2176272"/>
            <a:ext cx="8229600" cy="502920"/>
          </a:xfrm>
          <a:prstGeom prst="roundRect">
            <a:avLst>
              <a:gd name="adj" fmla="val 10000"/>
            </a:avLst>
          </a:prstGeom>
          <a:solidFill>
            <a:srgbClr val="FFFFFF"/>
          </a:solidFill>
          <a:ln>
            <a:noFill/>
          </a:ln>
        </p:spPr>
        <p:txBody>
          <a:bodyPr rtlCol="0" anchor="ctr" lIns="109728" rIns="109728" tIns="54864" bIns="54864"/>
          <a:lstStyle/>
          <a:p>
            <a:pPr algn="ctr"/>
          </a:p>
        </p:txBody>
      </p:sp>
      <p:sp>
        <p:nvSpPr>
          <p:cNvPr id="15" name="TextBox 14"/>
          <p:cNvSpPr txBox="1"/>
          <p:nvPr/>
        </p:nvSpPr>
        <p:spPr>
          <a:xfrm>
            <a:off x="594360" y="2176272"/>
            <a:ext cx="1508760" cy="502920"/>
          </a:xfrm>
          <a:prstGeom prst="rect">
            <a:avLst/>
          </a:prstGeom>
          <a:noFill/>
        </p:spPr>
        <p:txBody>
          <a:bodyPr wrap="square" lIns="0" rIns="0" tIns="0" bIns="0" anchor="ctr">
            <a:noAutofit/>
          </a:bodyPr>
          <a:lstStyle/>
          <a:p>
            <a:pPr algn="l"/>
            <a:r>
              <a:rPr sz="1250" b="1" i="0">
                <a:solidFill>
                  <a:srgbClr val="0F172A"/>
                </a:solidFill>
                <a:latin typeface="Calibri"/>
              </a:rPr>
              <a:t>Kế toán viên</a:t>
            </a:r>
          </a:p>
        </p:txBody>
      </p:sp>
      <p:sp>
        <p:nvSpPr>
          <p:cNvPr id="16" name="TextBox 15"/>
          <p:cNvSpPr txBox="1"/>
          <p:nvPr/>
        </p:nvSpPr>
        <p:spPr>
          <a:xfrm>
            <a:off x="2331720" y="2176272"/>
            <a:ext cx="3200400" cy="502920"/>
          </a:xfrm>
          <a:prstGeom prst="rect">
            <a:avLst/>
          </a:prstGeom>
          <a:noFill/>
        </p:spPr>
        <p:txBody>
          <a:bodyPr wrap="square" lIns="0" rIns="0" tIns="0" bIns="0" anchor="ctr">
            <a:noAutofit/>
          </a:bodyPr>
          <a:lstStyle/>
          <a:p>
            <a:pPr algn="l"/>
            <a:r>
              <a:rPr sz="1250" b="0" i="0">
                <a:solidFill>
                  <a:srgbClr val="334155"/>
                </a:solidFill>
                <a:latin typeface="Calibri"/>
              </a:rPr>
              <a:t>Tạo lô, gắn hóa đơn, xem kết quả</a:t>
            </a:r>
          </a:p>
        </p:txBody>
      </p:sp>
      <p:sp>
        <p:nvSpPr>
          <p:cNvPr id="17" name="TextBox 16"/>
          <p:cNvSpPr txBox="1"/>
          <p:nvPr/>
        </p:nvSpPr>
        <p:spPr>
          <a:xfrm>
            <a:off x="5760720" y="2176272"/>
            <a:ext cx="2834640" cy="502920"/>
          </a:xfrm>
          <a:prstGeom prst="rect">
            <a:avLst/>
          </a:prstGeom>
          <a:noFill/>
        </p:spPr>
        <p:txBody>
          <a:bodyPr wrap="square" lIns="0" rIns="0" tIns="0" bIns="0" anchor="ctr">
            <a:noAutofit/>
          </a:bodyPr>
          <a:lstStyle/>
          <a:p>
            <a:pPr algn="l"/>
            <a:r>
              <a:rPr sz="1250" b="0" i="0">
                <a:solidFill>
                  <a:srgbClr val="334155"/>
                </a:solidFill>
                <a:latin typeface="Calibri"/>
              </a:rPr>
              <a:t>Chốt lô</a:t>
            </a:r>
          </a:p>
        </p:txBody>
      </p:sp>
      <p:sp>
        <p:nvSpPr>
          <p:cNvPr id="18" name="Rounded Rectangle 17"/>
          <p:cNvSpPr/>
          <p:nvPr/>
        </p:nvSpPr>
        <p:spPr>
          <a:xfrm>
            <a:off x="457200" y="2724912"/>
            <a:ext cx="8229600" cy="502920"/>
          </a:xfrm>
          <a:prstGeom prst="roundRect">
            <a:avLst>
              <a:gd name="adj" fmla="val 10000"/>
            </a:avLst>
          </a:prstGeom>
          <a:solidFill>
            <a:srgbClr val="F1F5F9"/>
          </a:solidFill>
          <a:ln>
            <a:noFill/>
          </a:ln>
        </p:spPr>
        <p:txBody>
          <a:bodyPr rtlCol="0" anchor="ctr" lIns="109728" rIns="109728" tIns="54864" bIns="54864"/>
          <a:lstStyle/>
          <a:p>
            <a:pPr algn="ctr"/>
          </a:p>
        </p:txBody>
      </p:sp>
      <p:sp>
        <p:nvSpPr>
          <p:cNvPr id="19" name="TextBox 18"/>
          <p:cNvSpPr txBox="1"/>
          <p:nvPr/>
        </p:nvSpPr>
        <p:spPr>
          <a:xfrm>
            <a:off x="594360" y="2724912"/>
            <a:ext cx="1508760" cy="502920"/>
          </a:xfrm>
          <a:prstGeom prst="rect">
            <a:avLst/>
          </a:prstGeom>
          <a:noFill/>
        </p:spPr>
        <p:txBody>
          <a:bodyPr wrap="square" lIns="0" rIns="0" tIns="0" bIns="0" anchor="ctr">
            <a:noAutofit/>
          </a:bodyPr>
          <a:lstStyle/>
          <a:p>
            <a:pPr algn="l"/>
            <a:r>
              <a:rPr sz="1250" b="1" i="0">
                <a:solidFill>
                  <a:srgbClr val="0F172A"/>
                </a:solidFill>
                <a:latin typeface="Calibri"/>
              </a:rPr>
              <a:t>Kế toán trưởng</a:t>
            </a:r>
          </a:p>
        </p:txBody>
      </p:sp>
      <p:sp>
        <p:nvSpPr>
          <p:cNvPr id="20" name="TextBox 19"/>
          <p:cNvSpPr txBox="1"/>
          <p:nvPr/>
        </p:nvSpPr>
        <p:spPr>
          <a:xfrm>
            <a:off x="2331720" y="2724912"/>
            <a:ext cx="3200400" cy="502920"/>
          </a:xfrm>
          <a:prstGeom prst="rect">
            <a:avLst/>
          </a:prstGeom>
          <a:noFill/>
        </p:spPr>
        <p:txBody>
          <a:bodyPr wrap="square" lIns="0" rIns="0" tIns="0" bIns="0" anchor="ctr">
            <a:noAutofit/>
          </a:bodyPr>
          <a:lstStyle/>
          <a:p>
            <a:pPr algn="l"/>
            <a:r>
              <a:rPr sz="1250" b="0" i="0">
                <a:solidFill>
                  <a:srgbClr val="334155"/>
                </a:solidFill>
                <a:latin typeface="Calibri"/>
              </a:rPr>
              <a:t>Duyệt ca dưới 200.000.000₫; chốt lô</a:t>
            </a:r>
          </a:p>
        </p:txBody>
      </p:sp>
      <p:sp>
        <p:nvSpPr>
          <p:cNvPr id="21" name="TextBox 20"/>
          <p:cNvSpPr txBox="1"/>
          <p:nvPr/>
        </p:nvSpPr>
        <p:spPr>
          <a:xfrm>
            <a:off x="5760720" y="2724912"/>
            <a:ext cx="2834640" cy="502920"/>
          </a:xfrm>
          <a:prstGeom prst="rect">
            <a:avLst/>
          </a:prstGeom>
          <a:noFill/>
        </p:spPr>
        <p:txBody>
          <a:bodyPr wrap="square" lIns="0" rIns="0" tIns="0" bIns="0" anchor="ctr">
            <a:noAutofit/>
          </a:bodyPr>
          <a:lstStyle/>
          <a:p>
            <a:pPr algn="l"/>
            <a:r>
              <a:rPr sz="1250" b="0" i="0">
                <a:solidFill>
                  <a:srgbClr val="334155"/>
                </a:solidFill>
                <a:latin typeface="Calibri"/>
              </a:rPr>
              <a:t>Chốt lô mình tạo; chốt lô có ca từ 200 triệu</a:t>
            </a:r>
          </a:p>
        </p:txBody>
      </p:sp>
      <p:sp>
        <p:nvSpPr>
          <p:cNvPr id="22" name="Rounded Rectangle 21"/>
          <p:cNvSpPr/>
          <p:nvPr/>
        </p:nvSpPr>
        <p:spPr>
          <a:xfrm>
            <a:off x="457200" y="3273552"/>
            <a:ext cx="8229600" cy="502920"/>
          </a:xfrm>
          <a:prstGeom prst="roundRect">
            <a:avLst>
              <a:gd name="adj" fmla="val 10000"/>
            </a:avLst>
          </a:prstGeom>
          <a:solidFill>
            <a:srgbClr val="FFFFFF"/>
          </a:solidFill>
          <a:ln>
            <a:noFill/>
          </a:ln>
        </p:spPr>
        <p:txBody>
          <a:bodyPr rtlCol="0" anchor="ctr" lIns="109728" rIns="109728" tIns="54864" bIns="54864"/>
          <a:lstStyle/>
          <a:p>
            <a:pPr algn="ctr"/>
          </a:p>
        </p:txBody>
      </p:sp>
      <p:sp>
        <p:nvSpPr>
          <p:cNvPr id="23" name="TextBox 22"/>
          <p:cNvSpPr txBox="1"/>
          <p:nvPr/>
        </p:nvSpPr>
        <p:spPr>
          <a:xfrm>
            <a:off x="594360" y="3273552"/>
            <a:ext cx="1508760" cy="502920"/>
          </a:xfrm>
          <a:prstGeom prst="rect">
            <a:avLst/>
          </a:prstGeom>
          <a:noFill/>
        </p:spPr>
        <p:txBody>
          <a:bodyPr wrap="square" lIns="0" rIns="0" tIns="0" bIns="0" anchor="ctr">
            <a:noAutofit/>
          </a:bodyPr>
          <a:lstStyle/>
          <a:p>
            <a:pPr algn="l"/>
            <a:r>
              <a:rPr sz="1250" b="1" i="0">
                <a:solidFill>
                  <a:srgbClr val="0F172A"/>
                </a:solidFill>
                <a:latin typeface="Calibri"/>
              </a:rPr>
              <a:t>CFO</a:t>
            </a:r>
          </a:p>
        </p:txBody>
      </p:sp>
      <p:sp>
        <p:nvSpPr>
          <p:cNvPr id="24" name="TextBox 23"/>
          <p:cNvSpPr txBox="1"/>
          <p:nvPr/>
        </p:nvSpPr>
        <p:spPr>
          <a:xfrm>
            <a:off x="2331720" y="3273552"/>
            <a:ext cx="3200400" cy="502920"/>
          </a:xfrm>
          <a:prstGeom prst="rect">
            <a:avLst/>
          </a:prstGeom>
          <a:noFill/>
        </p:spPr>
        <p:txBody>
          <a:bodyPr wrap="square" lIns="0" rIns="0" tIns="0" bIns="0" anchor="ctr">
            <a:noAutofit/>
          </a:bodyPr>
          <a:lstStyle/>
          <a:p>
            <a:pPr algn="l"/>
            <a:r>
              <a:rPr sz="1250" b="0" i="0">
                <a:solidFill>
                  <a:srgbClr val="334155"/>
                </a:solidFill>
                <a:latin typeface="Calibri"/>
              </a:rPr>
              <a:t>Duyệt ca từ 200.000.000₫, chốt lô lớn</a:t>
            </a:r>
          </a:p>
        </p:txBody>
      </p:sp>
      <p:sp>
        <p:nvSpPr>
          <p:cNvPr id="25" name="TextBox 24"/>
          <p:cNvSpPr txBox="1"/>
          <p:nvPr/>
        </p:nvSpPr>
        <p:spPr>
          <a:xfrm>
            <a:off x="5760720" y="3273552"/>
            <a:ext cx="2834640" cy="502920"/>
          </a:xfrm>
          <a:prstGeom prst="rect">
            <a:avLst/>
          </a:prstGeom>
          <a:noFill/>
        </p:spPr>
        <p:txBody>
          <a:bodyPr wrap="square" lIns="0" rIns="0" tIns="0" bIns="0" anchor="ctr">
            <a:noAutofit/>
          </a:bodyPr>
          <a:lstStyle/>
          <a:p>
            <a:pPr algn="l"/>
            <a:r>
              <a:rPr sz="1250" b="0" i="0">
                <a:solidFill>
                  <a:srgbClr val="334155"/>
                </a:solidFill>
                <a:latin typeface="Calibri"/>
              </a:rPr>
              <a:t>Chốt lô mình tạo</a:t>
            </a:r>
          </a:p>
        </p:txBody>
      </p:sp>
      <p:sp>
        <p:nvSpPr>
          <p:cNvPr id="26" name="Rounded Rectangle 25"/>
          <p:cNvSpPr/>
          <p:nvPr/>
        </p:nvSpPr>
        <p:spPr>
          <a:xfrm>
            <a:off x="457200" y="3931920"/>
            <a:ext cx="8229600" cy="548640"/>
          </a:xfrm>
          <a:prstGeom prst="roundRect">
            <a:avLst>
              <a:gd name="adj" fmla="val 8000"/>
            </a:avLst>
          </a:prstGeom>
          <a:solidFill>
            <a:srgbClr val="ECFCCB"/>
          </a:solidFill>
          <a:ln>
            <a:noFill/>
          </a:ln>
        </p:spPr>
        <p:txBody>
          <a:bodyPr rtlCol="0" anchor="ctr" lIns="228600" rIns="228600" tIns="54864" bIns="54864" wrap="square">
            <a:noAutofit/>
          </a:bodyPr>
          <a:lstStyle/>
          <a:p>
            <a:pPr algn="ctr"/>
            <a:r>
              <a:rPr sz="1500" b="1" i="0">
                <a:solidFill>
                  <a:srgbClr val="0F172A"/>
                </a:solidFill>
                <a:latin typeface="Calibri"/>
              </a:rPr>
              <a:t>Chưa có chữ ký chốt lô của Kế toán trưởng hoặc CFO thì chưa có gì vào sổ.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MỚI TRONG VÒNG NÀY · NGƯỜI GỬI</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Biết ai gửi, theo dõi hóa đơn của từng người</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8</a:t>
            </a:r>
          </a:p>
        </p:txBody>
      </p:sp>
      <p:sp>
        <p:nvSpPr>
          <p:cNvPr id="6" name="Rounded Rectangle 5"/>
          <p:cNvSpPr/>
          <p:nvPr/>
        </p:nvSpPr>
        <p:spPr>
          <a:xfrm>
            <a:off x="457200" y="1371600"/>
            <a:ext cx="1188720" cy="347472"/>
          </a:xfrm>
          <a:prstGeom prst="roundRect">
            <a:avLst>
              <a:gd name="adj" fmla="val 8000"/>
            </a:avLst>
          </a:prstGeom>
          <a:solidFill>
            <a:srgbClr val="ECFCCB"/>
          </a:solidFill>
          <a:ln>
            <a:noFill/>
          </a:ln>
        </p:spPr>
        <p:txBody>
          <a:bodyPr rtlCol="0" anchor="ctr" lIns="27432" rIns="27432" tIns="27432" bIns="27432" wrap="square">
            <a:noAutofit/>
          </a:bodyPr>
          <a:lstStyle/>
          <a:p>
            <a:pPr algn="ctr"/>
            <a:r>
              <a:rPr sz="1200" b="1" i="0">
                <a:solidFill>
                  <a:srgbClr val="4D7C0F"/>
                </a:solidFill>
                <a:latin typeface="Calibri"/>
              </a:rPr>
              <a:t>Nhân viên</a:t>
            </a:r>
          </a:p>
        </p:txBody>
      </p:sp>
      <p:sp>
        <p:nvSpPr>
          <p:cNvPr id="7" name="TextBox 6"/>
          <p:cNvSpPr txBox="1"/>
          <p:nvPr/>
        </p:nvSpPr>
        <p:spPr>
          <a:xfrm>
            <a:off x="1783080" y="1280160"/>
            <a:ext cx="2606040" cy="548640"/>
          </a:xfrm>
          <a:prstGeom prst="rect">
            <a:avLst/>
          </a:prstGeom>
          <a:noFill/>
        </p:spPr>
        <p:txBody>
          <a:bodyPr wrap="square" lIns="0" rIns="0" tIns="0" bIns="0" anchor="ctr">
            <a:noAutofit/>
          </a:bodyPr>
          <a:lstStyle/>
          <a:p>
            <a:pPr algn="l"/>
            <a:r>
              <a:rPr sz="1250" b="0" i="0">
                <a:solidFill>
                  <a:srgbClr val="334155"/>
                </a:solidFill>
                <a:latin typeface="Calibri"/>
              </a:rPr>
              <a:t>Email trong danh bạ và qua SPF/DKIM, hoặc Zalo khớp danh bạ.</a:t>
            </a:r>
          </a:p>
        </p:txBody>
      </p:sp>
      <p:sp>
        <p:nvSpPr>
          <p:cNvPr id="8" name="Rounded Rectangle 7"/>
          <p:cNvSpPr/>
          <p:nvPr/>
        </p:nvSpPr>
        <p:spPr>
          <a:xfrm>
            <a:off x="457200" y="2084831"/>
            <a:ext cx="1188720" cy="347472"/>
          </a:xfrm>
          <a:prstGeom prst="roundRect">
            <a:avLst>
              <a:gd name="adj" fmla="val 8000"/>
            </a:avLst>
          </a:prstGeom>
          <a:solidFill>
            <a:srgbClr val="FFE4E6"/>
          </a:solidFill>
          <a:ln>
            <a:noFill/>
          </a:ln>
        </p:spPr>
        <p:txBody>
          <a:bodyPr rtlCol="0" anchor="ctr" lIns="27432" rIns="27432" tIns="27432" bIns="27432" wrap="square">
            <a:noAutofit/>
          </a:bodyPr>
          <a:lstStyle/>
          <a:p>
            <a:pPr algn="ctr"/>
            <a:r>
              <a:rPr sz="1200" b="1" i="0">
                <a:solidFill>
                  <a:srgbClr val="BE123C"/>
                </a:solidFill>
                <a:latin typeface="Calibri"/>
              </a:rPr>
              <a:t>Nghi giả mạo</a:t>
            </a:r>
          </a:p>
        </p:txBody>
      </p:sp>
      <p:sp>
        <p:nvSpPr>
          <p:cNvPr id="9" name="TextBox 8"/>
          <p:cNvSpPr txBox="1"/>
          <p:nvPr/>
        </p:nvSpPr>
        <p:spPr>
          <a:xfrm>
            <a:off x="1783080" y="1993391"/>
            <a:ext cx="2606040" cy="548640"/>
          </a:xfrm>
          <a:prstGeom prst="rect">
            <a:avLst/>
          </a:prstGeom>
          <a:noFill/>
        </p:spPr>
        <p:txBody>
          <a:bodyPr wrap="square" lIns="0" rIns="0" tIns="0" bIns="0" anchor="ctr">
            <a:noAutofit/>
          </a:bodyPr>
          <a:lstStyle/>
          <a:p>
            <a:pPr algn="l"/>
            <a:r>
              <a:rPr sz="1250" b="0" i="0">
                <a:solidFill>
                  <a:srgbClr val="334155"/>
                </a:solidFill>
                <a:latin typeface="Calibri"/>
              </a:rPr>
              <a:t>Trùng địa chỉ nhân viên nhưng không qua xác thực.</a:t>
            </a:r>
          </a:p>
        </p:txBody>
      </p:sp>
      <p:sp>
        <p:nvSpPr>
          <p:cNvPr id="10" name="Rounded Rectangle 9"/>
          <p:cNvSpPr/>
          <p:nvPr/>
        </p:nvSpPr>
        <p:spPr>
          <a:xfrm>
            <a:off x="457200" y="2798064"/>
            <a:ext cx="1188720" cy="347472"/>
          </a:xfrm>
          <a:prstGeom prst="roundRect">
            <a:avLst>
              <a:gd name="adj" fmla="val 8000"/>
            </a:avLst>
          </a:prstGeom>
          <a:solidFill>
            <a:srgbClr val="FEF3C7"/>
          </a:solidFill>
          <a:ln>
            <a:noFill/>
          </a:ln>
        </p:spPr>
        <p:txBody>
          <a:bodyPr rtlCol="0" anchor="ctr" lIns="27432" rIns="27432" tIns="27432" bIns="27432" wrap="square">
            <a:noAutofit/>
          </a:bodyPr>
          <a:lstStyle/>
          <a:p>
            <a:pPr algn="ctr"/>
            <a:r>
              <a:rPr sz="1200" b="1" i="0">
                <a:solidFill>
                  <a:srgbClr val="B45309"/>
                </a:solidFill>
                <a:latin typeface="Calibri"/>
              </a:rPr>
              <a:t>Chờ xác nhận</a:t>
            </a:r>
          </a:p>
        </p:txBody>
      </p:sp>
      <p:sp>
        <p:nvSpPr>
          <p:cNvPr id="11" name="TextBox 10"/>
          <p:cNvSpPr txBox="1"/>
          <p:nvPr/>
        </p:nvSpPr>
        <p:spPr>
          <a:xfrm>
            <a:off x="1783080" y="2706624"/>
            <a:ext cx="2606040" cy="548640"/>
          </a:xfrm>
          <a:prstGeom prst="rect">
            <a:avLst/>
          </a:prstGeom>
          <a:noFill/>
        </p:spPr>
        <p:txBody>
          <a:bodyPr wrap="square" lIns="0" rIns="0" tIns="0" bIns="0" anchor="ctr">
            <a:noAutofit/>
          </a:bodyPr>
          <a:lstStyle/>
          <a:p>
            <a:pPr algn="l"/>
            <a:r>
              <a:rPr sz="1250" b="0" i="0">
                <a:solidFill>
                  <a:srgbClr val="334155"/>
                </a:solidFill>
                <a:latin typeface="Calibri"/>
              </a:rPr>
              <a:t>Ngoài danh bạ. Kế toán xác nhận rồi mới xử lý.</a:t>
            </a:r>
          </a:p>
        </p:txBody>
      </p:sp>
      <p:sp>
        <p:nvSpPr>
          <p:cNvPr id="12" name="TextBox 11"/>
          <p:cNvSpPr txBox="1"/>
          <p:nvPr/>
        </p:nvSpPr>
        <p:spPr>
          <a:xfrm>
            <a:off x="457200" y="3520440"/>
            <a:ext cx="3931920" cy="914400"/>
          </a:xfrm>
          <a:prstGeom prst="rect">
            <a:avLst/>
          </a:prstGeom>
          <a:noFill/>
        </p:spPr>
        <p:txBody>
          <a:bodyPr wrap="square" lIns="0" rIns="0" tIns="0" bIns="0" anchor="t">
            <a:noAutofit/>
          </a:bodyPr>
          <a:lstStyle/>
          <a:p>
            <a:pPr algn="l">
              <a:spcAft>
                <a:spcPts val="400"/>
              </a:spcAft>
            </a:pPr>
            <a:r>
              <a:rPr sz="1300" b="0" i="0">
                <a:solidFill>
                  <a:srgbClr val="334155"/>
                </a:solidFill>
                <a:latin typeface="Calibri"/>
              </a:rPr>
              <a:t>Máy báo Kế toán trưởng, trả lời người gửi qua Zalo hoặc Gmail.</a:t>
            </a:r>
          </a:p>
          <a:p>
            <a:pPr algn="l"/>
            <a:r>
              <a:rPr sz="1300" b="1" i="0">
                <a:solidFill>
                  <a:srgbClr val="0F172A"/>
                </a:solidFill>
                <a:latin typeface="Calibri"/>
              </a:rPr>
              <a:t>Ai cũng có trang “Lịch sử của tôi”.</a:t>
            </a:r>
          </a:p>
        </p:txBody>
      </p:sp>
      <p:pic>
        <p:nvPicPr>
          <p:cNvPr id="13" name="Ảnh màn hình channels" descr="channels.png"/>
          <p:cNvPicPr>
            <a:picLocks noChangeAspect="1"/>
          </p:cNvPicPr>
          <p:nvPr/>
        </p:nvPicPr>
        <p:blipFill>
          <a:blip r:embed="rId3"/>
          <a:stretch>
            <a:fillRect/>
          </a:stretch>
        </p:blipFill>
        <p:spPr>
          <a:xfrm>
            <a:off x="5921930" y="1234440"/>
            <a:ext cx="2764869" cy="1554480"/>
          </a:xfrm>
          <a:prstGeom prst="rect">
            <a:avLst/>
          </a:prstGeom>
          <a:ln w="9525">
            <a:solidFill>
              <a:srgbClr val="CBD5E1"/>
            </a:solidFill>
          </a:ln>
        </p:spPr>
      </p:pic>
      <p:pic>
        <p:nvPicPr>
          <p:cNvPr id="14" name="Ảnh màn hình history" descr="history.png"/>
          <p:cNvPicPr>
            <a:picLocks noChangeAspect="1"/>
          </p:cNvPicPr>
          <p:nvPr/>
        </p:nvPicPr>
        <p:blipFill>
          <a:blip r:embed="rId4"/>
          <a:stretch>
            <a:fillRect/>
          </a:stretch>
        </p:blipFill>
        <p:spPr>
          <a:xfrm>
            <a:off x="5921930" y="2926080"/>
            <a:ext cx="2764869" cy="1554480"/>
          </a:xfrm>
          <a:prstGeom prst="rect">
            <a:avLst/>
          </a:prstGeom>
          <a:ln w="9525">
            <a:solidFill>
              <a:srgbClr val="CBD5E1"/>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MỚI TRONG VÒNG NÀY · CHO SẾP</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Tổng quan cho Kế toán trưởng và CFO</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9</a:t>
            </a:r>
          </a:p>
        </p:txBody>
      </p:sp>
      <p:sp>
        <p:nvSpPr>
          <p:cNvPr id="6" name="TextBox 5"/>
          <p:cNvSpPr txBox="1"/>
          <p:nvPr/>
        </p:nvSpPr>
        <p:spPr>
          <a:xfrm>
            <a:off x="457200" y="1325880"/>
            <a:ext cx="3108960" cy="3108960"/>
          </a:xfrm>
          <a:prstGeom prst="rect">
            <a:avLst/>
          </a:prstGeom>
          <a:noFill/>
        </p:spPr>
        <p:txBody>
          <a:bodyPr wrap="square" lIns="0" rIns="0" tIns="0" bIns="0" anchor="t">
            <a:noAutofit/>
          </a:bodyPr>
          <a:lstStyle/>
          <a:p>
            <a:pPr algn="l" marL="182880" indent="-182880">
              <a:spcAft>
                <a:spcPts val="1200"/>
              </a:spcAft>
              <a:buClr>
                <a:srgbClr val="4D7C0F"/>
              </a:buClr>
              <a:buFont typeface="Arial"/>
              <a:buChar char="•"/>
            </a:pPr>
            <a:r>
              <a:rPr sz="1400" b="0" i="0">
                <a:solidFill>
                  <a:srgbClr val="334155"/>
                </a:solidFill>
                <a:latin typeface="Calibri"/>
              </a:rPr>
              <a:t>% máy tự xử lý, người duyệt, từ chối</a:t>
            </a:r>
          </a:p>
          <a:p>
            <a:pPr algn="l" marL="182880" indent="-182880">
              <a:spcAft>
                <a:spcPts val="1200"/>
              </a:spcAft>
              <a:buClr>
                <a:srgbClr val="4D7C0F"/>
              </a:buClr>
              <a:buFont typeface="Arial"/>
              <a:buChar char="•"/>
            </a:pPr>
            <a:r>
              <a:rPr sz="1400" b="0" i="0">
                <a:solidFill>
                  <a:srgbClr val="334155"/>
                </a:solidFill>
                <a:latin typeface="Calibri"/>
              </a:rPr>
              <a:t>VAT đã khấu trừ và VAT đang chờ</a:t>
            </a:r>
          </a:p>
          <a:p>
            <a:pPr algn="l" marL="182880" indent="-182880">
              <a:spcAft>
                <a:spcPts val="1200"/>
              </a:spcAft>
              <a:buClr>
                <a:srgbClr val="4D7C0F"/>
              </a:buClr>
              <a:buFont typeface="Arial"/>
              <a:buChar char="•"/>
            </a:pPr>
            <a:r>
              <a:rPr sz="1400" b="0" i="0">
                <a:solidFill>
                  <a:srgbClr val="334155"/>
                </a:solidFill>
                <a:latin typeface="Calibri"/>
              </a:rPr>
              <a:t>Lý do dừng hay gặp nhất</a:t>
            </a:r>
          </a:p>
          <a:p>
            <a:pPr algn="l" marL="182880" indent="-182880">
              <a:spcAft>
                <a:spcPts val="1200"/>
              </a:spcAft>
              <a:buClr>
                <a:srgbClr val="4D7C0F"/>
              </a:buClr>
              <a:buFont typeface="Arial"/>
              <a:buChar char="•"/>
            </a:pPr>
            <a:r>
              <a:rPr sz="1400" b="0" i="0">
                <a:solidFill>
                  <a:srgbClr val="334155"/>
                </a:solidFill>
                <a:latin typeface="Calibri"/>
              </a:rPr>
              <a:t>Câu hỏi được trả lời sau bao lâu</a:t>
            </a:r>
          </a:p>
          <a:p>
            <a:pPr algn="l" marL="182880" indent="-182880">
              <a:spcAft>
                <a:spcPts val="1200"/>
              </a:spcAft>
              <a:buClr>
                <a:srgbClr val="4D7C0F"/>
              </a:buClr>
              <a:buFont typeface="Arial"/>
              <a:buChar char="•"/>
            </a:pPr>
            <a:r>
              <a:rPr sz="1400" b="0" i="0">
                <a:solidFill>
                  <a:srgbClr val="334155"/>
                </a:solidFill>
                <a:latin typeface="Calibri"/>
              </a:rPr>
              <a:t>Theo kênh, theo người gửi</a:t>
            </a:r>
          </a:p>
        </p:txBody>
      </p:sp>
      <p:pic>
        <p:nvPicPr>
          <p:cNvPr id="7" name="Ảnh màn hình dashboard" descr="dashboard.png"/>
          <p:cNvPicPr>
            <a:picLocks noChangeAspect="1"/>
          </p:cNvPicPr>
          <p:nvPr/>
        </p:nvPicPr>
        <p:blipFill>
          <a:blip r:embed="rId3"/>
          <a:stretch>
            <a:fillRect/>
          </a:stretch>
        </p:blipFill>
        <p:spPr>
          <a:xfrm>
            <a:off x="3840480" y="1188720"/>
            <a:ext cx="4846320" cy="2724724"/>
          </a:xfrm>
          <a:prstGeom prst="rect">
            <a:avLst/>
          </a:prstGeom>
          <a:ln w="9525">
            <a:solidFill>
              <a:srgbClr val="CBD5E1"/>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CÂU HỎI 1 · BẢO MẬT HỆ CÓ AGENT AI TRONG DOANH NGHIỆP</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Máy đọc có thể bị lừa, trọng tài thì không</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10</a:t>
            </a:r>
          </a:p>
        </p:txBody>
      </p:sp>
      <p:sp>
        <p:nvSpPr>
          <p:cNvPr id="6" name="Rounded Rectangle 5"/>
          <p:cNvSpPr/>
          <p:nvPr/>
        </p:nvSpPr>
        <p:spPr>
          <a:xfrm>
            <a:off x="457200" y="1188720"/>
            <a:ext cx="4023360" cy="15727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7" name="Oval 6"/>
          <p:cNvSpPr/>
          <p:nvPr/>
        </p:nvSpPr>
        <p:spPr>
          <a:xfrm>
            <a:off x="594360" y="1307592"/>
            <a:ext cx="310896" cy="310896"/>
          </a:xfrm>
          <a:prstGeom prst="ellipse">
            <a:avLst/>
          </a:prstGeom>
          <a:solidFill>
            <a:srgbClr val="0F172A"/>
          </a:solidFill>
          <a:ln>
            <a:noFill/>
          </a:ln>
        </p:spPr>
        <p:txBody>
          <a:bodyPr rtlCol="0" anchor="ctr" lIns="0" rIns="0" tIns="0" bIns="0" wrap="square">
            <a:noAutofit/>
          </a:bodyPr>
          <a:lstStyle/>
          <a:p>
            <a:pPr algn="ctr"/>
            <a:r>
              <a:rPr sz="1100" b="1" i="0">
                <a:solidFill>
                  <a:srgbClr val="FFFFFF"/>
                </a:solidFill>
                <a:latin typeface="Calibri"/>
              </a:rPr>
              <a:t>1</a:t>
            </a:r>
          </a:p>
        </p:txBody>
      </p:sp>
      <p:sp>
        <p:nvSpPr>
          <p:cNvPr id="8" name="TextBox 7"/>
          <p:cNvSpPr txBox="1"/>
          <p:nvPr/>
        </p:nvSpPr>
        <p:spPr>
          <a:xfrm>
            <a:off x="1005840" y="1280160"/>
            <a:ext cx="3383280" cy="365760"/>
          </a:xfrm>
          <a:prstGeom prst="rect">
            <a:avLst/>
          </a:prstGeom>
          <a:noFill/>
        </p:spPr>
        <p:txBody>
          <a:bodyPr wrap="square" lIns="0" rIns="0" tIns="0" bIns="0" anchor="ctr">
            <a:noAutofit/>
          </a:bodyPr>
          <a:lstStyle/>
          <a:p>
            <a:pPr algn="l"/>
            <a:r>
              <a:rPr sz="1400" b="1" i="0">
                <a:solidFill>
                  <a:srgbClr val="0F172A"/>
                </a:solidFill>
                <a:latin typeface="Calibri"/>
              </a:rPr>
              <a:t>Định danh</a:t>
            </a:r>
          </a:p>
        </p:txBody>
      </p:sp>
      <p:sp>
        <p:nvSpPr>
          <p:cNvPr id="9" name="TextBox 8"/>
          <p:cNvSpPr txBox="1"/>
          <p:nvPr/>
        </p:nvSpPr>
        <p:spPr>
          <a:xfrm>
            <a:off x="640080" y="1691640"/>
            <a:ext cx="3703320" cy="1024128"/>
          </a:xfrm>
          <a:prstGeom prst="rect">
            <a:avLst/>
          </a:prstGeom>
          <a:noFill/>
        </p:spPr>
        <p:txBody>
          <a:bodyPr wrap="square" lIns="0" rIns="0" tIns="0" bIns="0" anchor="t">
            <a:noAutofit/>
          </a:bodyPr>
          <a:lstStyle/>
          <a:p>
            <a:pPr algn="l">
              <a:spcAft>
                <a:spcPts val="200"/>
              </a:spcAft>
            </a:pPr>
            <a:r>
              <a:rPr sz="1050" b="1" i="0">
                <a:solidFill>
                  <a:srgbClr val="0F172A"/>
                </a:solidFill>
                <a:latin typeface="Calibri"/>
              </a:rPr>
              <a:t>Cơ chế: </a:t>
            </a:r>
            <a:r>
              <a:rPr sz="1050" b="0" i="0">
                <a:solidFill>
                  <a:srgbClr val="334155"/>
                </a:solidFill>
                <a:latin typeface="Calibri"/>
              </a:rPr>
              <a:t>Máy tự duyệt ghi tên SYSTEM_REFEREE kèm hash policy, hash dữ liệu. Email chỉ là nhân viên khi qua SPF/DKIM.</a:t>
            </a:r>
          </a:p>
          <a:p>
            <a:pPr algn="l">
              <a:spcAft>
                <a:spcPts val="200"/>
              </a:spcAft>
            </a:pPr>
            <a:r>
              <a:rPr sz="1050" b="1" i="0">
                <a:solidFill>
                  <a:srgbClr val="4D7C0F"/>
                </a:solidFill>
                <a:latin typeface="Calibri"/>
              </a:rPr>
              <a:t>Bằng chứng: </a:t>
            </a:r>
            <a:r>
              <a:rPr sz="1050" b="0" i="0">
                <a:solidFill>
                  <a:srgbClr val="334155"/>
                </a:solidFill>
                <a:latin typeface="Calibri"/>
              </a:rPr>
              <a:t>phép thử I1, I2</a:t>
            </a:r>
          </a:p>
          <a:p>
            <a:pPr algn="l"/>
            <a:r>
              <a:rPr sz="1050" b="1" i="0">
                <a:solidFill>
                  <a:srgbClr val="B45309"/>
                </a:solidFill>
                <a:latin typeface="Calibri"/>
              </a:rPr>
              <a:t>Giới hạn: </a:t>
            </a:r>
            <a:r>
              <a:rPr sz="1050" b="0" i="0">
                <a:solidFill>
                  <a:srgbClr val="334155"/>
                </a:solidFill>
                <a:latin typeface="Calibri"/>
              </a:rPr>
              <a:t>vai trò trong demo là mô phỏng; production cần SSO, MFA cho CFO.</a:t>
            </a:r>
          </a:p>
        </p:txBody>
      </p:sp>
      <p:sp>
        <p:nvSpPr>
          <p:cNvPr id="10" name="Rounded Rectangle 9"/>
          <p:cNvSpPr/>
          <p:nvPr/>
        </p:nvSpPr>
        <p:spPr>
          <a:xfrm>
            <a:off x="4663440" y="1188720"/>
            <a:ext cx="4023360" cy="15727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1" name="Oval 10"/>
          <p:cNvSpPr/>
          <p:nvPr/>
        </p:nvSpPr>
        <p:spPr>
          <a:xfrm>
            <a:off x="4800600" y="1307592"/>
            <a:ext cx="310896" cy="310896"/>
          </a:xfrm>
          <a:prstGeom prst="ellipse">
            <a:avLst/>
          </a:prstGeom>
          <a:solidFill>
            <a:srgbClr val="0F172A"/>
          </a:solidFill>
          <a:ln>
            <a:noFill/>
          </a:ln>
        </p:spPr>
        <p:txBody>
          <a:bodyPr rtlCol="0" anchor="ctr" lIns="0" rIns="0" tIns="0" bIns="0" wrap="square">
            <a:noAutofit/>
          </a:bodyPr>
          <a:lstStyle/>
          <a:p>
            <a:pPr algn="ctr"/>
            <a:r>
              <a:rPr sz="1100" b="1" i="0">
                <a:solidFill>
                  <a:srgbClr val="FFFFFF"/>
                </a:solidFill>
                <a:latin typeface="Calibri"/>
              </a:rPr>
              <a:t>2</a:t>
            </a:r>
          </a:p>
        </p:txBody>
      </p:sp>
      <p:sp>
        <p:nvSpPr>
          <p:cNvPr id="12" name="TextBox 11"/>
          <p:cNvSpPr txBox="1"/>
          <p:nvPr/>
        </p:nvSpPr>
        <p:spPr>
          <a:xfrm>
            <a:off x="5212079" y="1280160"/>
            <a:ext cx="3383280" cy="365760"/>
          </a:xfrm>
          <a:prstGeom prst="rect">
            <a:avLst/>
          </a:prstGeom>
          <a:noFill/>
        </p:spPr>
        <p:txBody>
          <a:bodyPr wrap="square" lIns="0" rIns="0" tIns="0" bIns="0" anchor="ctr">
            <a:noAutofit/>
          </a:bodyPr>
          <a:lstStyle/>
          <a:p>
            <a:pPr algn="l"/>
            <a:r>
              <a:rPr sz="1400" b="1" i="0">
                <a:solidFill>
                  <a:srgbClr val="0F172A"/>
                </a:solidFill>
                <a:latin typeface="Calibri"/>
              </a:rPr>
              <a:t>Đặc quyền tối thiểu</a:t>
            </a:r>
          </a:p>
        </p:txBody>
      </p:sp>
      <p:sp>
        <p:nvSpPr>
          <p:cNvPr id="13" name="TextBox 12"/>
          <p:cNvSpPr txBox="1"/>
          <p:nvPr/>
        </p:nvSpPr>
        <p:spPr>
          <a:xfrm>
            <a:off x="4846320" y="1691640"/>
            <a:ext cx="3703320" cy="1024128"/>
          </a:xfrm>
          <a:prstGeom prst="rect">
            <a:avLst/>
          </a:prstGeom>
          <a:noFill/>
        </p:spPr>
        <p:txBody>
          <a:bodyPr wrap="square" lIns="0" rIns="0" tIns="0" bIns="0" anchor="t">
            <a:noAutofit/>
          </a:bodyPr>
          <a:lstStyle/>
          <a:p>
            <a:pPr algn="l">
              <a:spcAft>
                <a:spcPts val="200"/>
              </a:spcAft>
            </a:pPr>
            <a:r>
              <a:rPr sz="1050" b="1" i="0">
                <a:solidFill>
                  <a:srgbClr val="0F172A"/>
                </a:solidFill>
                <a:latin typeface="Calibri"/>
              </a:rPr>
              <a:t>Cơ chế: </a:t>
            </a:r>
            <a:r>
              <a:rPr sz="1050" b="0" i="0">
                <a:solidFill>
                  <a:srgbClr val="334155"/>
                </a:solidFill>
                <a:latin typeface="Calibri"/>
              </a:rPr>
              <a:t>Quyền kiểm ở server. KTT hạ ca 330 triệu xuống 198 triệu vẫn phải chờ CFO. Người tạo lô không tự chốt.</a:t>
            </a:r>
          </a:p>
          <a:p>
            <a:pPr algn="l">
              <a:spcAft>
                <a:spcPts val="200"/>
              </a:spcAft>
            </a:pPr>
            <a:r>
              <a:rPr sz="1050" b="1" i="0">
                <a:solidFill>
                  <a:srgbClr val="4D7C0F"/>
                </a:solidFill>
                <a:latin typeface="Calibri"/>
              </a:rPr>
              <a:t>Bằng chứng: </a:t>
            </a:r>
            <a:r>
              <a:rPr sz="1050" b="0" i="0">
                <a:solidFill>
                  <a:srgbClr val="334155"/>
                </a:solidFill>
                <a:latin typeface="Calibri"/>
              </a:rPr>
              <a:t>L1, L2, L3</a:t>
            </a:r>
          </a:p>
          <a:p>
            <a:pPr algn="l"/>
            <a:r>
              <a:rPr sz="1050" b="1" i="0">
                <a:solidFill>
                  <a:srgbClr val="B45309"/>
                </a:solidFill>
                <a:latin typeface="Calibri"/>
              </a:rPr>
              <a:t>Giới hạn: </a:t>
            </a:r>
            <a:r>
              <a:rPr sz="1050" b="0" i="0">
                <a:solidFill>
                  <a:srgbClr val="334155"/>
                </a:solidFill>
                <a:latin typeface="Calibri"/>
              </a:rPr>
              <a:t>“đã có ủy nhiệm chi” vẫn do kế toán khai; bù bằng hậu kiểm.</a:t>
            </a:r>
          </a:p>
        </p:txBody>
      </p:sp>
      <p:sp>
        <p:nvSpPr>
          <p:cNvPr id="14" name="Rounded Rectangle 13"/>
          <p:cNvSpPr/>
          <p:nvPr/>
        </p:nvSpPr>
        <p:spPr>
          <a:xfrm>
            <a:off x="457200" y="2880360"/>
            <a:ext cx="4023360" cy="15727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5" name="Oval 14"/>
          <p:cNvSpPr/>
          <p:nvPr/>
        </p:nvSpPr>
        <p:spPr>
          <a:xfrm>
            <a:off x="594360" y="2999232"/>
            <a:ext cx="310896" cy="310896"/>
          </a:xfrm>
          <a:prstGeom prst="ellipse">
            <a:avLst/>
          </a:prstGeom>
          <a:solidFill>
            <a:srgbClr val="0F172A"/>
          </a:solidFill>
          <a:ln>
            <a:noFill/>
          </a:ln>
        </p:spPr>
        <p:txBody>
          <a:bodyPr rtlCol="0" anchor="ctr" lIns="0" rIns="0" tIns="0" bIns="0" wrap="square">
            <a:noAutofit/>
          </a:bodyPr>
          <a:lstStyle/>
          <a:p>
            <a:pPr algn="ctr"/>
            <a:r>
              <a:rPr sz="1100" b="1" i="0">
                <a:solidFill>
                  <a:srgbClr val="FFFFFF"/>
                </a:solidFill>
                <a:latin typeface="Calibri"/>
              </a:rPr>
              <a:t>3</a:t>
            </a:r>
          </a:p>
        </p:txBody>
      </p:sp>
      <p:sp>
        <p:nvSpPr>
          <p:cNvPr id="16" name="TextBox 15"/>
          <p:cNvSpPr txBox="1"/>
          <p:nvPr/>
        </p:nvSpPr>
        <p:spPr>
          <a:xfrm>
            <a:off x="1005840" y="2971800"/>
            <a:ext cx="3383280" cy="365760"/>
          </a:xfrm>
          <a:prstGeom prst="rect">
            <a:avLst/>
          </a:prstGeom>
          <a:noFill/>
        </p:spPr>
        <p:txBody>
          <a:bodyPr wrap="square" lIns="0" rIns="0" tIns="0" bIns="0" anchor="ctr">
            <a:noAutofit/>
          </a:bodyPr>
          <a:lstStyle/>
          <a:p>
            <a:pPr algn="l"/>
            <a:r>
              <a:rPr sz="1400" b="1" i="0">
                <a:solidFill>
                  <a:srgbClr val="0F172A"/>
                </a:solidFill>
                <a:latin typeface="Calibri"/>
              </a:rPr>
              <a:t>Ranh giới thực thi tất định</a:t>
            </a:r>
          </a:p>
        </p:txBody>
      </p:sp>
      <p:sp>
        <p:nvSpPr>
          <p:cNvPr id="17" name="TextBox 16"/>
          <p:cNvSpPr txBox="1"/>
          <p:nvPr/>
        </p:nvSpPr>
        <p:spPr>
          <a:xfrm>
            <a:off x="640080" y="3383280"/>
            <a:ext cx="3703320" cy="1024128"/>
          </a:xfrm>
          <a:prstGeom prst="rect">
            <a:avLst/>
          </a:prstGeom>
          <a:noFill/>
        </p:spPr>
        <p:txBody>
          <a:bodyPr wrap="square" lIns="0" rIns="0" tIns="0" bIns="0" anchor="t">
            <a:noAutofit/>
          </a:bodyPr>
          <a:lstStyle/>
          <a:p>
            <a:pPr algn="l">
              <a:spcAft>
                <a:spcPts val="200"/>
              </a:spcAft>
            </a:pPr>
            <a:r>
              <a:rPr sz="1050" b="1" i="0">
                <a:solidFill>
                  <a:srgbClr val="0F172A"/>
                </a:solidFill>
                <a:latin typeface="Calibri"/>
              </a:rPr>
              <a:t>Cơ chế: </a:t>
            </a:r>
            <a:r>
              <a:rPr sz="1050" b="0" i="0">
                <a:solidFill>
                  <a:srgbClr val="334155"/>
                </a:solidFill>
                <a:latin typeface="Calibri"/>
              </a:rPr>
              <a:t>0 lần gọi LLM khi quyết định. Agent đọc ảnh chỉ khai được 14 trường; workflow chỉ nhận 7 thao tác.</a:t>
            </a:r>
          </a:p>
          <a:p>
            <a:pPr algn="l">
              <a:spcAft>
                <a:spcPts val="200"/>
              </a:spcAft>
            </a:pPr>
            <a:r>
              <a:rPr sz="1050" b="1" i="0">
                <a:solidFill>
                  <a:srgbClr val="4D7C0F"/>
                </a:solidFill>
                <a:latin typeface="Calibri"/>
              </a:rPr>
              <a:t>Bằng chứng: </a:t>
            </a:r>
            <a:r>
              <a:rPr sz="1050" b="0" i="0">
                <a:solidFill>
                  <a:srgbClr val="334155"/>
                </a:solidFill>
                <a:latin typeface="Calibri"/>
              </a:rPr>
              <a:t>D1 đến D4, /api/health</a:t>
            </a:r>
          </a:p>
          <a:p>
            <a:pPr algn="l"/>
            <a:r>
              <a:rPr sz="1050" b="1" i="0">
                <a:solidFill>
                  <a:srgbClr val="B45309"/>
                </a:solidFill>
                <a:latin typeface="Calibri"/>
              </a:rPr>
              <a:t>Giới hạn: </a:t>
            </a:r>
            <a:r>
              <a:rPr sz="1050" b="0" i="0">
                <a:solidFill>
                  <a:srgbClr val="334155"/>
                </a:solidFill>
                <a:latin typeface="Calibri"/>
              </a:rPr>
              <a:t>agent bị lừa vẫn đọc sai được giá trị 14 trường, kể cả số tiền.</a:t>
            </a:r>
          </a:p>
        </p:txBody>
      </p:sp>
      <p:sp>
        <p:nvSpPr>
          <p:cNvPr id="18" name="Rounded Rectangle 17"/>
          <p:cNvSpPr/>
          <p:nvPr/>
        </p:nvSpPr>
        <p:spPr>
          <a:xfrm>
            <a:off x="4663440" y="2880360"/>
            <a:ext cx="4023360" cy="15727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9" name="Oval 18"/>
          <p:cNvSpPr/>
          <p:nvPr/>
        </p:nvSpPr>
        <p:spPr>
          <a:xfrm>
            <a:off x="4800600" y="2999232"/>
            <a:ext cx="310896" cy="310896"/>
          </a:xfrm>
          <a:prstGeom prst="ellipse">
            <a:avLst/>
          </a:prstGeom>
          <a:solidFill>
            <a:srgbClr val="0F172A"/>
          </a:solidFill>
          <a:ln>
            <a:noFill/>
          </a:ln>
        </p:spPr>
        <p:txBody>
          <a:bodyPr rtlCol="0" anchor="ctr" lIns="0" rIns="0" tIns="0" bIns="0" wrap="square">
            <a:noAutofit/>
          </a:bodyPr>
          <a:lstStyle/>
          <a:p>
            <a:pPr algn="ctr"/>
            <a:r>
              <a:rPr sz="1100" b="1" i="0">
                <a:solidFill>
                  <a:srgbClr val="FFFFFF"/>
                </a:solidFill>
                <a:latin typeface="Calibri"/>
              </a:rPr>
              <a:t>4</a:t>
            </a:r>
          </a:p>
        </p:txBody>
      </p:sp>
      <p:sp>
        <p:nvSpPr>
          <p:cNvPr id="20" name="TextBox 19"/>
          <p:cNvSpPr txBox="1"/>
          <p:nvPr/>
        </p:nvSpPr>
        <p:spPr>
          <a:xfrm>
            <a:off x="5212079" y="2971800"/>
            <a:ext cx="3383280" cy="365760"/>
          </a:xfrm>
          <a:prstGeom prst="rect">
            <a:avLst/>
          </a:prstGeom>
          <a:noFill/>
        </p:spPr>
        <p:txBody>
          <a:bodyPr wrap="square" lIns="0" rIns="0" tIns="0" bIns="0" anchor="ctr">
            <a:noAutofit/>
          </a:bodyPr>
          <a:lstStyle/>
          <a:p>
            <a:pPr algn="l"/>
            <a:r>
              <a:rPr sz="1400" b="1" i="0">
                <a:solidFill>
                  <a:srgbClr val="0F172A"/>
                </a:solidFill>
                <a:latin typeface="Calibri"/>
              </a:rPr>
              <a:t>Cách ly</a:t>
            </a:r>
          </a:p>
        </p:txBody>
      </p:sp>
      <p:sp>
        <p:nvSpPr>
          <p:cNvPr id="21" name="TextBox 20"/>
          <p:cNvSpPr txBox="1"/>
          <p:nvPr/>
        </p:nvSpPr>
        <p:spPr>
          <a:xfrm>
            <a:off x="4846320" y="3383280"/>
            <a:ext cx="3703320" cy="1024128"/>
          </a:xfrm>
          <a:prstGeom prst="rect">
            <a:avLst/>
          </a:prstGeom>
          <a:noFill/>
        </p:spPr>
        <p:txBody>
          <a:bodyPr wrap="square" lIns="0" rIns="0" tIns="0" bIns="0" anchor="t">
            <a:noAutofit/>
          </a:bodyPr>
          <a:lstStyle/>
          <a:p>
            <a:pPr algn="l">
              <a:spcAft>
                <a:spcPts val="200"/>
              </a:spcAft>
            </a:pPr>
            <a:r>
              <a:rPr sz="1050" b="1" i="0">
                <a:solidFill>
                  <a:srgbClr val="0F172A"/>
                </a:solidFill>
                <a:latin typeface="Calibri"/>
              </a:rPr>
              <a:t>Cơ chế: </a:t>
            </a:r>
            <a:r>
              <a:rPr sz="1050" b="0" i="0">
                <a:solidFill>
                  <a:srgbClr val="334155"/>
                </a:solidFill>
                <a:latin typeface="Calibri"/>
              </a:rPr>
              <a:t>Mỗi phiên một database riêng. Nhật ký chỉ ghi thêm, chuỗi SHA-256, HMAC, điểm neo.</a:t>
            </a:r>
          </a:p>
          <a:p>
            <a:pPr algn="l">
              <a:spcAft>
                <a:spcPts val="200"/>
              </a:spcAft>
            </a:pPr>
            <a:r>
              <a:rPr sz="1050" b="1" i="0">
                <a:solidFill>
                  <a:srgbClr val="4D7C0F"/>
                </a:solidFill>
                <a:latin typeface="Calibri"/>
              </a:rPr>
              <a:t>Bằng chứng: </a:t>
            </a:r>
            <a:r>
              <a:rPr sz="1050" b="0" i="0">
                <a:solidFill>
                  <a:srgbClr val="334155"/>
                </a:solidFill>
                <a:latin typeface="Calibri"/>
              </a:rPr>
              <a:t>S1, S2, S3</a:t>
            </a:r>
          </a:p>
          <a:p>
            <a:pPr algn="l"/>
            <a:r>
              <a:rPr sz="1050" b="1" i="0">
                <a:solidFill>
                  <a:srgbClr val="B45309"/>
                </a:solidFill>
                <a:latin typeface="Calibri"/>
              </a:rPr>
              <a:t>Giới hạn: </a:t>
            </a:r>
            <a:r>
              <a:rPr sz="1050" b="0" i="0">
                <a:solidFill>
                  <a:srgbClr val="334155"/>
                </a:solidFill>
                <a:latin typeface="Calibri"/>
              </a:rPr>
              <a:t>cùng tiến trình, khóa HMAC cùng máy; trình đọc PDF chưa ở container riêng.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CÂU HỎI 1 · BẰNG CHỨNG</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Bằng chứng chạy trên chính bản đang deploy</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11</a:t>
            </a:r>
          </a:p>
        </p:txBody>
      </p:sp>
      <p:pic>
        <p:nvPicPr>
          <p:cNvPr id="6" name="Ảnh màn hình trust" descr="trust.png"/>
          <p:cNvPicPr>
            <a:picLocks noChangeAspect="1"/>
          </p:cNvPicPr>
          <p:nvPr/>
        </p:nvPicPr>
        <p:blipFill>
          <a:blip r:embed="rId3"/>
          <a:stretch>
            <a:fillRect/>
          </a:stretch>
        </p:blipFill>
        <p:spPr>
          <a:xfrm>
            <a:off x="457200" y="1188720"/>
            <a:ext cx="4937760" cy="2776134"/>
          </a:xfrm>
          <a:prstGeom prst="rect">
            <a:avLst/>
          </a:prstGeom>
          <a:ln w="9525">
            <a:solidFill>
              <a:srgbClr val="CBD5E1"/>
            </a:solidFill>
          </a:ln>
        </p:spPr>
      </p:pic>
      <p:sp>
        <p:nvSpPr>
          <p:cNvPr id="7" name="TextBox 6"/>
          <p:cNvSpPr txBox="1"/>
          <p:nvPr/>
        </p:nvSpPr>
        <p:spPr>
          <a:xfrm>
            <a:off x="5760720" y="1188720"/>
            <a:ext cx="2926080" cy="502920"/>
          </a:xfrm>
          <a:prstGeom prst="rect">
            <a:avLst/>
          </a:prstGeom>
          <a:noFill/>
        </p:spPr>
        <p:txBody>
          <a:bodyPr wrap="square" lIns="0" rIns="0" tIns="0" bIns="0" anchor="t">
            <a:noAutofit/>
          </a:bodyPr>
          <a:lstStyle/>
          <a:p>
            <a:pPr algn="l"/>
            <a:r>
              <a:rPr sz="3000" b="1" i="0">
                <a:solidFill>
                  <a:srgbClr val="4D7C0F"/>
                </a:solidFill>
                <a:latin typeface="Cambria"/>
              </a:rPr>
              <a:t>12/12</a:t>
            </a:r>
          </a:p>
        </p:txBody>
      </p:sp>
      <p:sp>
        <p:nvSpPr>
          <p:cNvPr id="8" name="TextBox 7"/>
          <p:cNvSpPr txBox="1"/>
          <p:nvPr/>
        </p:nvSpPr>
        <p:spPr>
          <a:xfrm>
            <a:off x="5760720" y="1691640"/>
            <a:ext cx="2926080" cy="502920"/>
          </a:xfrm>
          <a:prstGeom prst="rect">
            <a:avLst/>
          </a:prstGeom>
          <a:noFill/>
        </p:spPr>
        <p:txBody>
          <a:bodyPr wrap="square" lIns="0" rIns="0" tIns="0" bIns="0" anchor="t">
            <a:noAutofit/>
          </a:bodyPr>
          <a:lstStyle/>
          <a:p>
            <a:pPr algn="l"/>
            <a:r>
              <a:rPr sz="1200" b="0" i="0">
                <a:solidFill>
                  <a:srgbClr val="334155"/>
                </a:solidFill>
                <a:latin typeface="Calibri"/>
              </a:rPr>
              <a:t>phép thử tấn công chia theo 4 trụ, bấm chạy ngay trên /trust</a:t>
            </a:r>
          </a:p>
        </p:txBody>
      </p:sp>
      <p:sp>
        <p:nvSpPr>
          <p:cNvPr id="9" name="TextBox 8"/>
          <p:cNvSpPr txBox="1"/>
          <p:nvPr/>
        </p:nvSpPr>
        <p:spPr>
          <a:xfrm>
            <a:off x="5760720" y="2304288"/>
            <a:ext cx="2926080" cy="502920"/>
          </a:xfrm>
          <a:prstGeom prst="rect">
            <a:avLst/>
          </a:prstGeom>
          <a:noFill/>
        </p:spPr>
        <p:txBody>
          <a:bodyPr wrap="square" lIns="0" rIns="0" tIns="0" bIns="0" anchor="t">
            <a:noAutofit/>
          </a:bodyPr>
          <a:lstStyle/>
          <a:p>
            <a:pPr algn="l"/>
            <a:r>
              <a:rPr sz="3000" b="1" i="0">
                <a:solidFill>
                  <a:srgbClr val="0F172A"/>
                </a:solidFill>
                <a:latin typeface="Cambria"/>
              </a:rPr>
              <a:t>0</a:t>
            </a:r>
          </a:p>
        </p:txBody>
      </p:sp>
      <p:sp>
        <p:nvSpPr>
          <p:cNvPr id="10" name="TextBox 9"/>
          <p:cNvSpPr txBox="1"/>
          <p:nvPr/>
        </p:nvSpPr>
        <p:spPr>
          <a:xfrm>
            <a:off x="5760720" y="2807208"/>
            <a:ext cx="2926080" cy="502920"/>
          </a:xfrm>
          <a:prstGeom prst="rect">
            <a:avLst/>
          </a:prstGeom>
          <a:noFill/>
        </p:spPr>
        <p:txBody>
          <a:bodyPr wrap="square" lIns="0" rIns="0" tIns="0" bIns="0" anchor="t">
            <a:noAutofit/>
          </a:bodyPr>
          <a:lstStyle/>
          <a:p>
            <a:pPr algn="l"/>
            <a:r>
              <a:rPr sz="1200" b="0" i="0">
                <a:solidFill>
                  <a:srgbClr val="334155"/>
                </a:solidFill>
                <a:latin typeface="Calibri"/>
              </a:rPr>
              <a:t>lần gọi LLM trên đường quyết định, đọc từ /api/health</a:t>
            </a:r>
          </a:p>
        </p:txBody>
      </p:sp>
      <p:sp>
        <p:nvSpPr>
          <p:cNvPr id="11" name="TextBox 10"/>
          <p:cNvSpPr txBox="1"/>
          <p:nvPr/>
        </p:nvSpPr>
        <p:spPr>
          <a:xfrm>
            <a:off x="5760720" y="3419856"/>
            <a:ext cx="2926080" cy="502920"/>
          </a:xfrm>
          <a:prstGeom prst="rect">
            <a:avLst/>
          </a:prstGeom>
          <a:noFill/>
        </p:spPr>
        <p:txBody>
          <a:bodyPr wrap="square" lIns="0" rIns="0" tIns="0" bIns="0" anchor="t">
            <a:noAutofit/>
          </a:bodyPr>
          <a:lstStyle/>
          <a:p>
            <a:pPr algn="l"/>
            <a:r>
              <a:rPr sz="3000" b="1" i="0">
                <a:solidFill>
                  <a:srgbClr val="0F172A"/>
                </a:solidFill>
                <a:latin typeface="Cambria"/>
              </a:rPr>
              <a:t>72/72</a:t>
            </a:r>
          </a:p>
        </p:txBody>
      </p:sp>
      <p:sp>
        <p:nvSpPr>
          <p:cNvPr id="12" name="TextBox 11"/>
          <p:cNvSpPr txBox="1"/>
          <p:nvPr/>
        </p:nvSpPr>
        <p:spPr>
          <a:xfrm>
            <a:off x="5760720" y="3922776"/>
            <a:ext cx="2926080" cy="502920"/>
          </a:xfrm>
          <a:prstGeom prst="rect">
            <a:avLst/>
          </a:prstGeom>
          <a:noFill/>
        </p:spPr>
        <p:txBody>
          <a:bodyPr wrap="square" lIns="0" rIns="0" tIns="0" bIns="0" anchor="t">
            <a:noAutofit/>
          </a:bodyPr>
          <a:lstStyle/>
          <a:p>
            <a:pPr algn="l"/>
            <a:r>
              <a:rPr sz="1200" b="0" i="0">
                <a:solidFill>
                  <a:srgbClr val="334155"/>
                </a:solidFill>
                <a:latin typeface="Calibri"/>
              </a:rPr>
              <a:t>ca red-team đạt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CÂU HỎI 2 · KIẾN TRÚC</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Bảy lớp, AI chỉ có mặt ở khâu đọc</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12</a:t>
            </a:r>
          </a:p>
        </p:txBody>
      </p:sp>
      <p:sp>
        <p:nvSpPr>
          <p:cNvPr id="6" name="Rounded Rectangle 5"/>
          <p:cNvSpPr/>
          <p:nvPr/>
        </p:nvSpPr>
        <p:spPr>
          <a:xfrm>
            <a:off x="457200" y="1188720"/>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7" name="TextBox 6"/>
          <p:cNvSpPr txBox="1"/>
          <p:nvPr/>
        </p:nvSpPr>
        <p:spPr>
          <a:xfrm>
            <a:off x="566928" y="1188720"/>
            <a:ext cx="274320" cy="411480"/>
          </a:xfrm>
          <a:prstGeom prst="rect">
            <a:avLst/>
          </a:prstGeom>
          <a:noFill/>
        </p:spPr>
        <p:txBody>
          <a:bodyPr wrap="square" lIns="0" rIns="0" tIns="0" bIns="0" anchor="ctr">
            <a:noAutofit/>
          </a:bodyPr>
          <a:lstStyle/>
          <a:p>
            <a:pPr algn="l"/>
            <a:r>
              <a:rPr sz="1200" b="1" i="0">
                <a:solidFill>
                  <a:srgbClr val="4D7C0F"/>
                </a:solidFill>
                <a:latin typeface="Calibri"/>
              </a:rPr>
              <a:t>1</a:t>
            </a:r>
          </a:p>
        </p:txBody>
      </p:sp>
      <p:sp>
        <p:nvSpPr>
          <p:cNvPr id="8" name="TextBox 7"/>
          <p:cNvSpPr txBox="1"/>
          <p:nvPr/>
        </p:nvSpPr>
        <p:spPr>
          <a:xfrm>
            <a:off x="841248" y="1188720"/>
            <a:ext cx="1691640" cy="411480"/>
          </a:xfrm>
          <a:prstGeom prst="rect">
            <a:avLst/>
          </a:prstGeom>
          <a:noFill/>
        </p:spPr>
        <p:txBody>
          <a:bodyPr wrap="square" lIns="0" rIns="0" tIns="0" bIns="0" anchor="ctr">
            <a:noAutofit/>
          </a:bodyPr>
          <a:lstStyle/>
          <a:p>
            <a:pPr algn="l"/>
            <a:r>
              <a:rPr sz="1200" b="1" i="0">
                <a:solidFill>
                  <a:srgbClr val="0F172A"/>
                </a:solidFill>
                <a:latin typeface="Calibri"/>
              </a:rPr>
              <a:t>Nạp chứng từ</a:t>
            </a:r>
          </a:p>
        </p:txBody>
      </p:sp>
      <p:sp>
        <p:nvSpPr>
          <p:cNvPr id="9" name="TextBox 8"/>
          <p:cNvSpPr txBox="1"/>
          <p:nvPr/>
        </p:nvSpPr>
        <p:spPr>
          <a:xfrm>
            <a:off x="2560320" y="1188720"/>
            <a:ext cx="2057400" cy="411480"/>
          </a:xfrm>
          <a:prstGeom prst="rect">
            <a:avLst/>
          </a:prstGeom>
          <a:noFill/>
        </p:spPr>
        <p:txBody>
          <a:bodyPr wrap="square" lIns="0" rIns="0" tIns="0" bIns="0" anchor="ctr">
            <a:noAutofit/>
          </a:bodyPr>
          <a:lstStyle/>
          <a:p>
            <a:pPr algn="l"/>
            <a:r>
              <a:rPr sz="1050" b="0" i="0">
                <a:solidFill>
                  <a:srgbClr val="334155"/>
                </a:solidFill>
                <a:latin typeface="Calibri"/>
              </a:rPr>
              <a:t>XML tất định · PDF lớp chữ · ảnh</a:t>
            </a:r>
          </a:p>
        </p:txBody>
      </p:sp>
      <p:sp>
        <p:nvSpPr>
          <p:cNvPr id="10" name="Rounded Rectangle 9"/>
          <p:cNvSpPr/>
          <p:nvPr/>
        </p:nvSpPr>
        <p:spPr>
          <a:xfrm>
            <a:off x="4663440" y="1261872"/>
            <a:ext cx="960120" cy="265176"/>
          </a:xfrm>
          <a:prstGeom prst="roundRect">
            <a:avLst>
              <a:gd name="adj" fmla="val 8000"/>
            </a:avLst>
          </a:prstGeom>
          <a:solidFill>
            <a:srgbClr val="ECFCCB"/>
          </a:solidFill>
          <a:ln>
            <a:noFill/>
          </a:ln>
        </p:spPr>
        <p:txBody>
          <a:bodyPr rtlCol="0" anchor="ctr" lIns="18288" rIns="18288" tIns="18288" bIns="18288" wrap="square">
            <a:noAutofit/>
          </a:bodyPr>
          <a:lstStyle/>
          <a:p>
            <a:pPr algn="ctr"/>
            <a:r>
              <a:rPr sz="850" b="1" i="0">
                <a:solidFill>
                  <a:srgbClr val="4D7C0F"/>
                </a:solidFill>
                <a:latin typeface="Calibri"/>
              </a:rPr>
              <a:t>AI đọc ảnh</a:t>
            </a:r>
          </a:p>
        </p:txBody>
      </p:sp>
      <p:sp>
        <p:nvSpPr>
          <p:cNvPr id="11" name="Rounded Rectangle 10"/>
          <p:cNvSpPr/>
          <p:nvPr/>
        </p:nvSpPr>
        <p:spPr>
          <a:xfrm>
            <a:off x="457200" y="1664208"/>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12" name="TextBox 11"/>
          <p:cNvSpPr txBox="1"/>
          <p:nvPr/>
        </p:nvSpPr>
        <p:spPr>
          <a:xfrm>
            <a:off x="566928" y="1664208"/>
            <a:ext cx="274320" cy="411480"/>
          </a:xfrm>
          <a:prstGeom prst="rect">
            <a:avLst/>
          </a:prstGeom>
          <a:noFill/>
        </p:spPr>
        <p:txBody>
          <a:bodyPr wrap="square" lIns="0" rIns="0" tIns="0" bIns="0" anchor="ctr">
            <a:noAutofit/>
          </a:bodyPr>
          <a:lstStyle/>
          <a:p>
            <a:pPr algn="l"/>
            <a:r>
              <a:rPr sz="1200" b="1" i="0">
                <a:solidFill>
                  <a:srgbClr val="4D7C0F"/>
                </a:solidFill>
                <a:latin typeface="Calibri"/>
              </a:rPr>
              <a:t>2</a:t>
            </a:r>
          </a:p>
        </p:txBody>
      </p:sp>
      <p:sp>
        <p:nvSpPr>
          <p:cNvPr id="13" name="TextBox 12"/>
          <p:cNvSpPr txBox="1"/>
          <p:nvPr/>
        </p:nvSpPr>
        <p:spPr>
          <a:xfrm>
            <a:off x="841248" y="1664208"/>
            <a:ext cx="1691640" cy="411480"/>
          </a:xfrm>
          <a:prstGeom prst="rect">
            <a:avLst/>
          </a:prstGeom>
          <a:noFill/>
        </p:spPr>
        <p:txBody>
          <a:bodyPr wrap="square" lIns="0" rIns="0" tIns="0" bIns="0" anchor="ctr">
            <a:noAutofit/>
          </a:bodyPr>
          <a:lstStyle/>
          <a:p>
            <a:pPr algn="l"/>
            <a:r>
              <a:rPr sz="1200" b="1" i="0">
                <a:solidFill>
                  <a:srgbClr val="0F172A"/>
                </a:solidFill>
                <a:latin typeface="Calibri"/>
              </a:rPr>
              <a:t>Chuẩn hóa, nguồn gốc</a:t>
            </a:r>
          </a:p>
        </p:txBody>
      </p:sp>
      <p:sp>
        <p:nvSpPr>
          <p:cNvPr id="14" name="TextBox 13"/>
          <p:cNvSpPr txBox="1"/>
          <p:nvPr/>
        </p:nvSpPr>
        <p:spPr>
          <a:xfrm>
            <a:off x="2560320" y="1664208"/>
            <a:ext cx="2057400" cy="411480"/>
          </a:xfrm>
          <a:prstGeom prst="rect">
            <a:avLst/>
          </a:prstGeom>
          <a:noFill/>
        </p:spPr>
        <p:txBody>
          <a:bodyPr wrap="square" lIns="0" rIns="0" tIns="0" bIns="0" anchor="ctr">
            <a:noAutofit/>
          </a:bodyPr>
          <a:lstStyle/>
          <a:p>
            <a:pPr algn="l"/>
            <a:r>
              <a:rPr sz="1050" b="0" i="0">
                <a:solidFill>
                  <a:srgbClr val="334155"/>
                </a:solidFill>
                <a:latin typeface="Calibri"/>
              </a:rPr>
              <a:t>14 trường, kiểm số học, checksum MST</a:t>
            </a:r>
          </a:p>
        </p:txBody>
      </p:sp>
      <p:sp>
        <p:nvSpPr>
          <p:cNvPr id="15" name="Rounded Rectangle 14"/>
          <p:cNvSpPr/>
          <p:nvPr/>
        </p:nvSpPr>
        <p:spPr>
          <a:xfrm>
            <a:off x="4663440" y="1737360"/>
            <a:ext cx="960120" cy="265176"/>
          </a:xfrm>
          <a:prstGeom prst="roundRect">
            <a:avLst>
              <a:gd name="adj" fmla="val 8000"/>
            </a:avLst>
          </a:prstGeom>
          <a:solidFill>
            <a:srgbClr val="ECFCCB"/>
          </a:solidFill>
          <a:ln>
            <a:noFill/>
          </a:ln>
        </p:spPr>
        <p:txBody>
          <a:bodyPr rtlCol="0" anchor="ctr" lIns="18288" rIns="18288" tIns="18288" bIns="18288" wrap="square">
            <a:noAutofit/>
          </a:bodyPr>
          <a:lstStyle/>
          <a:p>
            <a:pPr algn="ctr"/>
            <a:r>
              <a:rPr sz="850" b="1" i="0">
                <a:solidFill>
                  <a:srgbClr val="4D7C0F"/>
                </a:solidFill>
                <a:latin typeface="Calibri"/>
              </a:rPr>
              <a:t>AI tra MST</a:t>
            </a:r>
          </a:p>
        </p:txBody>
      </p:sp>
      <p:sp>
        <p:nvSpPr>
          <p:cNvPr id="16" name="Rounded Rectangle 15"/>
          <p:cNvSpPr/>
          <p:nvPr/>
        </p:nvSpPr>
        <p:spPr>
          <a:xfrm>
            <a:off x="457200" y="2139696"/>
            <a:ext cx="5257800" cy="411480"/>
          </a:xfrm>
          <a:prstGeom prst="roundRect">
            <a:avLst>
              <a:gd name="adj" fmla="val 12000"/>
            </a:avLst>
          </a:prstGeom>
          <a:solidFill>
            <a:srgbClr val="0F172A"/>
          </a:solidFill>
          <a:ln>
            <a:noFill/>
          </a:ln>
        </p:spPr>
        <p:txBody>
          <a:bodyPr rtlCol="0" anchor="ctr" lIns="109728" rIns="109728" tIns="54864" bIns="54864"/>
          <a:lstStyle/>
          <a:p>
            <a:pPr algn="ctr"/>
          </a:p>
        </p:txBody>
      </p:sp>
      <p:sp>
        <p:nvSpPr>
          <p:cNvPr id="17" name="TextBox 16"/>
          <p:cNvSpPr txBox="1"/>
          <p:nvPr/>
        </p:nvSpPr>
        <p:spPr>
          <a:xfrm>
            <a:off x="566928" y="2139696"/>
            <a:ext cx="274320" cy="411480"/>
          </a:xfrm>
          <a:prstGeom prst="rect">
            <a:avLst/>
          </a:prstGeom>
          <a:noFill/>
        </p:spPr>
        <p:txBody>
          <a:bodyPr wrap="square" lIns="0" rIns="0" tIns="0" bIns="0" anchor="ctr">
            <a:noAutofit/>
          </a:bodyPr>
          <a:lstStyle/>
          <a:p>
            <a:pPr algn="l"/>
            <a:r>
              <a:rPr sz="1200" b="1" i="0">
                <a:solidFill>
                  <a:srgbClr val="D9F99D"/>
                </a:solidFill>
                <a:latin typeface="Calibri"/>
              </a:rPr>
              <a:t>3</a:t>
            </a:r>
          </a:p>
        </p:txBody>
      </p:sp>
      <p:sp>
        <p:nvSpPr>
          <p:cNvPr id="18" name="TextBox 17"/>
          <p:cNvSpPr txBox="1"/>
          <p:nvPr/>
        </p:nvSpPr>
        <p:spPr>
          <a:xfrm>
            <a:off x="841248" y="2139696"/>
            <a:ext cx="1691640" cy="411480"/>
          </a:xfrm>
          <a:prstGeom prst="rect">
            <a:avLst/>
          </a:prstGeom>
          <a:noFill/>
        </p:spPr>
        <p:txBody>
          <a:bodyPr wrap="square" lIns="0" rIns="0" tIns="0" bIns="0" anchor="ctr">
            <a:noAutofit/>
          </a:bodyPr>
          <a:lstStyle/>
          <a:p>
            <a:pPr algn="l"/>
            <a:r>
              <a:rPr sz="1200" b="1" i="0">
                <a:solidFill>
                  <a:srgbClr val="FFFFFF"/>
                </a:solidFill>
                <a:latin typeface="Calibri"/>
              </a:rPr>
              <a:t>Quyết định tất định</a:t>
            </a:r>
          </a:p>
        </p:txBody>
      </p:sp>
      <p:sp>
        <p:nvSpPr>
          <p:cNvPr id="19" name="TextBox 18"/>
          <p:cNvSpPr txBox="1"/>
          <p:nvPr/>
        </p:nvSpPr>
        <p:spPr>
          <a:xfrm>
            <a:off x="2560320" y="2139696"/>
            <a:ext cx="3063240" cy="411480"/>
          </a:xfrm>
          <a:prstGeom prst="rect">
            <a:avLst/>
          </a:prstGeom>
          <a:noFill/>
        </p:spPr>
        <p:txBody>
          <a:bodyPr wrap="square" lIns="0" rIns="0" tIns="0" bIns="0" anchor="ctr">
            <a:noAutofit/>
          </a:bodyPr>
          <a:lstStyle/>
          <a:p>
            <a:pPr algn="l"/>
            <a:r>
              <a:rPr sz="1050" b="0" i="0">
                <a:solidFill>
                  <a:srgbClr val="E2E8F0"/>
                </a:solidFill>
                <a:latin typeface="Calibri"/>
              </a:rPr>
              <a:t>3 kiểu dừng, căn cứ theo ngày lập</a:t>
            </a:r>
          </a:p>
        </p:txBody>
      </p:sp>
      <p:sp>
        <p:nvSpPr>
          <p:cNvPr id="20" name="Rounded Rectangle 19"/>
          <p:cNvSpPr/>
          <p:nvPr/>
        </p:nvSpPr>
        <p:spPr>
          <a:xfrm>
            <a:off x="457200" y="2615184"/>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21" name="TextBox 20"/>
          <p:cNvSpPr txBox="1"/>
          <p:nvPr/>
        </p:nvSpPr>
        <p:spPr>
          <a:xfrm>
            <a:off x="566928" y="2615184"/>
            <a:ext cx="274320" cy="411480"/>
          </a:xfrm>
          <a:prstGeom prst="rect">
            <a:avLst/>
          </a:prstGeom>
          <a:noFill/>
        </p:spPr>
        <p:txBody>
          <a:bodyPr wrap="square" lIns="0" rIns="0" tIns="0" bIns="0" anchor="ctr">
            <a:noAutofit/>
          </a:bodyPr>
          <a:lstStyle/>
          <a:p>
            <a:pPr algn="l"/>
            <a:r>
              <a:rPr sz="1200" b="1" i="0">
                <a:solidFill>
                  <a:srgbClr val="4D7C0F"/>
                </a:solidFill>
                <a:latin typeface="Calibri"/>
              </a:rPr>
              <a:t>4</a:t>
            </a:r>
          </a:p>
        </p:txBody>
      </p:sp>
      <p:sp>
        <p:nvSpPr>
          <p:cNvPr id="22" name="TextBox 21"/>
          <p:cNvSpPr txBox="1"/>
          <p:nvPr/>
        </p:nvSpPr>
        <p:spPr>
          <a:xfrm>
            <a:off x="841248" y="2615184"/>
            <a:ext cx="1691640" cy="411480"/>
          </a:xfrm>
          <a:prstGeom prst="rect">
            <a:avLst/>
          </a:prstGeom>
          <a:noFill/>
        </p:spPr>
        <p:txBody>
          <a:bodyPr wrap="square" lIns="0" rIns="0" tIns="0" bIns="0" anchor="ctr">
            <a:noAutofit/>
          </a:bodyPr>
          <a:lstStyle/>
          <a:p>
            <a:pPr algn="l"/>
            <a:r>
              <a:rPr sz="1200" b="1" i="0">
                <a:solidFill>
                  <a:srgbClr val="0F172A"/>
                </a:solidFill>
                <a:latin typeface="Calibri"/>
              </a:rPr>
              <a:t>Workflow</a:t>
            </a:r>
          </a:p>
        </p:txBody>
      </p:sp>
      <p:sp>
        <p:nvSpPr>
          <p:cNvPr id="23" name="TextBox 22"/>
          <p:cNvSpPr txBox="1"/>
          <p:nvPr/>
        </p:nvSpPr>
        <p:spPr>
          <a:xfrm>
            <a:off x="2560320" y="2615184"/>
            <a:ext cx="3063240" cy="411480"/>
          </a:xfrm>
          <a:prstGeom prst="rect">
            <a:avLst/>
          </a:prstGeom>
          <a:noFill/>
        </p:spPr>
        <p:txBody>
          <a:bodyPr wrap="square" lIns="0" rIns="0" tIns="0" bIns="0" anchor="ctr">
            <a:noAutofit/>
          </a:bodyPr>
          <a:lstStyle/>
          <a:p>
            <a:pPr algn="l"/>
            <a:r>
              <a:rPr sz="1050" b="0" i="0">
                <a:solidFill>
                  <a:srgbClr val="334155"/>
                </a:solidFill>
                <a:latin typeface="Calibri"/>
              </a:rPr>
              <a:t>trạng thái, thẩm quyền, lô, công tắc dừng</a:t>
            </a:r>
          </a:p>
        </p:txBody>
      </p:sp>
      <p:sp>
        <p:nvSpPr>
          <p:cNvPr id="24" name="Rounded Rectangle 23"/>
          <p:cNvSpPr/>
          <p:nvPr/>
        </p:nvSpPr>
        <p:spPr>
          <a:xfrm>
            <a:off x="457200" y="3090672"/>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25" name="TextBox 24"/>
          <p:cNvSpPr txBox="1"/>
          <p:nvPr/>
        </p:nvSpPr>
        <p:spPr>
          <a:xfrm>
            <a:off x="566928" y="3090672"/>
            <a:ext cx="274320" cy="411480"/>
          </a:xfrm>
          <a:prstGeom prst="rect">
            <a:avLst/>
          </a:prstGeom>
          <a:noFill/>
        </p:spPr>
        <p:txBody>
          <a:bodyPr wrap="square" lIns="0" rIns="0" tIns="0" bIns="0" anchor="ctr">
            <a:noAutofit/>
          </a:bodyPr>
          <a:lstStyle/>
          <a:p>
            <a:pPr algn="l"/>
            <a:r>
              <a:rPr sz="1200" b="1" i="0">
                <a:solidFill>
                  <a:srgbClr val="4D7C0F"/>
                </a:solidFill>
                <a:latin typeface="Calibri"/>
              </a:rPr>
              <a:t>5</a:t>
            </a:r>
          </a:p>
        </p:txBody>
      </p:sp>
      <p:sp>
        <p:nvSpPr>
          <p:cNvPr id="26" name="TextBox 25"/>
          <p:cNvSpPr txBox="1"/>
          <p:nvPr/>
        </p:nvSpPr>
        <p:spPr>
          <a:xfrm>
            <a:off x="841248" y="3090672"/>
            <a:ext cx="1691640" cy="411480"/>
          </a:xfrm>
          <a:prstGeom prst="rect">
            <a:avLst/>
          </a:prstGeom>
          <a:noFill/>
        </p:spPr>
        <p:txBody>
          <a:bodyPr wrap="square" lIns="0" rIns="0" tIns="0" bIns="0" anchor="ctr">
            <a:noAutofit/>
          </a:bodyPr>
          <a:lstStyle/>
          <a:p>
            <a:pPr algn="l"/>
            <a:r>
              <a:rPr sz="1200" b="1" i="0">
                <a:solidFill>
                  <a:srgbClr val="0F172A"/>
                </a:solidFill>
                <a:latin typeface="Calibri"/>
              </a:rPr>
              <a:t>Người trong vòng lặp</a:t>
            </a:r>
          </a:p>
        </p:txBody>
      </p:sp>
      <p:sp>
        <p:nvSpPr>
          <p:cNvPr id="27" name="TextBox 26"/>
          <p:cNvSpPr txBox="1"/>
          <p:nvPr/>
        </p:nvSpPr>
        <p:spPr>
          <a:xfrm>
            <a:off x="2560320" y="3090672"/>
            <a:ext cx="2057400" cy="411480"/>
          </a:xfrm>
          <a:prstGeom prst="rect">
            <a:avLst/>
          </a:prstGeom>
          <a:noFill/>
        </p:spPr>
        <p:txBody>
          <a:bodyPr wrap="square" lIns="0" rIns="0" tIns="0" bIns="0" anchor="ctr">
            <a:noAutofit/>
          </a:bodyPr>
          <a:lstStyle/>
          <a:p>
            <a:pPr algn="l"/>
            <a:r>
              <a:rPr sz="1050" b="0" i="0">
                <a:solidFill>
                  <a:srgbClr val="334155"/>
                </a:solidFill>
                <a:latin typeface="Calibri"/>
              </a:rPr>
              <a:t>câu hỏi “1A, 2A”, hậu kiểm 10%</a:t>
            </a:r>
          </a:p>
        </p:txBody>
      </p:sp>
      <p:sp>
        <p:nvSpPr>
          <p:cNvPr id="28" name="Rounded Rectangle 27"/>
          <p:cNvSpPr/>
          <p:nvPr/>
        </p:nvSpPr>
        <p:spPr>
          <a:xfrm>
            <a:off x="4663440" y="3163824"/>
            <a:ext cx="960120" cy="265176"/>
          </a:xfrm>
          <a:prstGeom prst="roundRect">
            <a:avLst>
              <a:gd name="adj" fmla="val 8000"/>
            </a:avLst>
          </a:prstGeom>
          <a:solidFill>
            <a:srgbClr val="FEF3C7"/>
          </a:solidFill>
          <a:ln>
            <a:noFill/>
          </a:ln>
        </p:spPr>
        <p:txBody>
          <a:bodyPr rtlCol="0" anchor="ctr" lIns="18288" rIns="18288" tIns="18288" bIns="18288" wrap="square">
            <a:noAutofit/>
          </a:bodyPr>
          <a:lstStyle/>
          <a:p>
            <a:pPr algn="ctr"/>
            <a:r>
              <a:rPr sz="850" b="1" i="0">
                <a:solidFill>
                  <a:srgbClr val="B45309"/>
                </a:solidFill>
                <a:latin typeface="Calibri"/>
              </a:rPr>
              <a:t>AI diễn đạt: tắt</a:t>
            </a:r>
          </a:p>
        </p:txBody>
      </p:sp>
      <p:sp>
        <p:nvSpPr>
          <p:cNvPr id="29" name="Rounded Rectangle 28"/>
          <p:cNvSpPr/>
          <p:nvPr/>
        </p:nvSpPr>
        <p:spPr>
          <a:xfrm>
            <a:off x="457200" y="3566160"/>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30" name="TextBox 29"/>
          <p:cNvSpPr txBox="1"/>
          <p:nvPr/>
        </p:nvSpPr>
        <p:spPr>
          <a:xfrm>
            <a:off x="566928" y="3566160"/>
            <a:ext cx="274320" cy="411480"/>
          </a:xfrm>
          <a:prstGeom prst="rect">
            <a:avLst/>
          </a:prstGeom>
          <a:noFill/>
        </p:spPr>
        <p:txBody>
          <a:bodyPr wrap="square" lIns="0" rIns="0" tIns="0" bIns="0" anchor="ctr">
            <a:noAutofit/>
          </a:bodyPr>
          <a:lstStyle/>
          <a:p>
            <a:pPr algn="l"/>
            <a:r>
              <a:rPr sz="1200" b="1" i="0">
                <a:solidFill>
                  <a:srgbClr val="4D7C0F"/>
                </a:solidFill>
                <a:latin typeface="Calibri"/>
              </a:rPr>
              <a:t>6</a:t>
            </a:r>
          </a:p>
        </p:txBody>
      </p:sp>
      <p:sp>
        <p:nvSpPr>
          <p:cNvPr id="31" name="TextBox 30"/>
          <p:cNvSpPr txBox="1"/>
          <p:nvPr/>
        </p:nvSpPr>
        <p:spPr>
          <a:xfrm>
            <a:off x="841248" y="3566160"/>
            <a:ext cx="1691640" cy="411480"/>
          </a:xfrm>
          <a:prstGeom prst="rect">
            <a:avLst/>
          </a:prstGeom>
          <a:noFill/>
        </p:spPr>
        <p:txBody>
          <a:bodyPr wrap="square" lIns="0" rIns="0" tIns="0" bIns="0" anchor="ctr">
            <a:noAutofit/>
          </a:bodyPr>
          <a:lstStyle/>
          <a:p>
            <a:pPr algn="l"/>
            <a:r>
              <a:rPr sz="1200" b="1" i="0">
                <a:solidFill>
                  <a:srgbClr val="0F172A"/>
                </a:solidFill>
                <a:latin typeface="Calibri"/>
              </a:rPr>
              <a:t>Bằng chứng</a:t>
            </a:r>
          </a:p>
        </p:txBody>
      </p:sp>
      <p:sp>
        <p:nvSpPr>
          <p:cNvPr id="32" name="TextBox 31"/>
          <p:cNvSpPr txBox="1"/>
          <p:nvPr/>
        </p:nvSpPr>
        <p:spPr>
          <a:xfrm>
            <a:off x="2560320" y="3566160"/>
            <a:ext cx="3063240" cy="411480"/>
          </a:xfrm>
          <a:prstGeom prst="rect">
            <a:avLst/>
          </a:prstGeom>
          <a:noFill/>
        </p:spPr>
        <p:txBody>
          <a:bodyPr wrap="square" lIns="0" rIns="0" tIns="0" bIns="0" anchor="ctr">
            <a:noAutofit/>
          </a:bodyPr>
          <a:lstStyle/>
          <a:p>
            <a:pPr algn="l"/>
            <a:r>
              <a:rPr sz="1050" b="0" i="0">
                <a:solidFill>
                  <a:srgbClr val="334155"/>
                </a:solidFill>
                <a:latin typeface="Calibri"/>
              </a:rPr>
              <a:t>chỉ ghi thêm, SHA-256, HMAC, điểm neo</a:t>
            </a:r>
          </a:p>
        </p:txBody>
      </p:sp>
      <p:sp>
        <p:nvSpPr>
          <p:cNvPr id="33" name="Rounded Rectangle 32"/>
          <p:cNvSpPr/>
          <p:nvPr/>
        </p:nvSpPr>
        <p:spPr>
          <a:xfrm>
            <a:off x="457200" y="4041648"/>
            <a:ext cx="5257800" cy="411480"/>
          </a:xfrm>
          <a:prstGeom prst="roundRect">
            <a:avLst>
              <a:gd name="adj" fmla="val 12000"/>
            </a:avLst>
          </a:prstGeom>
          <a:solidFill>
            <a:srgbClr val="F1F5F9"/>
          </a:solidFill>
          <a:ln>
            <a:noFill/>
          </a:ln>
        </p:spPr>
        <p:txBody>
          <a:bodyPr rtlCol="0" anchor="ctr" lIns="109728" rIns="109728" tIns="54864" bIns="54864"/>
          <a:lstStyle/>
          <a:p>
            <a:pPr algn="ctr"/>
          </a:p>
        </p:txBody>
      </p:sp>
      <p:sp>
        <p:nvSpPr>
          <p:cNvPr id="34" name="TextBox 33"/>
          <p:cNvSpPr txBox="1"/>
          <p:nvPr/>
        </p:nvSpPr>
        <p:spPr>
          <a:xfrm>
            <a:off x="566928" y="4041648"/>
            <a:ext cx="274320" cy="411480"/>
          </a:xfrm>
          <a:prstGeom prst="rect">
            <a:avLst/>
          </a:prstGeom>
          <a:noFill/>
        </p:spPr>
        <p:txBody>
          <a:bodyPr wrap="square" lIns="0" rIns="0" tIns="0" bIns="0" anchor="ctr">
            <a:noAutofit/>
          </a:bodyPr>
          <a:lstStyle/>
          <a:p>
            <a:pPr algn="l"/>
            <a:r>
              <a:rPr sz="1200" b="1" i="0">
                <a:solidFill>
                  <a:srgbClr val="4D7C0F"/>
                </a:solidFill>
                <a:latin typeface="Calibri"/>
              </a:rPr>
              <a:t>7</a:t>
            </a:r>
          </a:p>
        </p:txBody>
      </p:sp>
      <p:sp>
        <p:nvSpPr>
          <p:cNvPr id="35" name="TextBox 34"/>
          <p:cNvSpPr txBox="1"/>
          <p:nvPr/>
        </p:nvSpPr>
        <p:spPr>
          <a:xfrm>
            <a:off x="841248" y="4041648"/>
            <a:ext cx="1691640" cy="411480"/>
          </a:xfrm>
          <a:prstGeom prst="rect">
            <a:avLst/>
          </a:prstGeom>
          <a:noFill/>
        </p:spPr>
        <p:txBody>
          <a:bodyPr wrap="square" lIns="0" rIns="0" tIns="0" bIns="0" anchor="ctr">
            <a:noAutofit/>
          </a:bodyPr>
          <a:lstStyle/>
          <a:p>
            <a:pPr algn="l"/>
            <a:r>
              <a:rPr sz="1200" b="1" i="0">
                <a:solidFill>
                  <a:srgbClr val="0F172A"/>
                </a:solidFill>
                <a:latin typeface="Calibri"/>
              </a:rPr>
              <a:t>Vận hành</a:t>
            </a:r>
          </a:p>
        </p:txBody>
      </p:sp>
      <p:sp>
        <p:nvSpPr>
          <p:cNvPr id="36" name="TextBox 35"/>
          <p:cNvSpPr txBox="1"/>
          <p:nvPr/>
        </p:nvSpPr>
        <p:spPr>
          <a:xfrm>
            <a:off x="2560320" y="4041648"/>
            <a:ext cx="3063240" cy="411480"/>
          </a:xfrm>
          <a:prstGeom prst="rect">
            <a:avLst/>
          </a:prstGeom>
          <a:noFill/>
        </p:spPr>
        <p:txBody>
          <a:bodyPr wrap="square" lIns="0" rIns="0" tIns="0" bIns="0" anchor="ctr">
            <a:noAutofit/>
          </a:bodyPr>
          <a:lstStyle/>
          <a:p>
            <a:pPr algn="l"/>
            <a:r>
              <a:rPr sz="1050" b="0" i="0">
                <a:solidFill>
                  <a:srgbClr val="334155"/>
                </a:solidFill>
                <a:latin typeface="Calibri"/>
              </a:rPr>
              <a:t>/api/health, /trust, CI Ubuntu + Windows</a:t>
            </a:r>
          </a:p>
        </p:txBody>
      </p:sp>
      <p:sp>
        <p:nvSpPr>
          <p:cNvPr id="37" name="Rounded Rectangle 36"/>
          <p:cNvSpPr/>
          <p:nvPr/>
        </p:nvSpPr>
        <p:spPr>
          <a:xfrm>
            <a:off x="5989320" y="1188720"/>
            <a:ext cx="2697480" cy="1783080"/>
          </a:xfrm>
          <a:prstGeom prst="roundRect">
            <a:avLst>
              <a:gd name="adj" fmla="val 8000"/>
            </a:avLst>
          </a:prstGeom>
          <a:solidFill>
            <a:srgbClr val="ECFCCB"/>
          </a:solidFill>
          <a:ln>
            <a:noFill/>
          </a:ln>
        </p:spPr>
        <p:txBody>
          <a:bodyPr rtlCol="0" anchor="t" lIns="164592" rIns="164592" tIns="54864" bIns="54864" wrap="square">
            <a:noAutofit/>
          </a:bodyPr>
          <a:lstStyle/>
          <a:p>
            <a:pPr algn="l">
              <a:spcAft>
                <a:spcPts val="400"/>
              </a:spcAft>
            </a:pPr>
            <a:r>
              <a:rPr sz="1300" b="1" i="0">
                <a:solidFill>
                  <a:srgbClr val="4D7C0F"/>
                </a:solidFill>
                <a:latin typeface="Calibri"/>
              </a:rPr>
              <a:t>Thật, không giả lập</a:t>
            </a:r>
          </a:p>
          <a:p>
            <a:pPr algn="l" marL="182880" indent="-182880">
              <a:spcAft>
                <a:spcPts val="100"/>
              </a:spcAft>
              <a:buClr>
                <a:srgbClr val="4D7C0F"/>
              </a:buClr>
              <a:buFont typeface="Arial"/>
              <a:buChar char="•"/>
            </a:pPr>
            <a:r>
              <a:rPr sz="1150" b="0" i="0">
                <a:solidFill>
                  <a:srgbClr val="0F172A"/>
                </a:solidFill>
                <a:latin typeface="Calibri"/>
              </a:rPr>
              <a:t>Quy tắc, workflow, lô</a:t>
            </a:r>
          </a:p>
          <a:p>
            <a:pPr algn="l" marL="182880" indent="-182880">
              <a:spcAft>
                <a:spcPts val="100"/>
              </a:spcAft>
              <a:buClr>
                <a:srgbClr val="4D7C0F"/>
              </a:buClr>
              <a:buFont typeface="Arial"/>
              <a:buChar char="•"/>
            </a:pPr>
            <a:r>
              <a:rPr sz="1150" b="0" i="0">
                <a:solidFill>
                  <a:srgbClr val="0F172A"/>
                </a:solidFill>
                <a:latin typeface="Calibri"/>
              </a:rPr>
              <a:t>Phân quyền kiểm ở server</a:t>
            </a:r>
          </a:p>
          <a:p>
            <a:pPr algn="l" marL="182880" indent="-182880">
              <a:spcAft>
                <a:spcPts val="100"/>
              </a:spcAft>
              <a:buClr>
                <a:srgbClr val="4D7C0F"/>
              </a:buClr>
              <a:buFont typeface="Arial"/>
              <a:buChar char="•"/>
            </a:pPr>
            <a:r>
              <a:rPr sz="1150" b="0" i="0">
                <a:solidFill>
                  <a:srgbClr val="0F172A"/>
                </a:solidFill>
                <a:latin typeface="Calibri"/>
              </a:rPr>
              <a:t>Nhật ký chống sửa</a:t>
            </a:r>
          </a:p>
          <a:p>
            <a:pPr algn="l" marL="182880" indent="-182880">
              <a:spcAft>
                <a:spcPts val="100"/>
              </a:spcAft>
              <a:buClr>
                <a:srgbClr val="4D7C0F"/>
              </a:buClr>
              <a:buFont typeface="Arial"/>
              <a:buChar char="•"/>
            </a:pPr>
            <a:r>
              <a:rPr sz="1150" b="0" i="0">
                <a:solidFill>
                  <a:srgbClr val="0F172A"/>
                </a:solidFill>
                <a:latin typeface="Calibri"/>
              </a:rPr>
              <a:t>12 phép thử trên /trust</a:t>
            </a:r>
          </a:p>
          <a:p>
            <a:pPr algn="l" marL="182880" indent="-182880">
              <a:spcAft>
                <a:spcPts val="100"/>
              </a:spcAft>
              <a:buClr>
                <a:srgbClr val="4D7C0F"/>
              </a:buClr>
              <a:buFont typeface="Arial"/>
              <a:buChar char="•"/>
            </a:pPr>
            <a:r>
              <a:rPr sz="1150" b="0" i="0">
                <a:solidFill>
                  <a:srgbClr val="0F172A"/>
                </a:solidFill>
                <a:latin typeface="Calibri"/>
              </a:rPr>
              <a:t>Đọc XML, PDF, ảnh</a:t>
            </a:r>
          </a:p>
        </p:txBody>
      </p:sp>
      <p:sp>
        <p:nvSpPr>
          <p:cNvPr id="38" name="Rounded Rectangle 37"/>
          <p:cNvSpPr/>
          <p:nvPr/>
        </p:nvSpPr>
        <p:spPr>
          <a:xfrm>
            <a:off x="5989320" y="3108960"/>
            <a:ext cx="2697480" cy="1399032"/>
          </a:xfrm>
          <a:prstGeom prst="roundRect">
            <a:avLst>
              <a:gd name="adj" fmla="val 8000"/>
            </a:avLst>
          </a:prstGeom>
          <a:solidFill>
            <a:srgbClr val="FEF3C7"/>
          </a:solidFill>
          <a:ln>
            <a:noFill/>
          </a:ln>
        </p:spPr>
        <p:txBody>
          <a:bodyPr rtlCol="0" anchor="t" lIns="164592" rIns="164592" tIns="54864" bIns="54864" wrap="square">
            <a:noAutofit/>
          </a:bodyPr>
          <a:lstStyle/>
          <a:p>
            <a:pPr algn="l">
              <a:spcAft>
                <a:spcPts val="400"/>
              </a:spcAft>
            </a:pPr>
            <a:r>
              <a:rPr sz="1300" b="1" i="0">
                <a:solidFill>
                  <a:srgbClr val="B45309"/>
                </a:solidFill>
                <a:latin typeface="Calibri"/>
              </a:rPr>
              <a:t>Giả lập trong demo</a:t>
            </a:r>
          </a:p>
          <a:p>
            <a:pPr algn="l" marL="182880" indent="-182880">
              <a:spcAft>
                <a:spcPts val="100"/>
              </a:spcAft>
              <a:buClr>
                <a:srgbClr val="B45309"/>
              </a:buClr>
              <a:buFont typeface="Arial"/>
              <a:buChar char="•"/>
            </a:pPr>
            <a:r>
              <a:rPr sz="1150" b="0" i="0">
                <a:solidFill>
                  <a:srgbClr val="0F172A"/>
                </a:solidFill>
                <a:latin typeface="Calibri"/>
              </a:rPr>
              <a:t>Vai người dùng: đổi vai trong phiên demo</a:t>
            </a:r>
          </a:p>
          <a:p>
            <a:pPr algn="l" marL="182880" indent="-182880">
              <a:spcAft>
                <a:spcPts val="100"/>
              </a:spcAft>
              <a:buClr>
                <a:srgbClr val="B45309"/>
              </a:buClr>
              <a:buFont typeface="Arial"/>
              <a:buChar char="•"/>
            </a:pPr>
            <a:r>
              <a:rPr sz="1150" b="0" i="0">
                <a:solidFill>
                  <a:srgbClr val="0F172A"/>
                </a:solidFill>
                <a:latin typeface="Calibri"/>
              </a:rPr>
              <a:t>Danh bạ người gửi là dữ liệu mẫu</a:t>
            </a:r>
          </a:p>
          <a:p>
            <a:pPr algn="l" marL="182880" indent="-182880">
              <a:spcAft>
                <a:spcPts val="100"/>
              </a:spcAft>
              <a:buClr>
                <a:srgbClr val="B45309"/>
              </a:buClr>
              <a:buFont typeface="Arial"/>
              <a:buChar char="•"/>
            </a:pPr>
            <a:r>
              <a:rPr sz="1150" b="0" i="0">
                <a:solidFill>
                  <a:srgbClr val="0F172A"/>
                </a:solidFill>
                <a:latin typeface="Calibri"/>
              </a:rPr>
              <a:t>LLM dev chỉ bật cho demo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CÂU HỎI 2 · ĐÁNH ĐỔI</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Ba đánh đổi đội tự chọn</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13</a:t>
            </a:r>
          </a:p>
        </p:txBody>
      </p:sp>
      <p:sp>
        <p:nvSpPr>
          <p:cNvPr id="6" name="Rounded Rectangle 5"/>
          <p:cNvSpPr/>
          <p:nvPr/>
        </p:nvSpPr>
        <p:spPr>
          <a:xfrm>
            <a:off x="457200" y="1188720"/>
            <a:ext cx="2606040" cy="3291840"/>
          </a:xfrm>
          <a:prstGeom prst="roundRect">
            <a:avLst>
              <a:gd name="adj" fmla="val 5000"/>
            </a:avLst>
          </a:prstGeom>
          <a:solidFill>
            <a:srgbClr val="F1F5F9"/>
          </a:solidFill>
          <a:ln>
            <a:noFill/>
          </a:ln>
        </p:spPr>
        <p:txBody>
          <a:bodyPr rtlCol="0" anchor="ctr" lIns="109728" rIns="109728" tIns="54864" bIns="54864"/>
          <a:lstStyle/>
          <a:p>
            <a:pPr algn="ctr"/>
          </a:p>
        </p:txBody>
      </p:sp>
      <p:sp>
        <p:nvSpPr>
          <p:cNvPr id="7" name="TextBox 6"/>
          <p:cNvSpPr txBox="1"/>
          <p:nvPr/>
        </p:nvSpPr>
        <p:spPr>
          <a:xfrm>
            <a:off x="658368" y="1298448"/>
            <a:ext cx="2194560" cy="457200"/>
          </a:xfrm>
          <a:prstGeom prst="rect">
            <a:avLst/>
          </a:prstGeom>
          <a:noFill/>
        </p:spPr>
        <p:txBody>
          <a:bodyPr wrap="square" lIns="0" rIns="0" tIns="0" bIns="0" anchor="t">
            <a:noAutofit/>
          </a:bodyPr>
          <a:lstStyle/>
          <a:p>
            <a:pPr algn="l"/>
            <a:r>
              <a:rPr sz="2600" b="1" i="0">
                <a:solidFill>
                  <a:srgbClr val="4D7C0F"/>
                </a:solidFill>
                <a:latin typeface="Cambria"/>
              </a:rPr>
              <a:t>1</a:t>
            </a:r>
          </a:p>
        </p:txBody>
      </p:sp>
      <p:sp>
        <p:nvSpPr>
          <p:cNvPr id="8" name="TextBox 7"/>
          <p:cNvSpPr txBox="1"/>
          <p:nvPr/>
        </p:nvSpPr>
        <p:spPr>
          <a:xfrm>
            <a:off x="658368" y="1783080"/>
            <a:ext cx="2240280" cy="566928"/>
          </a:xfrm>
          <a:prstGeom prst="rect">
            <a:avLst/>
          </a:prstGeom>
          <a:noFill/>
        </p:spPr>
        <p:txBody>
          <a:bodyPr wrap="square" lIns="0" rIns="0" tIns="0" bIns="0" anchor="t">
            <a:noAutofit/>
          </a:bodyPr>
          <a:lstStyle/>
          <a:p>
            <a:pPr algn="l"/>
            <a:r>
              <a:rPr sz="1400" b="1" i="0">
                <a:solidFill>
                  <a:srgbClr val="0F172A"/>
                </a:solidFill>
                <a:latin typeface="Calibri"/>
              </a:rPr>
              <a:t>Quy tắc thay vì LLM quyết định</a:t>
            </a:r>
          </a:p>
        </p:txBody>
      </p:sp>
      <p:sp>
        <p:nvSpPr>
          <p:cNvPr id="9" name="TextBox 8"/>
          <p:cNvSpPr txBox="1"/>
          <p:nvPr/>
        </p:nvSpPr>
        <p:spPr>
          <a:xfrm>
            <a:off x="658368" y="2450592"/>
            <a:ext cx="2240280" cy="1965960"/>
          </a:xfrm>
          <a:prstGeom prst="rect">
            <a:avLst/>
          </a:prstGeom>
          <a:noFill/>
        </p:spPr>
        <p:txBody>
          <a:bodyPr wrap="square" lIns="0" rIns="0" tIns="0" bIns="0" anchor="t">
            <a:noAutofit/>
          </a:bodyPr>
          <a:lstStyle/>
          <a:p>
            <a:pPr algn="l">
              <a:spcAft>
                <a:spcPts val="600"/>
              </a:spcAft>
            </a:pPr>
            <a:r>
              <a:rPr sz="1300" b="1" i="0">
                <a:solidFill>
                  <a:srgbClr val="4D7C0F"/>
                </a:solidFill>
                <a:latin typeface="Calibri"/>
              </a:rPr>
              <a:t>Được: </a:t>
            </a:r>
            <a:r>
              <a:rPr sz="1300" b="0" i="0">
                <a:solidFill>
                  <a:srgbClr val="334155"/>
                </a:solidFill>
                <a:latin typeface="Calibri"/>
              </a:rPr>
              <a:t>tái lập, giải trình được với cơ quan thuế.</a:t>
            </a:r>
          </a:p>
          <a:p>
            <a:pPr algn="l">
              <a:spcAft>
                <a:spcPts val="600"/>
              </a:spcAft>
            </a:pPr>
            <a:r>
              <a:rPr sz="1300" b="1" i="0">
                <a:solidFill>
                  <a:srgbClr val="BE123C"/>
                </a:solidFill>
                <a:latin typeface="Calibri"/>
              </a:rPr>
              <a:t>Mất: </a:t>
            </a:r>
            <a:r>
              <a:rPr sz="1300" b="0" i="0">
                <a:solidFill>
                  <a:srgbClr val="334155"/>
                </a:solidFill>
                <a:latin typeface="Calibri"/>
              </a:rPr>
              <a:t>độ phủ ngữ nghĩa; từ khóa có thể sót ca lạ.</a:t>
            </a:r>
          </a:p>
          <a:p>
            <a:pPr algn="l"/>
            <a:r>
              <a:rPr sz="1300" b="1" i="0">
                <a:solidFill>
                  <a:srgbClr val="0F172A"/>
                </a:solidFill>
                <a:latin typeface="Calibri"/>
              </a:rPr>
              <a:t>Khi nào đổi: </a:t>
            </a:r>
            <a:r>
              <a:rPr sz="1300" b="0" i="0">
                <a:solidFill>
                  <a:srgbClr val="334155"/>
                </a:solidFill>
                <a:latin typeface="Calibri"/>
              </a:rPr>
              <a:t>AI chỉ được làm chặt hơn, không bao giờ được nới.</a:t>
            </a:r>
          </a:p>
        </p:txBody>
      </p:sp>
      <p:sp>
        <p:nvSpPr>
          <p:cNvPr id="10" name="Rounded Rectangle 9"/>
          <p:cNvSpPr/>
          <p:nvPr/>
        </p:nvSpPr>
        <p:spPr>
          <a:xfrm>
            <a:off x="3291840" y="1188720"/>
            <a:ext cx="2606040" cy="3291840"/>
          </a:xfrm>
          <a:prstGeom prst="roundRect">
            <a:avLst>
              <a:gd name="adj" fmla="val 5000"/>
            </a:avLst>
          </a:prstGeom>
          <a:solidFill>
            <a:srgbClr val="F1F5F9"/>
          </a:solidFill>
          <a:ln>
            <a:noFill/>
          </a:ln>
        </p:spPr>
        <p:txBody>
          <a:bodyPr rtlCol="0" anchor="ctr" lIns="109728" rIns="109728" tIns="54864" bIns="54864"/>
          <a:lstStyle/>
          <a:p>
            <a:pPr algn="ctr"/>
          </a:p>
        </p:txBody>
      </p:sp>
      <p:sp>
        <p:nvSpPr>
          <p:cNvPr id="11" name="TextBox 10"/>
          <p:cNvSpPr txBox="1"/>
          <p:nvPr/>
        </p:nvSpPr>
        <p:spPr>
          <a:xfrm>
            <a:off x="3493008" y="1298448"/>
            <a:ext cx="2194560" cy="457200"/>
          </a:xfrm>
          <a:prstGeom prst="rect">
            <a:avLst/>
          </a:prstGeom>
          <a:noFill/>
        </p:spPr>
        <p:txBody>
          <a:bodyPr wrap="square" lIns="0" rIns="0" tIns="0" bIns="0" anchor="t">
            <a:noAutofit/>
          </a:bodyPr>
          <a:lstStyle/>
          <a:p>
            <a:pPr algn="l"/>
            <a:r>
              <a:rPr sz="2600" b="1" i="0">
                <a:solidFill>
                  <a:srgbClr val="4D7C0F"/>
                </a:solidFill>
                <a:latin typeface="Cambria"/>
              </a:rPr>
              <a:t>2</a:t>
            </a:r>
          </a:p>
        </p:txBody>
      </p:sp>
      <p:sp>
        <p:nvSpPr>
          <p:cNvPr id="12" name="TextBox 11"/>
          <p:cNvSpPr txBox="1"/>
          <p:nvPr/>
        </p:nvSpPr>
        <p:spPr>
          <a:xfrm>
            <a:off x="3493008" y="1783080"/>
            <a:ext cx="2240280" cy="566928"/>
          </a:xfrm>
          <a:prstGeom prst="rect">
            <a:avLst/>
          </a:prstGeom>
          <a:noFill/>
        </p:spPr>
        <p:txBody>
          <a:bodyPr wrap="square" lIns="0" rIns="0" tIns="0" bIns="0" anchor="t">
            <a:noAutofit/>
          </a:bodyPr>
          <a:lstStyle/>
          <a:p>
            <a:pPr algn="l"/>
            <a:r>
              <a:rPr sz="1400" b="1" i="0">
                <a:solidFill>
                  <a:srgbClr val="0F172A"/>
                </a:solidFill>
                <a:latin typeface="Calibri"/>
              </a:rPr>
              <a:t>Mỗi phiên một file SQLite</a:t>
            </a:r>
          </a:p>
        </p:txBody>
      </p:sp>
      <p:sp>
        <p:nvSpPr>
          <p:cNvPr id="13" name="TextBox 12"/>
          <p:cNvSpPr txBox="1"/>
          <p:nvPr/>
        </p:nvSpPr>
        <p:spPr>
          <a:xfrm>
            <a:off x="3493008" y="2450592"/>
            <a:ext cx="2240280" cy="1965960"/>
          </a:xfrm>
          <a:prstGeom prst="rect">
            <a:avLst/>
          </a:prstGeom>
          <a:noFill/>
        </p:spPr>
        <p:txBody>
          <a:bodyPr wrap="square" lIns="0" rIns="0" tIns="0" bIns="0" anchor="t">
            <a:noAutofit/>
          </a:bodyPr>
          <a:lstStyle/>
          <a:p>
            <a:pPr algn="l">
              <a:spcAft>
                <a:spcPts val="600"/>
              </a:spcAft>
            </a:pPr>
            <a:r>
              <a:rPr sz="1300" b="1" i="0">
                <a:solidFill>
                  <a:srgbClr val="4D7C0F"/>
                </a:solidFill>
                <a:latin typeface="Calibri"/>
              </a:rPr>
              <a:t>Được: </a:t>
            </a:r>
            <a:r>
              <a:rPr sz="1300" b="0" i="0">
                <a:solidFill>
                  <a:srgbClr val="334155"/>
                </a:solidFill>
                <a:latin typeface="Calibri"/>
              </a:rPr>
              <a:t>cách ly đơn giản, sao lưu và xóa theo file.</a:t>
            </a:r>
          </a:p>
          <a:p>
            <a:pPr algn="l">
              <a:spcAft>
                <a:spcPts val="600"/>
              </a:spcAft>
            </a:pPr>
            <a:r>
              <a:rPr sz="1300" b="1" i="0">
                <a:solidFill>
                  <a:srgbClr val="BE123C"/>
                </a:solidFill>
                <a:latin typeface="Calibri"/>
              </a:rPr>
              <a:t>Mất: </a:t>
            </a:r>
            <a:r>
              <a:rPr sz="1300" b="0" i="0">
                <a:solidFill>
                  <a:srgbClr val="334155"/>
                </a:solidFill>
                <a:latin typeface="Calibri"/>
              </a:rPr>
              <a:t>chỉ chạy trên một máy, một writer.</a:t>
            </a:r>
          </a:p>
          <a:p>
            <a:pPr algn="l"/>
            <a:r>
              <a:rPr sz="1300" b="1" i="0">
                <a:solidFill>
                  <a:srgbClr val="0F172A"/>
                </a:solidFill>
                <a:latin typeface="Calibri"/>
              </a:rPr>
              <a:t>Khi nào đổi: </a:t>
            </a:r>
            <a:r>
              <a:rPr sz="1300" b="0" i="0">
                <a:solidFill>
                  <a:srgbClr val="334155"/>
                </a:solidFill>
                <a:latin typeface="Calibri"/>
              </a:rPr>
              <a:t>cần hơn một instance thì chuyển PostgreSQL có RLS.</a:t>
            </a:r>
          </a:p>
        </p:txBody>
      </p:sp>
      <p:sp>
        <p:nvSpPr>
          <p:cNvPr id="14" name="Rounded Rectangle 13"/>
          <p:cNvSpPr/>
          <p:nvPr/>
        </p:nvSpPr>
        <p:spPr>
          <a:xfrm>
            <a:off x="6126480" y="1188720"/>
            <a:ext cx="2606040" cy="3291840"/>
          </a:xfrm>
          <a:prstGeom prst="roundRect">
            <a:avLst>
              <a:gd name="adj" fmla="val 5000"/>
            </a:avLst>
          </a:prstGeom>
          <a:solidFill>
            <a:srgbClr val="F1F5F9"/>
          </a:solidFill>
          <a:ln>
            <a:noFill/>
          </a:ln>
        </p:spPr>
        <p:txBody>
          <a:bodyPr rtlCol="0" anchor="ctr" lIns="109728" rIns="109728" tIns="54864" bIns="54864"/>
          <a:lstStyle/>
          <a:p>
            <a:pPr algn="ctr"/>
          </a:p>
        </p:txBody>
      </p:sp>
      <p:sp>
        <p:nvSpPr>
          <p:cNvPr id="15" name="TextBox 14"/>
          <p:cNvSpPr txBox="1"/>
          <p:nvPr/>
        </p:nvSpPr>
        <p:spPr>
          <a:xfrm>
            <a:off x="6327648" y="1298448"/>
            <a:ext cx="2194560" cy="457200"/>
          </a:xfrm>
          <a:prstGeom prst="rect">
            <a:avLst/>
          </a:prstGeom>
          <a:noFill/>
        </p:spPr>
        <p:txBody>
          <a:bodyPr wrap="square" lIns="0" rIns="0" tIns="0" bIns="0" anchor="t">
            <a:noAutofit/>
          </a:bodyPr>
          <a:lstStyle/>
          <a:p>
            <a:pPr algn="l"/>
            <a:r>
              <a:rPr sz="2600" b="1" i="0">
                <a:solidFill>
                  <a:srgbClr val="4D7C0F"/>
                </a:solidFill>
                <a:latin typeface="Cambria"/>
              </a:rPr>
              <a:t>3</a:t>
            </a:r>
          </a:p>
        </p:txBody>
      </p:sp>
      <p:sp>
        <p:nvSpPr>
          <p:cNvPr id="16" name="TextBox 15"/>
          <p:cNvSpPr txBox="1"/>
          <p:nvPr/>
        </p:nvSpPr>
        <p:spPr>
          <a:xfrm>
            <a:off x="6327648" y="1783080"/>
            <a:ext cx="2240280" cy="566928"/>
          </a:xfrm>
          <a:prstGeom prst="rect">
            <a:avLst/>
          </a:prstGeom>
          <a:noFill/>
        </p:spPr>
        <p:txBody>
          <a:bodyPr wrap="square" lIns="0" rIns="0" tIns="0" bIns="0" anchor="t">
            <a:noAutofit/>
          </a:bodyPr>
          <a:lstStyle/>
          <a:p>
            <a:pPr algn="l"/>
            <a:r>
              <a:rPr sz="1400" b="1" i="0">
                <a:solidFill>
                  <a:srgbClr val="0F172A"/>
                </a:solidFill>
                <a:latin typeface="Calibri"/>
              </a:rPr>
              <a:t>Gọi Vision đồng bộ qua bên thứ ba</a:t>
            </a:r>
          </a:p>
        </p:txBody>
      </p:sp>
      <p:sp>
        <p:nvSpPr>
          <p:cNvPr id="17" name="TextBox 16"/>
          <p:cNvSpPr txBox="1"/>
          <p:nvPr/>
        </p:nvSpPr>
        <p:spPr>
          <a:xfrm>
            <a:off x="6327648" y="2450592"/>
            <a:ext cx="2240280" cy="1965960"/>
          </a:xfrm>
          <a:prstGeom prst="rect">
            <a:avLst/>
          </a:prstGeom>
          <a:noFill/>
        </p:spPr>
        <p:txBody>
          <a:bodyPr wrap="square" lIns="0" rIns="0" tIns="0" bIns="0" anchor="t">
            <a:noAutofit/>
          </a:bodyPr>
          <a:lstStyle/>
          <a:p>
            <a:pPr algn="l">
              <a:spcAft>
                <a:spcPts val="600"/>
              </a:spcAft>
            </a:pPr>
            <a:r>
              <a:rPr sz="1300" b="1" i="0">
                <a:solidFill>
                  <a:srgbClr val="4D7C0F"/>
                </a:solidFill>
                <a:latin typeface="Calibri"/>
              </a:rPr>
              <a:t>Được: </a:t>
            </a:r>
            <a:r>
              <a:rPr sz="1300" b="0" i="0">
                <a:solidFill>
                  <a:srgbClr val="334155"/>
                </a:solidFill>
                <a:latin typeface="Calibri"/>
              </a:rPr>
              <a:t>đơn giản, nhanh ra demo.</a:t>
            </a:r>
          </a:p>
          <a:p>
            <a:pPr algn="l">
              <a:spcAft>
                <a:spcPts val="600"/>
              </a:spcAft>
            </a:pPr>
            <a:r>
              <a:rPr sz="1300" b="1" i="0">
                <a:solidFill>
                  <a:srgbClr val="BE123C"/>
                </a:solidFill>
                <a:latin typeface="Calibri"/>
              </a:rPr>
              <a:t>Mất: </a:t>
            </a:r>
            <a:r>
              <a:rPr sz="1300" b="0" i="0">
                <a:solidFill>
                  <a:srgbClr val="334155"/>
                </a:solidFill>
                <a:latin typeface="Calibri"/>
              </a:rPr>
              <a:t>ảnh đi ra nước ngoài; request có thể chờ tới 35 giây.</a:t>
            </a:r>
          </a:p>
          <a:p>
            <a:pPr algn="l"/>
            <a:r>
              <a:rPr sz="1300" b="1" i="0">
                <a:solidFill>
                  <a:srgbClr val="0F172A"/>
                </a:solidFill>
                <a:latin typeface="Calibri"/>
              </a:rPr>
              <a:t>Khi nào đổi: </a:t>
            </a:r>
            <a:r>
              <a:rPr sz="1300" b="0" i="0">
                <a:solidFill>
                  <a:srgbClr val="334155"/>
                </a:solidFill>
                <a:latin typeface="Calibri"/>
              </a:rPr>
              <a:t>có khách thật: hợp đồng xử lý dữ liệu hoặc chỉ XML.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CÂU HỎI 2 · TỪ DEMO LÊN PRODUCTION</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Lộ trình D0, 30 ngày, 90 ngày</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14</a:t>
            </a:r>
          </a:p>
        </p:txBody>
      </p:sp>
      <p:cxnSp>
        <p:nvCxnSpPr>
          <p:cNvPr id="6" name="Connector 5"/>
          <p:cNvCxnSpPr/>
          <p:nvPr/>
        </p:nvCxnSpPr>
        <p:spPr>
          <a:xfrm>
            <a:off x="548640" y="1481328"/>
            <a:ext cx="8046720" cy="0"/>
          </a:xfrm>
          <a:prstGeom prst="line">
            <a:avLst/>
          </a:prstGeom>
          <a:ln w="25400">
            <a:solidFill>
              <a:srgbClr val="CBD5E1"/>
            </a:solidFill>
            <a:tailEnd type="triangle" w="med" len="med"/>
          </a:ln>
        </p:spPr>
      </p:cxnSp>
      <p:sp>
        <p:nvSpPr>
          <p:cNvPr id="7" name="Oval 6"/>
          <p:cNvSpPr/>
          <p:nvPr/>
        </p:nvSpPr>
        <p:spPr>
          <a:xfrm>
            <a:off x="502920" y="1344168"/>
            <a:ext cx="274320" cy="274320"/>
          </a:xfrm>
          <a:prstGeom prst="ellipse">
            <a:avLst/>
          </a:prstGeom>
          <a:solidFill>
            <a:srgbClr val="4D7C0F"/>
          </a:solidFill>
          <a:ln>
            <a:noFill/>
          </a:ln>
        </p:spPr>
        <p:txBody>
          <a:bodyPr rtlCol="0" anchor="ctr" lIns="0" rIns="0" tIns="0" bIns="0" wrap="square">
            <a:noAutofit/>
          </a:bodyPr>
          <a:lstStyle/>
          <a:p>
            <a:pPr algn="ctr"/>
            <a:r>
              <a:rPr sz="1200" b="1" i="0">
                <a:solidFill>
                  <a:srgbClr val="FFFFFF"/>
                </a:solidFill>
                <a:latin typeface="Calibri"/>
              </a:rPr>
              <a:t/>
            </a:r>
          </a:p>
        </p:txBody>
      </p:sp>
      <p:sp>
        <p:nvSpPr>
          <p:cNvPr id="8" name="Rectangle 7"/>
          <p:cNvSpPr/>
          <p:nvPr/>
        </p:nvSpPr>
        <p:spPr>
          <a:xfrm>
            <a:off x="822960" y="1298448"/>
            <a:ext cx="1325880" cy="365760"/>
          </a:xfrm>
          <a:prstGeom prst="rect">
            <a:avLst/>
          </a:prstGeom>
          <a:solidFill>
            <a:srgbClr val="FFFFFF"/>
          </a:solidFill>
          <a:ln>
            <a:noFill/>
          </a:ln>
        </p:spPr>
        <p:txBody>
          <a:bodyPr rtlCol="0" anchor="ctr" lIns="45720" rIns="45720" wrap="square">
            <a:noAutofit/>
          </a:bodyPr>
          <a:lstStyle/>
          <a:p>
            <a:pPr algn="l"/>
            <a:r>
              <a:rPr sz="1400" b="1" i="0">
                <a:solidFill>
                  <a:srgbClr val="0F172A"/>
                </a:solidFill>
                <a:latin typeface="Calibri"/>
              </a:rPr>
              <a:t>D0 · đã có</a:t>
            </a:r>
          </a:p>
        </p:txBody>
      </p:sp>
      <p:sp>
        <p:nvSpPr>
          <p:cNvPr id="9" name="Rounded Rectangle 8"/>
          <p:cNvSpPr/>
          <p:nvPr/>
        </p:nvSpPr>
        <p:spPr>
          <a:xfrm>
            <a:off x="457200" y="1810512"/>
            <a:ext cx="2606040" cy="1600200"/>
          </a:xfrm>
          <a:prstGeom prst="roundRect">
            <a:avLst>
              <a:gd name="adj" fmla="val 8000"/>
            </a:avLst>
          </a:prstGeom>
          <a:solidFill>
            <a:srgbClr val="ECFCCB"/>
          </a:solidFill>
          <a:ln>
            <a:noFill/>
          </a:ln>
        </p:spPr>
        <p:txBody>
          <a:bodyPr rtlCol="0" anchor="t" lIns="164592" rIns="164592" tIns="54864" bIns="54864" wrap="square">
            <a:noAutofit/>
          </a:bodyPr>
          <a:lstStyle/>
          <a:p>
            <a:pPr algn="l"/>
            <a:r>
              <a:rPr sz="1300" b="0" i="0">
                <a:solidFill>
                  <a:srgbClr val="334155"/>
                </a:solidFill>
                <a:latin typeface="Calibri"/>
              </a:rPr>
              <a:t>Vision chỉ 14 trường, bánh cóc thẩm quyền, ngân sách AI, /trust. Hôm nay: lô có người chốt.</a:t>
            </a:r>
          </a:p>
        </p:txBody>
      </p:sp>
      <p:sp>
        <p:nvSpPr>
          <p:cNvPr id="10" name="Oval 9"/>
          <p:cNvSpPr/>
          <p:nvPr/>
        </p:nvSpPr>
        <p:spPr>
          <a:xfrm>
            <a:off x="3337560" y="1344168"/>
            <a:ext cx="274320" cy="274320"/>
          </a:xfrm>
          <a:prstGeom prst="ellipse">
            <a:avLst/>
          </a:prstGeom>
          <a:solidFill>
            <a:srgbClr val="0F172A"/>
          </a:solidFill>
          <a:ln>
            <a:noFill/>
          </a:ln>
        </p:spPr>
        <p:txBody>
          <a:bodyPr rtlCol="0" anchor="ctr" lIns="0" rIns="0" tIns="0" bIns="0" wrap="square">
            <a:noAutofit/>
          </a:bodyPr>
          <a:lstStyle/>
          <a:p>
            <a:pPr algn="ctr"/>
            <a:r>
              <a:rPr sz="1200" b="1" i="0">
                <a:solidFill>
                  <a:srgbClr val="FFFFFF"/>
                </a:solidFill>
                <a:latin typeface="Calibri"/>
              </a:rPr>
              <a:t/>
            </a:r>
          </a:p>
        </p:txBody>
      </p:sp>
      <p:sp>
        <p:nvSpPr>
          <p:cNvPr id="11" name="Rectangle 10"/>
          <p:cNvSpPr/>
          <p:nvPr/>
        </p:nvSpPr>
        <p:spPr>
          <a:xfrm>
            <a:off x="3657600" y="1298448"/>
            <a:ext cx="1325880" cy="365760"/>
          </a:xfrm>
          <a:prstGeom prst="rect">
            <a:avLst/>
          </a:prstGeom>
          <a:solidFill>
            <a:srgbClr val="FFFFFF"/>
          </a:solidFill>
          <a:ln>
            <a:noFill/>
          </a:ln>
        </p:spPr>
        <p:txBody>
          <a:bodyPr rtlCol="0" anchor="ctr" lIns="45720" rIns="45720" wrap="square">
            <a:noAutofit/>
          </a:bodyPr>
          <a:lstStyle/>
          <a:p>
            <a:pPr algn="l"/>
            <a:r>
              <a:rPr sz="1400" b="1" i="0">
                <a:solidFill>
                  <a:srgbClr val="0F172A"/>
                </a:solidFill>
                <a:latin typeface="Calibri"/>
              </a:rPr>
              <a:t>30 ngày</a:t>
            </a:r>
          </a:p>
        </p:txBody>
      </p:sp>
      <p:sp>
        <p:nvSpPr>
          <p:cNvPr id="12" name="Rounded Rectangle 11"/>
          <p:cNvSpPr/>
          <p:nvPr/>
        </p:nvSpPr>
        <p:spPr>
          <a:xfrm>
            <a:off x="3291840" y="1810512"/>
            <a:ext cx="2606040" cy="1600200"/>
          </a:xfrm>
          <a:prstGeom prst="roundRect">
            <a:avLst>
              <a:gd name="adj" fmla="val 8000"/>
            </a:avLst>
          </a:prstGeom>
          <a:solidFill>
            <a:srgbClr val="F1F5F9"/>
          </a:solidFill>
          <a:ln>
            <a:noFill/>
          </a:ln>
        </p:spPr>
        <p:txBody>
          <a:bodyPr rtlCol="0" anchor="t" lIns="164592" rIns="164592" tIns="54864" bIns="54864" wrap="square">
            <a:noAutofit/>
          </a:bodyPr>
          <a:lstStyle/>
          <a:p>
            <a:pPr algn="l"/>
            <a:r>
              <a:rPr sz="1300" b="0" i="0">
                <a:solidFill>
                  <a:srgbClr val="334155"/>
                </a:solidFill>
                <a:latin typeface="Calibri"/>
              </a:rPr>
              <a:t>SSO, MFA cho CFO. Worker đọc file trong container không mạng, không secret. Hàng đợi. Khóa audit vào KMS.</a:t>
            </a:r>
          </a:p>
        </p:txBody>
      </p:sp>
      <p:sp>
        <p:nvSpPr>
          <p:cNvPr id="13" name="Oval 12"/>
          <p:cNvSpPr/>
          <p:nvPr/>
        </p:nvSpPr>
        <p:spPr>
          <a:xfrm>
            <a:off x="6172200" y="1344168"/>
            <a:ext cx="274320" cy="274320"/>
          </a:xfrm>
          <a:prstGeom prst="ellipse">
            <a:avLst/>
          </a:prstGeom>
          <a:solidFill>
            <a:srgbClr val="0F172A"/>
          </a:solidFill>
          <a:ln>
            <a:noFill/>
          </a:ln>
        </p:spPr>
        <p:txBody>
          <a:bodyPr rtlCol="0" anchor="ctr" lIns="0" rIns="0" tIns="0" bIns="0" wrap="square">
            <a:noAutofit/>
          </a:bodyPr>
          <a:lstStyle/>
          <a:p>
            <a:pPr algn="ctr"/>
            <a:r>
              <a:rPr sz="1200" b="1" i="0">
                <a:solidFill>
                  <a:srgbClr val="FFFFFF"/>
                </a:solidFill>
                <a:latin typeface="Calibri"/>
              </a:rPr>
              <a:t/>
            </a:r>
          </a:p>
        </p:txBody>
      </p:sp>
      <p:sp>
        <p:nvSpPr>
          <p:cNvPr id="14" name="Rectangle 13"/>
          <p:cNvSpPr/>
          <p:nvPr/>
        </p:nvSpPr>
        <p:spPr>
          <a:xfrm>
            <a:off x="6492240" y="1298448"/>
            <a:ext cx="1325880" cy="365760"/>
          </a:xfrm>
          <a:prstGeom prst="rect">
            <a:avLst/>
          </a:prstGeom>
          <a:solidFill>
            <a:srgbClr val="FFFFFF"/>
          </a:solidFill>
          <a:ln>
            <a:noFill/>
          </a:ln>
        </p:spPr>
        <p:txBody>
          <a:bodyPr rtlCol="0" anchor="ctr" lIns="45720" rIns="45720" wrap="square">
            <a:noAutofit/>
          </a:bodyPr>
          <a:lstStyle/>
          <a:p>
            <a:pPr algn="l"/>
            <a:r>
              <a:rPr sz="1400" b="1" i="0">
                <a:solidFill>
                  <a:srgbClr val="0F172A"/>
                </a:solidFill>
                <a:latin typeface="Calibri"/>
              </a:rPr>
              <a:t>90 ngày</a:t>
            </a:r>
          </a:p>
        </p:txBody>
      </p:sp>
      <p:sp>
        <p:nvSpPr>
          <p:cNvPr id="15" name="Rounded Rectangle 14"/>
          <p:cNvSpPr/>
          <p:nvPr/>
        </p:nvSpPr>
        <p:spPr>
          <a:xfrm>
            <a:off x="6126480" y="1810512"/>
            <a:ext cx="2606040" cy="1600200"/>
          </a:xfrm>
          <a:prstGeom prst="roundRect">
            <a:avLst>
              <a:gd name="adj" fmla="val 8000"/>
            </a:avLst>
          </a:prstGeom>
          <a:solidFill>
            <a:srgbClr val="F1F5F9"/>
          </a:solidFill>
          <a:ln>
            <a:noFill/>
          </a:ln>
        </p:spPr>
        <p:txBody>
          <a:bodyPr rtlCol="0" anchor="t" lIns="164592" rIns="164592" tIns="54864" bIns="54864" wrap="square">
            <a:noAutofit/>
          </a:bodyPr>
          <a:lstStyle/>
          <a:p>
            <a:pPr algn="l"/>
            <a:r>
              <a:rPr sz="1300" b="0" i="0">
                <a:solidFill>
                  <a:srgbClr val="334155"/>
                </a:solidFill>
                <a:latin typeface="Calibri"/>
              </a:rPr>
              <a:t>XML có chữ ký số là nguồn sự thật, đối chiếu dữ liệu hóa đơn điện tử của cơ quan thuế. PostgreSQL đa tenant.</a:t>
            </a:r>
          </a:p>
        </p:txBody>
      </p:sp>
      <p:sp>
        <p:nvSpPr>
          <p:cNvPr id="16" name="Rounded Rectangle 15"/>
          <p:cNvSpPr/>
          <p:nvPr/>
        </p:nvSpPr>
        <p:spPr>
          <a:xfrm>
            <a:off x="457200" y="3584448"/>
            <a:ext cx="8229600" cy="548640"/>
          </a:xfrm>
          <a:prstGeom prst="roundRect">
            <a:avLst>
              <a:gd name="adj" fmla="val 8000"/>
            </a:avLst>
          </a:prstGeom>
          <a:solidFill>
            <a:srgbClr val="FFFFFF"/>
          </a:solidFill>
          <a:ln w="12700">
            <a:solidFill>
              <a:srgbClr val="CBD5E1"/>
            </a:solidFill>
          </a:ln>
        </p:spPr>
        <p:txBody>
          <a:bodyPr rtlCol="0" anchor="ctr" lIns="182880" rIns="182880" tIns="54864" bIns="54864" wrap="square">
            <a:noAutofit/>
          </a:bodyPr>
          <a:lstStyle/>
          <a:p>
            <a:pPr algn="l"/>
            <a:r>
              <a:rPr sz="1200" b="1" i="0">
                <a:solidFill>
                  <a:srgbClr val="0F172A"/>
                </a:solidFill>
                <a:latin typeface="Calibri"/>
              </a:rPr>
              <a:t>Trên VNG Cloud: </a:t>
            </a:r>
            <a:r>
              <a:rPr sz="1200" b="0" i="0">
                <a:solidFill>
                  <a:srgbClr val="334155"/>
                </a:solidFill>
                <a:latin typeface="Calibri"/>
              </a:rPr>
              <a:t>VKS + vLB + vWAF · vDB PostgreSQL Cluster · vStorage có Object Lock · KMS · IAM · vMonitor</a:t>
            </a:r>
          </a:p>
        </p:txBody>
      </p:sp>
      <p:sp>
        <p:nvSpPr>
          <p:cNvPr id="17" name="TextBox 16"/>
          <p:cNvSpPr txBox="1"/>
          <p:nvPr/>
        </p:nvSpPr>
        <p:spPr>
          <a:xfrm>
            <a:off x="457200" y="4224528"/>
            <a:ext cx="8229600" cy="274320"/>
          </a:xfrm>
          <a:prstGeom prst="rect">
            <a:avLst/>
          </a:prstGeom>
          <a:noFill/>
        </p:spPr>
        <p:txBody>
          <a:bodyPr wrap="square" lIns="0" rIns="0" tIns="0" bIns="0" anchor="t">
            <a:noAutofit/>
          </a:bodyPr>
          <a:lstStyle/>
          <a:p>
            <a:pPr algn="l"/>
            <a:r>
              <a:rPr sz="950" b="0" i="1">
                <a:solidFill>
                  <a:srgbClr val="64748B"/>
                </a:solidFill>
                <a:latin typeface="Calibri"/>
              </a:rPr>
              <a:t>Dịch vụ VNG Cloud lấy từ tài liệu của nhà cung cấp, cần VNG xác nhận trước khi dùng.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RIÊNG TƯ VÀ PHÁP LUẬT</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Dữ liệu đi đâu, và không đi đâu</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15</a:t>
            </a:r>
          </a:p>
        </p:txBody>
      </p:sp>
      <p:sp>
        <p:nvSpPr>
          <p:cNvPr id="6" name="Rounded Rectangle 5"/>
          <p:cNvSpPr/>
          <p:nvPr/>
        </p:nvSpPr>
        <p:spPr>
          <a:xfrm>
            <a:off x="457200" y="1325880"/>
            <a:ext cx="1234440" cy="548640"/>
          </a:xfrm>
          <a:prstGeom prst="roundRect">
            <a:avLst>
              <a:gd name="adj" fmla="val 8000"/>
            </a:avLst>
          </a:prstGeom>
          <a:solidFill>
            <a:srgbClr val="F1F5F9"/>
          </a:solidFill>
          <a:ln>
            <a:noFill/>
          </a:ln>
        </p:spPr>
        <p:txBody>
          <a:bodyPr rtlCol="0" anchor="ctr" lIns="109728" rIns="109728" tIns="54864" bIns="54864" wrap="square">
            <a:noAutofit/>
          </a:bodyPr>
          <a:lstStyle/>
          <a:p>
            <a:pPr algn="ctr"/>
            <a:r>
              <a:rPr sz="1300" b="1" i="0">
                <a:solidFill>
                  <a:srgbClr val="0F172A"/>
                </a:solidFill>
                <a:latin typeface="Calibri"/>
              </a:rPr>
              <a:t>File XML</a:t>
            </a:r>
          </a:p>
        </p:txBody>
      </p:sp>
      <p:sp>
        <p:nvSpPr>
          <p:cNvPr id="7" name="Rounded Rectangle 6"/>
          <p:cNvSpPr/>
          <p:nvPr/>
        </p:nvSpPr>
        <p:spPr>
          <a:xfrm>
            <a:off x="457200" y="2331720"/>
            <a:ext cx="1234440" cy="548640"/>
          </a:xfrm>
          <a:prstGeom prst="roundRect">
            <a:avLst>
              <a:gd name="adj" fmla="val 8000"/>
            </a:avLst>
          </a:prstGeom>
          <a:solidFill>
            <a:srgbClr val="F1F5F9"/>
          </a:solidFill>
          <a:ln>
            <a:noFill/>
          </a:ln>
        </p:spPr>
        <p:txBody>
          <a:bodyPr rtlCol="0" anchor="ctr" lIns="36576" rIns="36576" tIns="36576" bIns="36576" wrap="square">
            <a:noAutofit/>
          </a:bodyPr>
          <a:lstStyle/>
          <a:p>
            <a:pPr algn="ctr"/>
            <a:r>
              <a:rPr sz="1300" b="1" i="0">
                <a:solidFill>
                  <a:srgbClr val="0F172A"/>
                </a:solidFill>
                <a:latin typeface="Calibri"/>
              </a:rPr>
              <a:t>Ảnh, PDF scan</a:t>
            </a:r>
          </a:p>
        </p:txBody>
      </p:sp>
      <p:sp>
        <p:nvSpPr>
          <p:cNvPr id="8" name="Rounded Rectangle 7"/>
          <p:cNvSpPr/>
          <p:nvPr/>
        </p:nvSpPr>
        <p:spPr>
          <a:xfrm>
            <a:off x="2103120" y="2240280"/>
            <a:ext cx="1600200" cy="731520"/>
          </a:xfrm>
          <a:prstGeom prst="roundRect">
            <a:avLst>
              <a:gd name="adj" fmla="val 8000"/>
            </a:avLst>
          </a:prstGeom>
          <a:solidFill>
            <a:srgbClr val="FEF3C7"/>
          </a:solidFill>
          <a:ln>
            <a:noFill/>
          </a:ln>
        </p:spPr>
        <p:txBody>
          <a:bodyPr rtlCol="0" anchor="ctr" lIns="45720" rIns="45720" wrap="square">
            <a:noAutofit/>
          </a:bodyPr>
          <a:lstStyle/>
          <a:p>
            <a:pPr algn="ctr"/>
            <a:r>
              <a:rPr sz="1300" b="1" i="0">
                <a:solidFill>
                  <a:srgbClr val="B45309"/>
                </a:solidFill>
                <a:latin typeface="Calibri"/>
              </a:rPr>
              <a:t>Vision AI</a:t>
            </a:r>
          </a:p>
          <a:p>
            <a:pPr algn="ctr"/>
            <a:r>
              <a:rPr sz="1050" b="0" i="0">
                <a:solidFill>
                  <a:srgbClr val="B45309"/>
                </a:solidFill>
                <a:latin typeface="Calibri"/>
              </a:rPr>
              <a:t>bên thứ ba, ở nước ngoài</a:t>
            </a:r>
          </a:p>
        </p:txBody>
      </p:sp>
      <p:sp>
        <p:nvSpPr>
          <p:cNvPr id="9" name="Rounded Rectangle 8"/>
          <p:cNvSpPr/>
          <p:nvPr/>
        </p:nvSpPr>
        <p:spPr>
          <a:xfrm>
            <a:off x="4114800" y="1325880"/>
            <a:ext cx="1188720" cy="1554480"/>
          </a:xfrm>
          <a:prstGeom prst="roundRect">
            <a:avLst>
              <a:gd name="adj" fmla="val 8000"/>
            </a:avLst>
          </a:prstGeom>
          <a:solidFill>
            <a:srgbClr val="0F172A"/>
          </a:solidFill>
          <a:ln>
            <a:noFill/>
          </a:ln>
        </p:spPr>
        <p:txBody>
          <a:bodyPr rtlCol="0" anchor="ctr" lIns="45720" rIns="45720" wrap="square">
            <a:noAutofit/>
          </a:bodyPr>
          <a:lstStyle/>
          <a:p>
            <a:pPr algn="ctr"/>
            <a:r>
              <a:rPr sz="1300" b="1" i="0">
                <a:solidFill>
                  <a:srgbClr val="FFFFFF"/>
                </a:solidFill>
                <a:latin typeface="Calibri"/>
              </a:rPr>
              <a:t>Bộ quy tắc</a:t>
            </a:r>
          </a:p>
        </p:txBody>
      </p:sp>
      <p:cxnSp>
        <p:nvCxnSpPr>
          <p:cNvPr id="10" name="Connector 9"/>
          <p:cNvCxnSpPr/>
          <p:nvPr/>
        </p:nvCxnSpPr>
        <p:spPr>
          <a:xfrm>
            <a:off x="1737360" y="1600200"/>
            <a:ext cx="2331720" cy="0"/>
          </a:xfrm>
          <a:prstGeom prst="line">
            <a:avLst/>
          </a:prstGeom>
          <a:ln w="22225">
            <a:solidFill>
              <a:srgbClr val="4D7C0F"/>
            </a:solidFill>
            <a:tailEnd type="triangle" w="med" len="med"/>
          </a:ln>
        </p:spPr>
      </p:cxnSp>
      <p:sp>
        <p:nvSpPr>
          <p:cNvPr id="11" name="TextBox 10"/>
          <p:cNvSpPr txBox="1"/>
          <p:nvPr/>
        </p:nvSpPr>
        <p:spPr>
          <a:xfrm>
            <a:off x="1828800" y="1280160"/>
            <a:ext cx="2194560" cy="274320"/>
          </a:xfrm>
          <a:prstGeom prst="rect">
            <a:avLst/>
          </a:prstGeom>
          <a:noFill/>
        </p:spPr>
        <p:txBody>
          <a:bodyPr wrap="square" lIns="0" rIns="0" tIns="0" bIns="0" anchor="t">
            <a:noAutofit/>
          </a:bodyPr>
          <a:lstStyle/>
          <a:p>
            <a:pPr algn="ctr"/>
            <a:r>
              <a:rPr sz="1100" b="1" i="0">
                <a:solidFill>
                  <a:srgbClr val="4D7C0F"/>
                </a:solidFill>
                <a:latin typeface="Calibri"/>
              </a:rPr>
              <a:t>không qua AI</a:t>
            </a:r>
          </a:p>
        </p:txBody>
      </p:sp>
      <p:cxnSp>
        <p:nvCxnSpPr>
          <p:cNvPr id="12" name="Connector 11"/>
          <p:cNvCxnSpPr/>
          <p:nvPr/>
        </p:nvCxnSpPr>
        <p:spPr>
          <a:xfrm>
            <a:off x="1737360" y="2606040"/>
            <a:ext cx="320040" cy="0"/>
          </a:xfrm>
          <a:prstGeom prst="line">
            <a:avLst/>
          </a:prstGeom>
          <a:ln w="19050">
            <a:solidFill>
              <a:srgbClr val="94A3B8"/>
            </a:solidFill>
            <a:tailEnd type="triangle" w="med" len="med"/>
          </a:ln>
        </p:spPr>
      </p:cxnSp>
      <p:cxnSp>
        <p:nvCxnSpPr>
          <p:cNvPr id="13" name="Connector 12"/>
          <p:cNvCxnSpPr/>
          <p:nvPr/>
        </p:nvCxnSpPr>
        <p:spPr>
          <a:xfrm>
            <a:off x="3749039" y="2606040"/>
            <a:ext cx="320041" cy="0"/>
          </a:xfrm>
          <a:prstGeom prst="line">
            <a:avLst/>
          </a:prstGeom>
          <a:ln w="19050">
            <a:solidFill>
              <a:srgbClr val="94A3B8"/>
            </a:solidFill>
            <a:tailEnd type="triangle" w="med" len="med"/>
          </a:ln>
        </p:spPr>
      </p:cxnSp>
      <p:sp>
        <p:nvSpPr>
          <p:cNvPr id="14" name="TextBox 13"/>
          <p:cNvSpPr txBox="1"/>
          <p:nvPr/>
        </p:nvSpPr>
        <p:spPr>
          <a:xfrm>
            <a:off x="2103120" y="3017520"/>
            <a:ext cx="1600200" cy="274320"/>
          </a:xfrm>
          <a:prstGeom prst="rect">
            <a:avLst/>
          </a:prstGeom>
          <a:noFill/>
        </p:spPr>
        <p:txBody>
          <a:bodyPr wrap="square" lIns="0" rIns="0" tIns="0" bIns="0" anchor="t">
            <a:noAutofit/>
          </a:bodyPr>
          <a:lstStyle/>
          <a:p>
            <a:pPr algn="ctr"/>
            <a:r>
              <a:rPr sz="1100" b="1" i="0">
                <a:solidFill>
                  <a:srgbClr val="B45309"/>
                </a:solidFill>
                <a:latin typeface="Calibri"/>
              </a:rPr>
              <a:t>chỉ 14 trường</a:t>
            </a:r>
          </a:p>
        </p:txBody>
      </p:sp>
      <p:sp>
        <p:nvSpPr>
          <p:cNvPr id="15" name="TextBox 14"/>
          <p:cNvSpPr txBox="1"/>
          <p:nvPr/>
        </p:nvSpPr>
        <p:spPr>
          <a:xfrm>
            <a:off x="457200" y="3474720"/>
            <a:ext cx="4846320" cy="1005840"/>
          </a:xfrm>
          <a:prstGeom prst="rect">
            <a:avLst/>
          </a:prstGeom>
          <a:noFill/>
        </p:spPr>
        <p:txBody>
          <a:bodyPr wrap="square" lIns="0" rIns="0" tIns="0" bIns="0" anchor="t">
            <a:noAutofit/>
          </a:bodyPr>
          <a:lstStyle/>
          <a:p>
            <a:pPr algn="l">
              <a:spcAft>
                <a:spcPts val="400"/>
              </a:spcAft>
            </a:pPr>
            <a:r>
              <a:rPr sz="1300" b="1" i="0">
                <a:solidFill>
                  <a:srgbClr val="0F172A"/>
                </a:solidFill>
                <a:latin typeface="Calibri"/>
              </a:rPr>
              <a:t>Chế độ chỉ XML: </a:t>
            </a:r>
            <a:r>
              <a:rPr sz="1300" b="0" i="0">
                <a:solidFill>
                  <a:srgbClr val="334155"/>
                </a:solidFill>
                <a:latin typeface="Calibri"/>
              </a:rPr>
              <a:t>không gửi gì cho AI.</a:t>
            </a:r>
          </a:p>
          <a:p>
            <a:pPr algn="l"/>
            <a:r>
              <a:rPr sz="1300" b="0" i="0">
                <a:solidFill>
                  <a:srgbClr val="334155"/>
                </a:solidFill>
                <a:latin typeface="Calibri"/>
              </a:rPr>
              <a:t>Mỗi phiên một database riêng; nhật ký chỉ ghi thêm.</a:t>
            </a:r>
          </a:p>
        </p:txBody>
      </p:sp>
      <p:sp>
        <p:nvSpPr>
          <p:cNvPr id="16" name="Rounded Rectangle 15"/>
          <p:cNvSpPr/>
          <p:nvPr/>
        </p:nvSpPr>
        <p:spPr>
          <a:xfrm>
            <a:off x="5669280" y="1234440"/>
            <a:ext cx="3017520" cy="2834640"/>
          </a:xfrm>
          <a:prstGeom prst="roundRect">
            <a:avLst>
              <a:gd name="adj" fmla="val 8000"/>
            </a:avLst>
          </a:prstGeom>
          <a:solidFill>
            <a:srgbClr val="F1F5F9"/>
          </a:solidFill>
          <a:ln>
            <a:noFill/>
          </a:ln>
        </p:spPr>
        <p:txBody>
          <a:bodyPr rtlCol="0" anchor="t" lIns="201168" rIns="201168" tIns="54864" bIns="54864" wrap="square">
            <a:noAutofit/>
          </a:bodyPr>
          <a:lstStyle/>
          <a:p>
            <a:pPr algn="l">
              <a:spcAft>
                <a:spcPts val="600"/>
              </a:spcAft>
            </a:pPr>
            <a:r>
              <a:rPr sz="1400" b="1" i="0">
                <a:solidFill>
                  <a:srgbClr val="0F172A"/>
                </a:solidFill>
                <a:latin typeface="Calibri"/>
              </a:rPr>
              <a:t>Pháp luật</a:t>
            </a:r>
          </a:p>
          <a:p>
            <a:pPr algn="l">
              <a:spcAft>
                <a:spcPts val="600"/>
              </a:spcAft>
            </a:pPr>
            <a:r>
              <a:rPr sz="1300" b="0" i="0">
                <a:solidFill>
                  <a:srgbClr val="334155"/>
                </a:solidFill>
                <a:latin typeface="Calibri"/>
              </a:rPr>
              <a:t>Luật Bảo vệ dữ liệu cá nhân 91/2025/QH15 và Nghị định 356/2025/NĐ-CP.</a:t>
            </a:r>
          </a:p>
          <a:p>
            <a:pPr algn="l">
              <a:spcAft>
                <a:spcPts val="600"/>
              </a:spcAft>
            </a:pPr>
            <a:r>
              <a:rPr sz="1300" b="0" i="0">
                <a:solidFill>
                  <a:srgbClr val="334155"/>
                </a:solidFill>
                <a:latin typeface="Calibri"/>
              </a:rPr>
              <a:t>Đã đối chiếu qua nguồn thứ cấp, nên chưa trích số điều.</a:t>
            </a:r>
          </a:p>
          <a:p>
            <a:pPr algn="l"/>
            <a:r>
              <a:rPr sz="1300" b="1" i="0">
                <a:solidFill>
                  <a:srgbClr val="0F172A"/>
                </a:solidFill>
                <a:latin typeface="Calibri"/>
              </a:rPr>
              <a:t>Lên production: </a:t>
            </a:r>
            <a:r>
              <a:rPr sz="1300" b="0" i="0">
                <a:solidFill>
                  <a:srgbClr val="334155"/>
                </a:solidFill>
                <a:latin typeface="Calibri"/>
              </a:rPr>
              <a:t>hợp đồng xử lý dữ liệu với nhà cung cấp AI, hoặc chạy chỉ XML.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SỐ ĐO</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Đo được gì, và đo trên cái gì</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16</a:t>
            </a:r>
          </a:p>
        </p:txBody>
      </p:sp>
      <p:sp>
        <p:nvSpPr>
          <p:cNvPr id="6" name="Rounded Rectangle 5"/>
          <p:cNvSpPr/>
          <p:nvPr/>
        </p:nvSpPr>
        <p:spPr>
          <a:xfrm>
            <a:off x="457200" y="118872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7" name="TextBox 6"/>
          <p:cNvSpPr txBox="1"/>
          <p:nvPr/>
        </p:nvSpPr>
        <p:spPr>
          <a:xfrm>
            <a:off x="658368" y="1298448"/>
            <a:ext cx="2240280" cy="548640"/>
          </a:xfrm>
          <a:prstGeom prst="rect">
            <a:avLst/>
          </a:prstGeom>
          <a:noFill/>
        </p:spPr>
        <p:txBody>
          <a:bodyPr wrap="square" lIns="0" rIns="0" tIns="0" bIns="0" anchor="t">
            <a:noAutofit/>
          </a:bodyPr>
          <a:lstStyle/>
          <a:p>
            <a:pPr algn="l"/>
            <a:r>
              <a:rPr sz="3000" b="1" i="0">
                <a:solidFill>
                  <a:srgbClr val="0F172A"/>
                </a:solidFill>
                <a:latin typeface="Cambria"/>
              </a:rPr>
              <a:t>9/9</a:t>
            </a:r>
          </a:p>
        </p:txBody>
      </p:sp>
      <p:sp>
        <p:nvSpPr>
          <p:cNvPr id="8" name="TextBox 7"/>
          <p:cNvSpPr txBox="1"/>
          <p:nvPr/>
        </p:nvSpPr>
        <p:spPr>
          <a:xfrm>
            <a:off x="658368" y="1901952"/>
            <a:ext cx="2240280" cy="594360"/>
          </a:xfrm>
          <a:prstGeom prst="rect">
            <a:avLst/>
          </a:prstGeom>
          <a:noFill/>
        </p:spPr>
        <p:txBody>
          <a:bodyPr wrap="square" lIns="0" rIns="0" tIns="0" bIns="0" anchor="t">
            <a:noAutofit/>
          </a:bodyPr>
          <a:lstStyle/>
          <a:p>
            <a:pPr algn="l"/>
            <a:r>
              <a:rPr sz="1200" b="0" i="0">
                <a:solidFill>
                  <a:srgbClr val="334155"/>
                </a:solidFill>
                <a:latin typeface="Calibri"/>
              </a:rPr>
              <a:t>ca Verify đạt: 4 ca chung + 5 ca Đề A</a:t>
            </a:r>
          </a:p>
        </p:txBody>
      </p:sp>
      <p:sp>
        <p:nvSpPr>
          <p:cNvPr id="9" name="Rounded Rectangle 8"/>
          <p:cNvSpPr/>
          <p:nvPr/>
        </p:nvSpPr>
        <p:spPr>
          <a:xfrm>
            <a:off x="3291840" y="118872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0" name="TextBox 9"/>
          <p:cNvSpPr txBox="1"/>
          <p:nvPr/>
        </p:nvSpPr>
        <p:spPr>
          <a:xfrm>
            <a:off x="3493008" y="1298448"/>
            <a:ext cx="2240280" cy="548640"/>
          </a:xfrm>
          <a:prstGeom prst="rect">
            <a:avLst/>
          </a:prstGeom>
          <a:noFill/>
        </p:spPr>
        <p:txBody>
          <a:bodyPr wrap="square" lIns="0" rIns="0" tIns="0" bIns="0" anchor="t">
            <a:noAutofit/>
          </a:bodyPr>
          <a:lstStyle/>
          <a:p>
            <a:pPr algn="l"/>
            <a:r>
              <a:rPr sz="3000" b="1" i="0">
                <a:solidFill>
                  <a:srgbClr val="0F172A"/>
                </a:solidFill>
                <a:latin typeface="Cambria"/>
              </a:rPr>
              <a:t>~80 ms</a:t>
            </a:r>
          </a:p>
        </p:txBody>
      </p:sp>
      <p:sp>
        <p:nvSpPr>
          <p:cNvPr id="11" name="TextBox 10"/>
          <p:cNvSpPr txBox="1"/>
          <p:nvPr/>
        </p:nvSpPr>
        <p:spPr>
          <a:xfrm>
            <a:off x="3493008" y="1901952"/>
            <a:ext cx="2240280" cy="594360"/>
          </a:xfrm>
          <a:prstGeom prst="rect">
            <a:avLst/>
          </a:prstGeom>
          <a:noFill/>
        </p:spPr>
        <p:txBody>
          <a:bodyPr wrap="square" lIns="0" rIns="0" tIns="0" bIns="0" anchor="t">
            <a:noAutofit/>
          </a:bodyPr>
          <a:lstStyle/>
          <a:p>
            <a:pPr algn="l"/>
            <a:r>
              <a:rPr sz="1200" b="0" i="0">
                <a:solidFill>
                  <a:srgbClr val="334155"/>
                </a:solidFill>
                <a:latin typeface="Calibri"/>
              </a:rPr>
              <a:t>chạy 5 ca Đề A trên bản live</a:t>
            </a:r>
          </a:p>
        </p:txBody>
      </p:sp>
      <p:sp>
        <p:nvSpPr>
          <p:cNvPr id="12" name="Rounded Rectangle 11"/>
          <p:cNvSpPr/>
          <p:nvPr/>
        </p:nvSpPr>
        <p:spPr>
          <a:xfrm>
            <a:off x="6126480" y="118872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3" name="TextBox 12"/>
          <p:cNvSpPr txBox="1"/>
          <p:nvPr/>
        </p:nvSpPr>
        <p:spPr>
          <a:xfrm>
            <a:off x="6327648" y="1298448"/>
            <a:ext cx="2240280" cy="548640"/>
          </a:xfrm>
          <a:prstGeom prst="rect">
            <a:avLst/>
          </a:prstGeom>
          <a:noFill/>
        </p:spPr>
        <p:txBody>
          <a:bodyPr wrap="square" lIns="0" rIns="0" tIns="0" bIns="0" anchor="t">
            <a:noAutofit/>
          </a:bodyPr>
          <a:lstStyle/>
          <a:p>
            <a:pPr algn="l"/>
            <a:r>
              <a:rPr sz="3000" b="1" i="0">
                <a:solidFill>
                  <a:srgbClr val="0F172A"/>
                </a:solidFill>
                <a:latin typeface="Cambria"/>
              </a:rPr>
              <a:t>0</a:t>
            </a:r>
          </a:p>
        </p:txBody>
      </p:sp>
      <p:sp>
        <p:nvSpPr>
          <p:cNvPr id="14" name="TextBox 13"/>
          <p:cNvSpPr txBox="1"/>
          <p:nvPr/>
        </p:nvSpPr>
        <p:spPr>
          <a:xfrm>
            <a:off x="6327648" y="1901952"/>
            <a:ext cx="2240280" cy="594360"/>
          </a:xfrm>
          <a:prstGeom prst="rect">
            <a:avLst/>
          </a:prstGeom>
          <a:noFill/>
        </p:spPr>
        <p:txBody>
          <a:bodyPr wrap="square" lIns="0" rIns="0" tIns="0" bIns="0" anchor="t">
            <a:noAutofit/>
          </a:bodyPr>
          <a:lstStyle/>
          <a:p>
            <a:pPr algn="l"/>
            <a:r>
              <a:rPr sz="1200" b="0" i="0">
                <a:solidFill>
                  <a:srgbClr val="334155"/>
                </a:solidFill>
                <a:latin typeface="Calibri"/>
              </a:rPr>
              <a:t>quyết định bị đổi khi chạy lại 180 ca hồi quy (khoảng 2–3 giây)</a:t>
            </a:r>
          </a:p>
        </p:txBody>
      </p:sp>
      <p:sp>
        <p:nvSpPr>
          <p:cNvPr id="15" name="Rounded Rectangle 14"/>
          <p:cNvSpPr/>
          <p:nvPr/>
        </p:nvSpPr>
        <p:spPr>
          <a:xfrm>
            <a:off x="457200" y="269748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6" name="TextBox 15"/>
          <p:cNvSpPr txBox="1"/>
          <p:nvPr/>
        </p:nvSpPr>
        <p:spPr>
          <a:xfrm>
            <a:off x="658368" y="2807208"/>
            <a:ext cx="2240280" cy="548640"/>
          </a:xfrm>
          <a:prstGeom prst="rect">
            <a:avLst/>
          </a:prstGeom>
          <a:noFill/>
        </p:spPr>
        <p:txBody>
          <a:bodyPr wrap="square" lIns="0" rIns="0" tIns="0" bIns="0" anchor="t">
            <a:noAutofit/>
          </a:bodyPr>
          <a:lstStyle/>
          <a:p>
            <a:pPr algn="l"/>
            <a:r>
              <a:rPr sz="3000" b="1" i="0">
                <a:solidFill>
                  <a:srgbClr val="0F172A"/>
                </a:solidFill>
                <a:latin typeface="Cambria"/>
              </a:rPr>
              <a:t>72/72</a:t>
            </a:r>
          </a:p>
        </p:txBody>
      </p:sp>
      <p:sp>
        <p:nvSpPr>
          <p:cNvPr id="17" name="TextBox 16"/>
          <p:cNvSpPr txBox="1"/>
          <p:nvPr/>
        </p:nvSpPr>
        <p:spPr>
          <a:xfrm>
            <a:off x="658368" y="3410712"/>
            <a:ext cx="2240280" cy="594360"/>
          </a:xfrm>
          <a:prstGeom prst="rect">
            <a:avLst/>
          </a:prstGeom>
          <a:noFill/>
        </p:spPr>
        <p:txBody>
          <a:bodyPr wrap="square" lIns="0" rIns="0" tIns="0" bIns="0" anchor="t">
            <a:noAutofit/>
          </a:bodyPr>
          <a:lstStyle/>
          <a:p>
            <a:pPr algn="l"/>
            <a:r>
              <a:rPr sz="1200" b="0" i="0">
                <a:solidFill>
                  <a:srgbClr val="334155"/>
                </a:solidFill>
                <a:latin typeface="Calibri"/>
              </a:rPr>
              <a:t>ca red-team đạt</a:t>
            </a:r>
          </a:p>
        </p:txBody>
      </p:sp>
      <p:sp>
        <p:nvSpPr>
          <p:cNvPr id="18" name="Rounded Rectangle 17"/>
          <p:cNvSpPr/>
          <p:nvPr/>
        </p:nvSpPr>
        <p:spPr>
          <a:xfrm>
            <a:off x="3291840" y="269748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9" name="TextBox 18"/>
          <p:cNvSpPr txBox="1"/>
          <p:nvPr/>
        </p:nvSpPr>
        <p:spPr>
          <a:xfrm>
            <a:off x="3493008" y="2807208"/>
            <a:ext cx="2240280" cy="548640"/>
          </a:xfrm>
          <a:prstGeom prst="rect">
            <a:avLst/>
          </a:prstGeom>
          <a:noFill/>
        </p:spPr>
        <p:txBody>
          <a:bodyPr wrap="square" lIns="0" rIns="0" tIns="0" bIns="0" anchor="t">
            <a:noAutofit/>
          </a:bodyPr>
          <a:lstStyle/>
          <a:p>
            <a:pPr algn="l"/>
            <a:r>
              <a:rPr sz="3000" b="1" i="0">
                <a:solidFill>
                  <a:srgbClr val="0F172A"/>
                </a:solidFill>
                <a:latin typeface="Cambria"/>
              </a:rPr>
              <a:t>60/60</a:t>
            </a:r>
          </a:p>
        </p:txBody>
      </p:sp>
      <p:sp>
        <p:nvSpPr>
          <p:cNvPr id="20" name="TextBox 19"/>
          <p:cNvSpPr txBox="1"/>
          <p:nvPr/>
        </p:nvSpPr>
        <p:spPr>
          <a:xfrm>
            <a:off x="3493008" y="3410712"/>
            <a:ext cx="2240280" cy="594360"/>
          </a:xfrm>
          <a:prstGeom prst="rect">
            <a:avLst/>
          </a:prstGeom>
          <a:noFill/>
        </p:spPr>
        <p:txBody>
          <a:bodyPr wrap="square" lIns="0" rIns="0" tIns="0" bIns="0" anchor="t">
            <a:noAutofit/>
          </a:bodyPr>
          <a:lstStyle/>
          <a:p>
            <a:pPr algn="l"/>
            <a:r>
              <a:rPr sz="1200" b="0" i="0">
                <a:solidFill>
                  <a:srgbClr val="334155"/>
                </a:solidFill>
                <a:latin typeface="Calibri"/>
              </a:rPr>
              <a:t>ca phát triển đạt</a:t>
            </a:r>
          </a:p>
        </p:txBody>
      </p:sp>
      <p:sp>
        <p:nvSpPr>
          <p:cNvPr id="21" name="Rounded Rectangle 20"/>
          <p:cNvSpPr/>
          <p:nvPr/>
        </p:nvSpPr>
        <p:spPr>
          <a:xfrm>
            <a:off x="6126480" y="2697480"/>
            <a:ext cx="2606040" cy="1371600"/>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22" name="TextBox 21"/>
          <p:cNvSpPr txBox="1"/>
          <p:nvPr/>
        </p:nvSpPr>
        <p:spPr>
          <a:xfrm>
            <a:off x="6327648" y="2807208"/>
            <a:ext cx="2240280" cy="548640"/>
          </a:xfrm>
          <a:prstGeom prst="rect">
            <a:avLst/>
          </a:prstGeom>
          <a:noFill/>
        </p:spPr>
        <p:txBody>
          <a:bodyPr wrap="square" lIns="0" rIns="0" tIns="0" bIns="0" anchor="t">
            <a:noAutofit/>
          </a:bodyPr>
          <a:lstStyle/>
          <a:p>
            <a:pPr algn="l"/>
            <a:r>
              <a:rPr sz="3000" b="1" i="0">
                <a:solidFill>
                  <a:srgbClr val="0F172A"/>
                </a:solidFill>
                <a:latin typeface="Cambria"/>
              </a:rPr>
              <a:t>16</a:t>
            </a:r>
          </a:p>
        </p:txBody>
      </p:sp>
      <p:sp>
        <p:nvSpPr>
          <p:cNvPr id="23" name="TextBox 22"/>
          <p:cNvSpPr txBox="1"/>
          <p:nvPr/>
        </p:nvSpPr>
        <p:spPr>
          <a:xfrm>
            <a:off x="6327648" y="3410712"/>
            <a:ext cx="2240280" cy="594360"/>
          </a:xfrm>
          <a:prstGeom prst="rect">
            <a:avLst/>
          </a:prstGeom>
          <a:noFill/>
        </p:spPr>
        <p:txBody>
          <a:bodyPr wrap="square" lIns="0" rIns="0" tIns="0" bIns="0" anchor="t">
            <a:noAutofit/>
          </a:bodyPr>
          <a:lstStyle/>
          <a:p>
            <a:pPr algn="l"/>
            <a:r>
              <a:rPr sz="1200" b="0" i="0">
                <a:solidFill>
                  <a:srgbClr val="334155"/>
                </a:solidFill>
                <a:latin typeface="Calibri"/>
              </a:rPr>
              <a:t>bộ test tự động; /trust 12/12 phép thử bảo mật</a:t>
            </a:r>
          </a:p>
        </p:txBody>
      </p:sp>
      <p:sp>
        <p:nvSpPr>
          <p:cNvPr id="24" name="TextBox 23"/>
          <p:cNvSpPr txBox="1"/>
          <p:nvPr/>
        </p:nvSpPr>
        <p:spPr>
          <a:xfrm>
            <a:off x="457200" y="4270248"/>
            <a:ext cx="8229600" cy="274320"/>
          </a:xfrm>
          <a:prstGeom prst="rect">
            <a:avLst/>
          </a:prstGeom>
          <a:noFill/>
        </p:spPr>
        <p:txBody>
          <a:bodyPr wrap="square" lIns="0" rIns="0" tIns="0" bIns="0" anchor="t">
            <a:noAutofit/>
          </a:bodyPr>
          <a:lstStyle/>
          <a:p>
            <a:pPr algn="l"/>
            <a:r>
              <a:rPr sz="1150" b="0" i="1">
                <a:solidFill>
                  <a:srgbClr val="64748B"/>
                </a:solidFill>
                <a:latin typeface="Calibri"/>
              </a:rPr>
              <a:t>Ba vai “giám khảo vòng cuối” mô phỏng tìm ra 12 nhóm lỗi mất điểm; đã sửa, có test.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SỐ ĐO · TRƯỚC VÀ SAU</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11 ca kiểu giám khảo: bản 13/10 và bản 15/10</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17</a:t>
            </a:r>
          </a:p>
        </p:txBody>
      </p:sp>
      <p:sp>
        <p:nvSpPr>
          <p:cNvPr id="6" name="TextBox 5"/>
          <p:cNvSpPr txBox="1"/>
          <p:nvPr/>
        </p:nvSpPr>
        <p:spPr>
          <a:xfrm>
            <a:off x="4754880" y="1143000"/>
            <a:ext cx="1371600" cy="274320"/>
          </a:xfrm>
          <a:prstGeom prst="rect">
            <a:avLst/>
          </a:prstGeom>
          <a:noFill/>
        </p:spPr>
        <p:txBody>
          <a:bodyPr wrap="square" lIns="0" rIns="0" tIns="0" bIns="0" anchor="t">
            <a:noAutofit/>
          </a:bodyPr>
          <a:lstStyle/>
          <a:p>
            <a:pPr algn="ctr"/>
            <a:r>
              <a:rPr sz="1100" b="1" i="0">
                <a:solidFill>
                  <a:srgbClr val="64748B"/>
                </a:solidFill>
                <a:latin typeface="Calibri"/>
              </a:rPr>
              <a:t>13/10</a:t>
            </a:r>
          </a:p>
        </p:txBody>
      </p:sp>
      <p:sp>
        <p:nvSpPr>
          <p:cNvPr id="7" name="TextBox 6"/>
          <p:cNvSpPr txBox="1"/>
          <p:nvPr/>
        </p:nvSpPr>
        <p:spPr>
          <a:xfrm>
            <a:off x="6766560" y="1143000"/>
            <a:ext cx="1645920" cy="274320"/>
          </a:xfrm>
          <a:prstGeom prst="rect">
            <a:avLst/>
          </a:prstGeom>
          <a:noFill/>
        </p:spPr>
        <p:txBody>
          <a:bodyPr wrap="square" lIns="0" rIns="0" tIns="0" bIns="0" anchor="t">
            <a:noAutofit/>
          </a:bodyPr>
          <a:lstStyle/>
          <a:p>
            <a:pPr algn="ctr"/>
            <a:r>
              <a:rPr sz="1100" b="1" i="0">
                <a:solidFill>
                  <a:srgbClr val="4D7C0F"/>
                </a:solidFill>
                <a:latin typeface="Calibri"/>
              </a:rPr>
              <a:t>15/10</a:t>
            </a:r>
          </a:p>
        </p:txBody>
      </p:sp>
      <p:sp>
        <p:nvSpPr>
          <p:cNvPr id="8" name="Rounded Rectangle 7"/>
          <p:cNvSpPr/>
          <p:nvPr/>
        </p:nvSpPr>
        <p:spPr>
          <a:xfrm>
            <a:off x="457200" y="1463040"/>
            <a:ext cx="8229600" cy="512064"/>
          </a:xfrm>
          <a:prstGeom prst="roundRect">
            <a:avLst>
              <a:gd name="adj" fmla="val 10000"/>
            </a:avLst>
          </a:prstGeom>
          <a:solidFill>
            <a:srgbClr val="F1F5F9"/>
          </a:solidFill>
          <a:ln>
            <a:noFill/>
          </a:ln>
        </p:spPr>
        <p:txBody>
          <a:bodyPr rtlCol="0" anchor="ctr" lIns="109728" rIns="109728" tIns="54864" bIns="54864"/>
          <a:lstStyle/>
          <a:p>
            <a:pPr algn="ctr"/>
          </a:p>
        </p:txBody>
      </p:sp>
      <p:sp>
        <p:nvSpPr>
          <p:cNvPr id="9" name="TextBox 8"/>
          <p:cNvSpPr txBox="1"/>
          <p:nvPr/>
        </p:nvSpPr>
        <p:spPr>
          <a:xfrm>
            <a:off x="685800" y="1463040"/>
            <a:ext cx="3931920" cy="512064"/>
          </a:xfrm>
          <a:prstGeom prst="rect">
            <a:avLst/>
          </a:prstGeom>
          <a:noFill/>
        </p:spPr>
        <p:txBody>
          <a:bodyPr wrap="square" lIns="0" rIns="0" tIns="0" bIns="0" anchor="ctr">
            <a:noAutofit/>
          </a:bodyPr>
          <a:lstStyle/>
          <a:p>
            <a:pPr algn="l"/>
            <a:r>
              <a:rPr sz="1400" b="1" i="0">
                <a:solidFill>
                  <a:srgbClr val="0F172A"/>
                </a:solidFill>
                <a:latin typeface="Calibri"/>
              </a:rPr>
              <a:t>Xử lý đúng</a:t>
            </a:r>
          </a:p>
        </p:txBody>
      </p:sp>
      <p:sp>
        <p:nvSpPr>
          <p:cNvPr id="10" name="TextBox 9"/>
          <p:cNvSpPr txBox="1"/>
          <p:nvPr/>
        </p:nvSpPr>
        <p:spPr>
          <a:xfrm>
            <a:off x="4754880" y="1463040"/>
            <a:ext cx="1371600" cy="512064"/>
          </a:xfrm>
          <a:prstGeom prst="rect">
            <a:avLst/>
          </a:prstGeom>
          <a:noFill/>
        </p:spPr>
        <p:txBody>
          <a:bodyPr wrap="square" lIns="0" rIns="0" tIns="0" bIns="0" anchor="ctr">
            <a:noAutofit/>
          </a:bodyPr>
          <a:lstStyle/>
          <a:p>
            <a:pPr algn="ctr"/>
            <a:r>
              <a:rPr sz="2000" b="0" i="0">
                <a:solidFill>
                  <a:srgbClr val="64748B"/>
                </a:solidFill>
                <a:latin typeface="Cambria"/>
              </a:rPr>
              <a:t>3/11</a:t>
            </a:r>
          </a:p>
        </p:txBody>
      </p:sp>
      <p:cxnSp>
        <p:nvCxnSpPr>
          <p:cNvPr id="11" name="Connector 10"/>
          <p:cNvCxnSpPr/>
          <p:nvPr/>
        </p:nvCxnSpPr>
        <p:spPr>
          <a:xfrm>
            <a:off x="6263640" y="1719072"/>
            <a:ext cx="411480" cy="0"/>
          </a:xfrm>
          <a:prstGeom prst="line">
            <a:avLst/>
          </a:prstGeom>
          <a:ln w="19050">
            <a:solidFill>
              <a:srgbClr val="94A3B8"/>
            </a:solidFill>
            <a:tailEnd type="triangle" w="med" len="med"/>
          </a:ln>
        </p:spPr>
      </p:cxnSp>
      <p:sp>
        <p:nvSpPr>
          <p:cNvPr id="12" name="TextBox 11"/>
          <p:cNvSpPr txBox="1"/>
          <p:nvPr/>
        </p:nvSpPr>
        <p:spPr>
          <a:xfrm>
            <a:off x="6766560" y="1463040"/>
            <a:ext cx="1645920" cy="512064"/>
          </a:xfrm>
          <a:prstGeom prst="rect">
            <a:avLst/>
          </a:prstGeom>
          <a:noFill/>
        </p:spPr>
        <p:txBody>
          <a:bodyPr wrap="square" lIns="0" rIns="0" tIns="0" bIns="0" anchor="ctr">
            <a:noAutofit/>
          </a:bodyPr>
          <a:lstStyle/>
          <a:p>
            <a:pPr algn="ctr"/>
            <a:r>
              <a:rPr sz="2200" b="1" i="0">
                <a:solidFill>
                  <a:srgbClr val="4D7C0F"/>
                </a:solidFill>
                <a:latin typeface="Cambria"/>
              </a:rPr>
              <a:t>11/11</a:t>
            </a:r>
          </a:p>
        </p:txBody>
      </p:sp>
      <p:sp>
        <p:nvSpPr>
          <p:cNvPr id="13" name="Rounded Rectangle 12"/>
          <p:cNvSpPr/>
          <p:nvPr/>
        </p:nvSpPr>
        <p:spPr>
          <a:xfrm>
            <a:off x="457200" y="2066544"/>
            <a:ext cx="8229600" cy="512064"/>
          </a:xfrm>
          <a:prstGeom prst="roundRect">
            <a:avLst>
              <a:gd name="adj" fmla="val 10000"/>
            </a:avLst>
          </a:prstGeom>
          <a:solidFill>
            <a:srgbClr val="FFFFFF"/>
          </a:solidFill>
          <a:ln>
            <a:noFill/>
          </a:ln>
        </p:spPr>
        <p:txBody>
          <a:bodyPr rtlCol="0" anchor="ctr" lIns="109728" rIns="109728" tIns="54864" bIns="54864"/>
          <a:lstStyle/>
          <a:p>
            <a:pPr algn="ctr"/>
          </a:p>
        </p:txBody>
      </p:sp>
      <p:sp>
        <p:nvSpPr>
          <p:cNvPr id="14" name="TextBox 13"/>
          <p:cNvSpPr txBox="1"/>
          <p:nvPr/>
        </p:nvSpPr>
        <p:spPr>
          <a:xfrm>
            <a:off x="685800" y="2066544"/>
            <a:ext cx="3931920" cy="512064"/>
          </a:xfrm>
          <a:prstGeom prst="rect">
            <a:avLst/>
          </a:prstGeom>
          <a:noFill/>
        </p:spPr>
        <p:txBody>
          <a:bodyPr wrap="square" lIns="0" rIns="0" tIns="0" bIns="0" anchor="ctr">
            <a:noAutofit/>
          </a:bodyPr>
          <a:lstStyle/>
          <a:p>
            <a:pPr algn="l"/>
            <a:r>
              <a:rPr sz="1400" b="1" i="0">
                <a:solidFill>
                  <a:srgbClr val="0F172A"/>
                </a:solidFill>
                <a:latin typeface="Calibri"/>
              </a:rPr>
              <a:t>Ca thường quy bị hỏi thừa</a:t>
            </a:r>
          </a:p>
        </p:txBody>
      </p:sp>
      <p:sp>
        <p:nvSpPr>
          <p:cNvPr id="15" name="TextBox 14"/>
          <p:cNvSpPr txBox="1"/>
          <p:nvPr/>
        </p:nvSpPr>
        <p:spPr>
          <a:xfrm>
            <a:off x="4754880" y="2066544"/>
            <a:ext cx="1371600" cy="512064"/>
          </a:xfrm>
          <a:prstGeom prst="rect">
            <a:avLst/>
          </a:prstGeom>
          <a:noFill/>
        </p:spPr>
        <p:txBody>
          <a:bodyPr wrap="square" lIns="0" rIns="0" tIns="0" bIns="0" anchor="ctr">
            <a:noAutofit/>
          </a:bodyPr>
          <a:lstStyle/>
          <a:p>
            <a:pPr algn="ctr"/>
            <a:r>
              <a:rPr sz="2000" b="0" i="0">
                <a:solidFill>
                  <a:srgbClr val="64748B"/>
                </a:solidFill>
                <a:latin typeface="Cambria"/>
              </a:rPr>
              <a:t>3/3</a:t>
            </a:r>
          </a:p>
        </p:txBody>
      </p:sp>
      <p:cxnSp>
        <p:nvCxnSpPr>
          <p:cNvPr id="16" name="Connector 15"/>
          <p:cNvCxnSpPr/>
          <p:nvPr/>
        </p:nvCxnSpPr>
        <p:spPr>
          <a:xfrm>
            <a:off x="6263640" y="2322576"/>
            <a:ext cx="411480" cy="0"/>
          </a:xfrm>
          <a:prstGeom prst="line">
            <a:avLst/>
          </a:prstGeom>
          <a:ln w="19050">
            <a:solidFill>
              <a:srgbClr val="94A3B8"/>
            </a:solidFill>
            <a:tailEnd type="triangle" w="med" len="med"/>
          </a:ln>
        </p:spPr>
      </p:cxnSp>
      <p:sp>
        <p:nvSpPr>
          <p:cNvPr id="17" name="TextBox 16"/>
          <p:cNvSpPr txBox="1"/>
          <p:nvPr/>
        </p:nvSpPr>
        <p:spPr>
          <a:xfrm>
            <a:off x="6766560" y="2066544"/>
            <a:ext cx="1645920" cy="512064"/>
          </a:xfrm>
          <a:prstGeom prst="rect">
            <a:avLst/>
          </a:prstGeom>
          <a:noFill/>
        </p:spPr>
        <p:txBody>
          <a:bodyPr wrap="square" lIns="0" rIns="0" tIns="0" bIns="0" anchor="ctr">
            <a:noAutofit/>
          </a:bodyPr>
          <a:lstStyle/>
          <a:p>
            <a:pPr algn="ctr"/>
            <a:r>
              <a:rPr sz="2200" b="1" i="0">
                <a:solidFill>
                  <a:srgbClr val="4D7C0F"/>
                </a:solidFill>
                <a:latin typeface="Cambria"/>
              </a:rPr>
              <a:t>0/3</a:t>
            </a:r>
          </a:p>
        </p:txBody>
      </p:sp>
      <p:sp>
        <p:nvSpPr>
          <p:cNvPr id="18" name="Rounded Rectangle 17"/>
          <p:cNvSpPr/>
          <p:nvPr/>
        </p:nvSpPr>
        <p:spPr>
          <a:xfrm>
            <a:off x="457200" y="2670048"/>
            <a:ext cx="8229600" cy="512064"/>
          </a:xfrm>
          <a:prstGeom prst="roundRect">
            <a:avLst>
              <a:gd name="adj" fmla="val 10000"/>
            </a:avLst>
          </a:prstGeom>
          <a:solidFill>
            <a:srgbClr val="F1F5F9"/>
          </a:solidFill>
          <a:ln>
            <a:noFill/>
          </a:ln>
        </p:spPr>
        <p:txBody>
          <a:bodyPr rtlCol="0" anchor="ctr" lIns="109728" rIns="109728" tIns="54864" bIns="54864"/>
          <a:lstStyle/>
          <a:p>
            <a:pPr algn="ctr"/>
          </a:p>
        </p:txBody>
      </p:sp>
      <p:sp>
        <p:nvSpPr>
          <p:cNvPr id="19" name="TextBox 18"/>
          <p:cNvSpPr txBox="1"/>
          <p:nvPr/>
        </p:nvSpPr>
        <p:spPr>
          <a:xfrm>
            <a:off x="685800" y="2670048"/>
            <a:ext cx="3931920" cy="512064"/>
          </a:xfrm>
          <a:prstGeom prst="rect">
            <a:avLst/>
          </a:prstGeom>
          <a:noFill/>
        </p:spPr>
        <p:txBody>
          <a:bodyPr wrap="square" lIns="0" rIns="0" tIns="0" bIns="0" anchor="ctr">
            <a:noAutofit/>
          </a:bodyPr>
          <a:lstStyle/>
          <a:p>
            <a:pPr algn="l"/>
            <a:r>
              <a:rPr sz="1400" b="1" i="0">
                <a:solidFill>
                  <a:srgbClr val="0F172A"/>
                </a:solidFill>
                <a:latin typeface="Calibri"/>
              </a:rPr>
              <a:t>Xếp sai nhóm dừng</a:t>
            </a:r>
          </a:p>
        </p:txBody>
      </p:sp>
      <p:sp>
        <p:nvSpPr>
          <p:cNvPr id="20" name="TextBox 19"/>
          <p:cNvSpPr txBox="1"/>
          <p:nvPr/>
        </p:nvSpPr>
        <p:spPr>
          <a:xfrm>
            <a:off x="4754880" y="2670048"/>
            <a:ext cx="1371600" cy="512064"/>
          </a:xfrm>
          <a:prstGeom prst="rect">
            <a:avLst/>
          </a:prstGeom>
          <a:noFill/>
        </p:spPr>
        <p:txBody>
          <a:bodyPr wrap="square" lIns="0" rIns="0" tIns="0" bIns="0" anchor="ctr">
            <a:noAutofit/>
          </a:bodyPr>
          <a:lstStyle/>
          <a:p>
            <a:pPr algn="ctr"/>
            <a:r>
              <a:rPr sz="2000" b="0" i="0">
                <a:solidFill>
                  <a:srgbClr val="64748B"/>
                </a:solidFill>
                <a:latin typeface="Cambria"/>
              </a:rPr>
              <a:t>4/8</a:t>
            </a:r>
          </a:p>
        </p:txBody>
      </p:sp>
      <p:cxnSp>
        <p:nvCxnSpPr>
          <p:cNvPr id="21" name="Connector 20"/>
          <p:cNvCxnSpPr/>
          <p:nvPr/>
        </p:nvCxnSpPr>
        <p:spPr>
          <a:xfrm>
            <a:off x="6263640" y="2926080"/>
            <a:ext cx="411480" cy="0"/>
          </a:xfrm>
          <a:prstGeom prst="line">
            <a:avLst/>
          </a:prstGeom>
          <a:ln w="19050">
            <a:solidFill>
              <a:srgbClr val="94A3B8"/>
            </a:solidFill>
            <a:tailEnd type="triangle" w="med" len="med"/>
          </a:ln>
        </p:spPr>
      </p:cxnSp>
      <p:sp>
        <p:nvSpPr>
          <p:cNvPr id="22" name="TextBox 21"/>
          <p:cNvSpPr txBox="1"/>
          <p:nvPr/>
        </p:nvSpPr>
        <p:spPr>
          <a:xfrm>
            <a:off x="6766560" y="2670048"/>
            <a:ext cx="1645920" cy="512064"/>
          </a:xfrm>
          <a:prstGeom prst="rect">
            <a:avLst/>
          </a:prstGeom>
          <a:noFill/>
        </p:spPr>
        <p:txBody>
          <a:bodyPr wrap="square" lIns="0" rIns="0" tIns="0" bIns="0" anchor="ctr">
            <a:noAutofit/>
          </a:bodyPr>
          <a:lstStyle/>
          <a:p>
            <a:pPr algn="ctr"/>
            <a:r>
              <a:rPr sz="2200" b="1" i="0">
                <a:solidFill>
                  <a:srgbClr val="4D7C0F"/>
                </a:solidFill>
                <a:latin typeface="Cambria"/>
              </a:rPr>
              <a:t>0/8</a:t>
            </a:r>
          </a:p>
        </p:txBody>
      </p:sp>
      <p:sp>
        <p:nvSpPr>
          <p:cNvPr id="23" name="Rounded Rectangle 22"/>
          <p:cNvSpPr/>
          <p:nvPr/>
        </p:nvSpPr>
        <p:spPr>
          <a:xfrm>
            <a:off x="457200" y="3273552"/>
            <a:ext cx="8229600" cy="512064"/>
          </a:xfrm>
          <a:prstGeom prst="roundRect">
            <a:avLst>
              <a:gd name="adj" fmla="val 10000"/>
            </a:avLst>
          </a:prstGeom>
          <a:solidFill>
            <a:srgbClr val="FFFFFF"/>
          </a:solidFill>
          <a:ln>
            <a:noFill/>
          </a:ln>
        </p:spPr>
        <p:txBody>
          <a:bodyPr rtlCol="0" anchor="ctr" lIns="109728" rIns="109728" tIns="54864" bIns="54864"/>
          <a:lstStyle/>
          <a:p>
            <a:pPr algn="ctr"/>
          </a:p>
        </p:txBody>
      </p:sp>
      <p:sp>
        <p:nvSpPr>
          <p:cNvPr id="24" name="TextBox 23"/>
          <p:cNvSpPr txBox="1"/>
          <p:nvPr/>
        </p:nvSpPr>
        <p:spPr>
          <a:xfrm>
            <a:off x="685800" y="3273552"/>
            <a:ext cx="3931920" cy="512064"/>
          </a:xfrm>
          <a:prstGeom prst="rect">
            <a:avLst/>
          </a:prstGeom>
          <a:noFill/>
        </p:spPr>
        <p:txBody>
          <a:bodyPr wrap="square" lIns="0" rIns="0" tIns="0" bIns="0" anchor="ctr">
            <a:noAutofit/>
          </a:bodyPr>
          <a:lstStyle/>
          <a:p>
            <a:pPr algn="l"/>
            <a:r>
              <a:rPr sz="1400" b="1" i="0">
                <a:solidFill>
                  <a:srgbClr val="0F172A"/>
                </a:solidFill>
                <a:latin typeface="Calibri"/>
              </a:rPr>
              <a:t>Câu hỏi đạt chất lượng</a:t>
            </a:r>
          </a:p>
        </p:txBody>
      </p:sp>
      <p:sp>
        <p:nvSpPr>
          <p:cNvPr id="25" name="TextBox 24"/>
          <p:cNvSpPr txBox="1"/>
          <p:nvPr/>
        </p:nvSpPr>
        <p:spPr>
          <a:xfrm>
            <a:off x="4754880" y="3273552"/>
            <a:ext cx="1371600" cy="512064"/>
          </a:xfrm>
          <a:prstGeom prst="rect">
            <a:avLst/>
          </a:prstGeom>
          <a:noFill/>
        </p:spPr>
        <p:txBody>
          <a:bodyPr wrap="square" lIns="0" rIns="0" tIns="0" bIns="0" anchor="ctr">
            <a:noAutofit/>
          </a:bodyPr>
          <a:lstStyle/>
          <a:p>
            <a:pPr algn="ctr"/>
            <a:r>
              <a:rPr sz="2000" b="0" i="0">
                <a:solidFill>
                  <a:srgbClr val="64748B"/>
                </a:solidFill>
                <a:latin typeface="Cambria"/>
              </a:rPr>
              <a:t>1/10</a:t>
            </a:r>
          </a:p>
        </p:txBody>
      </p:sp>
      <p:cxnSp>
        <p:nvCxnSpPr>
          <p:cNvPr id="26" name="Connector 25"/>
          <p:cNvCxnSpPr/>
          <p:nvPr/>
        </p:nvCxnSpPr>
        <p:spPr>
          <a:xfrm>
            <a:off x="6263640" y="3529584"/>
            <a:ext cx="411480" cy="0"/>
          </a:xfrm>
          <a:prstGeom prst="line">
            <a:avLst/>
          </a:prstGeom>
          <a:ln w="19050">
            <a:solidFill>
              <a:srgbClr val="94A3B8"/>
            </a:solidFill>
            <a:tailEnd type="triangle" w="med" len="med"/>
          </a:ln>
        </p:spPr>
      </p:cxnSp>
      <p:sp>
        <p:nvSpPr>
          <p:cNvPr id="27" name="TextBox 26"/>
          <p:cNvSpPr txBox="1"/>
          <p:nvPr/>
        </p:nvSpPr>
        <p:spPr>
          <a:xfrm>
            <a:off x="6766560" y="3273552"/>
            <a:ext cx="1645920" cy="512064"/>
          </a:xfrm>
          <a:prstGeom prst="rect">
            <a:avLst/>
          </a:prstGeom>
          <a:noFill/>
        </p:spPr>
        <p:txBody>
          <a:bodyPr wrap="square" lIns="0" rIns="0" tIns="0" bIns="0" anchor="ctr">
            <a:noAutofit/>
          </a:bodyPr>
          <a:lstStyle/>
          <a:p>
            <a:pPr algn="ctr"/>
            <a:r>
              <a:rPr sz="2200" b="1" i="0">
                <a:solidFill>
                  <a:srgbClr val="4D7C0F"/>
                </a:solidFill>
                <a:latin typeface="Cambria"/>
              </a:rPr>
              <a:t>8/8</a:t>
            </a:r>
          </a:p>
        </p:txBody>
      </p:sp>
      <p:sp>
        <p:nvSpPr>
          <p:cNvPr id="28" name="Rounded Rectangle 27"/>
          <p:cNvSpPr/>
          <p:nvPr/>
        </p:nvSpPr>
        <p:spPr>
          <a:xfrm>
            <a:off x="457200" y="3931920"/>
            <a:ext cx="8229600" cy="566928"/>
          </a:xfrm>
          <a:prstGeom prst="roundRect">
            <a:avLst>
              <a:gd name="adj" fmla="val 8000"/>
            </a:avLst>
          </a:prstGeom>
          <a:solidFill>
            <a:srgbClr val="FEF3C7"/>
          </a:solidFill>
          <a:ln>
            <a:noFill/>
          </a:ln>
        </p:spPr>
        <p:txBody>
          <a:bodyPr rtlCol="0" anchor="ctr" lIns="182880" rIns="182880" tIns="54864" bIns="54864" wrap="square">
            <a:noAutofit/>
          </a:bodyPr>
          <a:lstStyle/>
          <a:p>
            <a:pPr algn="l"/>
            <a:r>
              <a:rPr sz="1200" b="1" i="0">
                <a:solidFill>
                  <a:srgbClr val="B45309"/>
                </a:solidFill>
                <a:latin typeface="Calibri"/>
              </a:rPr>
              <a:t>Giới hạn: </a:t>
            </a:r>
            <a:r>
              <a:rPr sz="1200" b="0" i="0">
                <a:solidFill>
                  <a:srgbClr val="0F172A"/>
                </a:solidFill>
                <a:latin typeface="Calibri"/>
              </a:rPr>
              <a:t>ca do đội và AI viết, chưa phải đánh giá độc lập. Buổi thử 3 người dùng ngày 16/10: chưa có số liệu định lượng.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NÓI THẲNG</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Giới hạn, rủi ro và bước tiếp theo</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18</a:t>
            </a:r>
          </a:p>
        </p:txBody>
      </p:sp>
      <p:sp>
        <p:nvSpPr>
          <p:cNvPr id="6" name="Rounded Rectangle 5"/>
          <p:cNvSpPr/>
          <p:nvPr/>
        </p:nvSpPr>
        <p:spPr>
          <a:xfrm>
            <a:off x="457200" y="1188720"/>
            <a:ext cx="2606040" cy="3291840"/>
          </a:xfrm>
          <a:prstGeom prst="roundRect">
            <a:avLst>
              <a:gd name="adj" fmla="val 8000"/>
            </a:avLst>
          </a:prstGeom>
          <a:solidFill>
            <a:srgbClr val="FEF3C7"/>
          </a:solidFill>
          <a:ln>
            <a:noFill/>
          </a:ln>
        </p:spPr>
        <p:txBody>
          <a:bodyPr rtlCol="0" anchor="t" lIns="201168" rIns="201168" tIns="54864" bIns="54864" wrap="square">
            <a:noAutofit/>
          </a:bodyPr>
          <a:lstStyle/>
          <a:p>
            <a:pPr algn="l">
              <a:spcAft>
                <a:spcPts val="800"/>
              </a:spcAft>
            </a:pPr>
            <a:r>
              <a:rPr sz="1600" b="1" i="0">
                <a:solidFill>
                  <a:srgbClr val="B45309"/>
                </a:solidFill>
                <a:latin typeface="Calibri"/>
              </a:rPr>
              <a:t>Giới hạn</a:t>
            </a:r>
          </a:p>
          <a:p>
            <a:pPr algn="l" marL="182880" indent="-182880">
              <a:spcAft>
                <a:spcPts val="800"/>
              </a:spcAft>
              <a:buClr>
                <a:srgbClr val="B45309"/>
              </a:buClr>
              <a:buFont typeface="Arial"/>
              <a:buChar char="•"/>
            </a:pPr>
            <a:r>
              <a:rPr sz="1400" b="0" i="0">
                <a:solidFill>
                  <a:srgbClr val="0F172A"/>
                </a:solidFill>
                <a:latin typeface="Calibri"/>
              </a:rPr>
              <a:t>Vai người dùng trong demo là mô phỏng</a:t>
            </a:r>
          </a:p>
          <a:p>
            <a:pPr algn="l" marL="182880" indent="-182880">
              <a:spcAft>
                <a:spcPts val="800"/>
              </a:spcAft>
              <a:buClr>
                <a:srgbClr val="B45309"/>
              </a:buClr>
              <a:buFont typeface="Arial"/>
              <a:buChar char="•"/>
            </a:pPr>
            <a:r>
              <a:rPr sz="1400" b="0" i="0">
                <a:solidFill>
                  <a:srgbClr val="0F172A"/>
                </a:solidFill>
                <a:latin typeface="Calibri"/>
              </a:rPr>
              <a:t>Trình đọc PDF chưa ở container riêng</a:t>
            </a:r>
          </a:p>
          <a:p>
            <a:pPr algn="l" marL="182880" indent="-182880">
              <a:spcAft>
                <a:spcPts val="800"/>
              </a:spcAft>
              <a:buClr>
                <a:srgbClr val="B45309"/>
              </a:buClr>
              <a:buFont typeface="Arial"/>
              <a:buChar char="•"/>
            </a:pPr>
            <a:r>
              <a:rPr sz="1400" b="0" i="0">
                <a:solidFill>
                  <a:srgbClr val="0F172A"/>
                </a:solidFill>
                <a:latin typeface="Calibri"/>
              </a:rPr>
              <a:t>Khóa HMAC nằm cùng máy</a:t>
            </a:r>
          </a:p>
          <a:p>
            <a:pPr algn="l" marL="182880" indent="-182880">
              <a:spcAft>
                <a:spcPts val="800"/>
              </a:spcAft>
              <a:buClr>
                <a:srgbClr val="B45309"/>
              </a:buClr>
              <a:buFont typeface="Arial"/>
              <a:buChar char="•"/>
            </a:pPr>
            <a:r>
              <a:rPr sz="1400" b="0" i="0">
                <a:solidFill>
                  <a:srgbClr val="0F172A"/>
                </a:solidFill>
                <a:latin typeface="Calibri"/>
              </a:rPr>
              <a:t>SQLite chỉ chạy trên một máy</a:t>
            </a:r>
          </a:p>
        </p:txBody>
      </p:sp>
      <p:sp>
        <p:nvSpPr>
          <p:cNvPr id="7" name="Rounded Rectangle 6"/>
          <p:cNvSpPr/>
          <p:nvPr/>
        </p:nvSpPr>
        <p:spPr>
          <a:xfrm>
            <a:off x="3291840" y="1188720"/>
            <a:ext cx="2606040" cy="3291840"/>
          </a:xfrm>
          <a:prstGeom prst="roundRect">
            <a:avLst>
              <a:gd name="adj" fmla="val 8000"/>
            </a:avLst>
          </a:prstGeom>
          <a:solidFill>
            <a:srgbClr val="FFE4E6"/>
          </a:solidFill>
          <a:ln>
            <a:noFill/>
          </a:ln>
        </p:spPr>
        <p:txBody>
          <a:bodyPr rtlCol="0" anchor="t" lIns="201168" rIns="201168" tIns="54864" bIns="54864" wrap="square">
            <a:noAutofit/>
          </a:bodyPr>
          <a:lstStyle/>
          <a:p>
            <a:pPr algn="l">
              <a:spcAft>
                <a:spcPts val="800"/>
              </a:spcAft>
            </a:pPr>
            <a:r>
              <a:rPr sz="1600" b="1" i="0">
                <a:solidFill>
                  <a:srgbClr val="BE123C"/>
                </a:solidFill>
                <a:latin typeface="Calibri"/>
              </a:rPr>
              <a:t>Rủi ro</a:t>
            </a:r>
          </a:p>
          <a:p>
            <a:pPr algn="l" marL="182880" indent="-182880">
              <a:spcAft>
                <a:spcPts val="800"/>
              </a:spcAft>
              <a:buClr>
                <a:srgbClr val="BE123C"/>
              </a:buClr>
              <a:buFont typeface="Arial"/>
              <a:buChar char="•"/>
            </a:pPr>
            <a:r>
              <a:rPr sz="1400" b="0" i="0">
                <a:solidFill>
                  <a:srgbClr val="0F172A"/>
                </a:solidFill>
                <a:latin typeface="Calibri"/>
              </a:rPr>
              <a:t>Ảnh đọc sai số tiền mà vẫn cân đối: ca đi luồng thấp hơn</a:t>
            </a:r>
          </a:p>
          <a:p>
            <a:pPr algn="l" marL="182880" indent="-182880">
              <a:spcAft>
                <a:spcPts val="800"/>
              </a:spcAft>
              <a:buClr>
                <a:srgbClr val="BE123C"/>
              </a:buClr>
              <a:buFont typeface="Arial"/>
              <a:buChar char="•"/>
            </a:pPr>
            <a:r>
              <a:rPr sz="1400" b="0" i="0">
                <a:solidFill>
                  <a:srgbClr val="0F172A"/>
                </a:solidFill>
                <a:latin typeface="Calibri"/>
              </a:rPr>
              <a:t>Dữ kiện do người khai, như ủy nhiệm chi</a:t>
            </a:r>
          </a:p>
          <a:p>
            <a:pPr algn="l" marL="182880" indent="-182880">
              <a:spcAft>
                <a:spcPts val="800"/>
              </a:spcAft>
              <a:buClr>
                <a:srgbClr val="BE123C"/>
              </a:buClr>
              <a:buFont typeface="Arial"/>
              <a:buChar char="•"/>
            </a:pPr>
            <a:r>
              <a:rPr sz="1400" b="0" i="0">
                <a:solidFill>
                  <a:srgbClr val="0F172A"/>
                </a:solidFill>
                <a:latin typeface="Calibri"/>
              </a:rPr>
              <a:t>Ảnh gửi cho Vision ở nước ngoài</a:t>
            </a:r>
          </a:p>
        </p:txBody>
      </p:sp>
      <p:sp>
        <p:nvSpPr>
          <p:cNvPr id="8" name="Rounded Rectangle 7"/>
          <p:cNvSpPr/>
          <p:nvPr/>
        </p:nvSpPr>
        <p:spPr>
          <a:xfrm>
            <a:off x="6126480" y="1188720"/>
            <a:ext cx="2606040" cy="3291840"/>
          </a:xfrm>
          <a:prstGeom prst="roundRect">
            <a:avLst>
              <a:gd name="adj" fmla="val 8000"/>
            </a:avLst>
          </a:prstGeom>
          <a:solidFill>
            <a:srgbClr val="ECFCCB"/>
          </a:solidFill>
          <a:ln>
            <a:noFill/>
          </a:ln>
        </p:spPr>
        <p:txBody>
          <a:bodyPr rtlCol="0" anchor="t" lIns="201168" rIns="201168" tIns="54864" bIns="54864" wrap="square">
            <a:noAutofit/>
          </a:bodyPr>
          <a:lstStyle/>
          <a:p>
            <a:pPr algn="l">
              <a:spcAft>
                <a:spcPts val="800"/>
              </a:spcAft>
            </a:pPr>
            <a:r>
              <a:rPr sz="1600" b="1" i="0">
                <a:solidFill>
                  <a:srgbClr val="4D7C0F"/>
                </a:solidFill>
                <a:latin typeface="Calibri"/>
              </a:rPr>
              <a:t>Bước tiếp</a:t>
            </a:r>
          </a:p>
          <a:p>
            <a:pPr algn="l" marL="182880" indent="-182880">
              <a:spcAft>
                <a:spcPts val="800"/>
              </a:spcAft>
              <a:buClr>
                <a:srgbClr val="4D7C0F"/>
              </a:buClr>
              <a:buFont typeface="Arial"/>
              <a:buChar char="•"/>
            </a:pPr>
            <a:r>
              <a:rPr sz="1400" b="0" i="0">
                <a:solidFill>
                  <a:srgbClr val="0F172A"/>
                </a:solidFill>
                <a:latin typeface="Calibri"/>
              </a:rPr>
              <a:t>SSO, MFA cho CFO</a:t>
            </a:r>
          </a:p>
          <a:p>
            <a:pPr algn="l" marL="182880" indent="-182880">
              <a:spcAft>
                <a:spcPts val="800"/>
              </a:spcAft>
              <a:buClr>
                <a:srgbClr val="4D7C0F"/>
              </a:buClr>
              <a:buFont typeface="Arial"/>
              <a:buChar char="•"/>
            </a:pPr>
            <a:r>
              <a:rPr sz="1400" b="0" i="0">
                <a:solidFill>
                  <a:srgbClr val="0F172A"/>
                </a:solidFill>
                <a:latin typeface="Calibri"/>
              </a:rPr>
              <a:t>Worker đọc file cô lập</a:t>
            </a:r>
          </a:p>
          <a:p>
            <a:pPr algn="l" marL="182880" indent="-182880">
              <a:spcAft>
                <a:spcPts val="800"/>
              </a:spcAft>
              <a:buClr>
                <a:srgbClr val="4D7C0F"/>
              </a:buClr>
              <a:buFont typeface="Arial"/>
              <a:buChar char="•"/>
            </a:pPr>
            <a:r>
              <a:rPr sz="1400" b="0" i="0">
                <a:solidFill>
                  <a:srgbClr val="0F172A"/>
                </a:solidFill>
                <a:latin typeface="Calibri"/>
              </a:rPr>
              <a:t>Đối chiếu dữ liệu hóa đơn điện tử của cơ quan thuế</a:t>
            </a:r>
          </a:p>
          <a:p>
            <a:pPr algn="l" marL="182880" indent="-182880">
              <a:spcAft>
                <a:spcPts val="800"/>
              </a:spcAft>
              <a:buClr>
                <a:srgbClr val="4D7C0F"/>
              </a:buClr>
              <a:buFont typeface="Arial"/>
              <a:buChar char="•"/>
            </a:pPr>
            <a:r>
              <a:rPr sz="1400" b="0" i="0">
                <a:solidFill>
                  <a:srgbClr val="0F172A"/>
                </a:solidFill>
                <a:latin typeface="Calibri"/>
              </a:rPr>
              <a:t>Thử với người dùng thật, có số liệu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D9F99D"/>
                </a:solidFill>
                <a:latin typeface="Calibri"/>
              </a:rPr>
              <a:t>DEMO TRỰC TIẾP</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FFFFFF"/>
                </a:solidFill>
                <a:latin typeface="Cambria"/>
              </a:rPr>
              <a:t>Sáu bước trên bản đang chạy</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94A3B8"/>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94A3B8"/>
                </a:solidFill>
                <a:latin typeface="Calibri"/>
              </a:rPr>
              <a:t>19</a:t>
            </a:r>
          </a:p>
        </p:txBody>
      </p:sp>
      <p:sp>
        <p:nvSpPr>
          <p:cNvPr id="6" name="Oval 5"/>
          <p:cNvSpPr/>
          <p:nvPr/>
        </p:nvSpPr>
        <p:spPr>
          <a:xfrm>
            <a:off x="548640" y="124358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1</a:t>
            </a:r>
          </a:p>
        </p:txBody>
      </p:sp>
      <p:sp>
        <p:nvSpPr>
          <p:cNvPr id="7" name="TextBox 6"/>
          <p:cNvSpPr txBox="1"/>
          <p:nvPr/>
        </p:nvSpPr>
        <p:spPr>
          <a:xfrm>
            <a:off x="1097280" y="1207008"/>
            <a:ext cx="4572000" cy="438912"/>
          </a:xfrm>
          <a:prstGeom prst="rect">
            <a:avLst/>
          </a:prstGeom>
          <a:noFill/>
        </p:spPr>
        <p:txBody>
          <a:bodyPr wrap="square" lIns="0" rIns="0" tIns="0" bIns="0" anchor="ctr">
            <a:noAutofit/>
          </a:bodyPr>
          <a:lstStyle/>
          <a:p>
            <a:pPr algn="l"/>
            <a:r>
              <a:rPr sz="1400" b="0" i="0">
                <a:solidFill>
                  <a:srgbClr val="E2E8F0"/>
                </a:solidFill>
                <a:latin typeface="Calibri"/>
              </a:rPr>
              <a:t>Kế toán viên tải một lô nhiều file</a:t>
            </a:r>
          </a:p>
        </p:txBody>
      </p:sp>
      <p:sp>
        <p:nvSpPr>
          <p:cNvPr id="8" name="Oval 7"/>
          <p:cNvSpPr/>
          <p:nvPr/>
        </p:nvSpPr>
        <p:spPr>
          <a:xfrm>
            <a:off x="548640" y="179222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2</a:t>
            </a:r>
          </a:p>
        </p:txBody>
      </p:sp>
      <p:sp>
        <p:nvSpPr>
          <p:cNvPr id="9" name="TextBox 8"/>
          <p:cNvSpPr txBox="1"/>
          <p:nvPr/>
        </p:nvSpPr>
        <p:spPr>
          <a:xfrm>
            <a:off x="1097280" y="1755648"/>
            <a:ext cx="4572000" cy="438912"/>
          </a:xfrm>
          <a:prstGeom prst="rect">
            <a:avLst/>
          </a:prstGeom>
          <a:noFill/>
        </p:spPr>
        <p:txBody>
          <a:bodyPr wrap="square" lIns="0" rIns="0" tIns="0" bIns="0" anchor="ctr">
            <a:noAutofit/>
          </a:bodyPr>
          <a:lstStyle/>
          <a:p>
            <a:pPr algn="l"/>
            <a:r>
              <a:rPr sz="1400" b="0" i="0">
                <a:solidFill>
                  <a:srgbClr val="E2E8F0"/>
                </a:solidFill>
                <a:latin typeface="Calibri"/>
              </a:rPr>
              <a:t>Lô xếp MST → ngày → số; file trùng chỉ tính một</a:t>
            </a:r>
          </a:p>
        </p:txBody>
      </p:sp>
      <p:sp>
        <p:nvSpPr>
          <p:cNvPr id="10" name="Oval 9"/>
          <p:cNvSpPr/>
          <p:nvPr/>
        </p:nvSpPr>
        <p:spPr>
          <a:xfrm>
            <a:off x="548640" y="234086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3</a:t>
            </a:r>
          </a:p>
        </p:txBody>
      </p:sp>
      <p:sp>
        <p:nvSpPr>
          <p:cNvPr id="11" name="TextBox 10"/>
          <p:cNvSpPr txBox="1"/>
          <p:nvPr/>
        </p:nvSpPr>
        <p:spPr>
          <a:xfrm>
            <a:off x="1097280" y="2304288"/>
            <a:ext cx="4572000" cy="438912"/>
          </a:xfrm>
          <a:prstGeom prst="rect">
            <a:avLst/>
          </a:prstGeom>
          <a:noFill/>
        </p:spPr>
        <p:txBody>
          <a:bodyPr wrap="square" lIns="0" rIns="0" tIns="0" bIns="0" anchor="ctr">
            <a:noAutofit/>
          </a:bodyPr>
          <a:lstStyle/>
          <a:p>
            <a:pPr algn="l"/>
            <a:r>
              <a:rPr sz="1400" b="0" i="0">
                <a:solidFill>
                  <a:srgbClr val="E2E8F0"/>
                </a:solidFill>
                <a:latin typeface="Calibri"/>
              </a:rPr>
              <a:t>Mở phiếu giải trình: một ca duyệt, một ca dừng tô đỏ</a:t>
            </a:r>
          </a:p>
        </p:txBody>
      </p:sp>
      <p:sp>
        <p:nvSpPr>
          <p:cNvPr id="12" name="Oval 11"/>
          <p:cNvSpPr/>
          <p:nvPr/>
        </p:nvSpPr>
        <p:spPr>
          <a:xfrm>
            <a:off x="548640" y="288950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4</a:t>
            </a:r>
          </a:p>
        </p:txBody>
      </p:sp>
      <p:sp>
        <p:nvSpPr>
          <p:cNvPr id="13" name="TextBox 12"/>
          <p:cNvSpPr txBox="1"/>
          <p:nvPr/>
        </p:nvSpPr>
        <p:spPr>
          <a:xfrm>
            <a:off x="1097280" y="2852928"/>
            <a:ext cx="4572000" cy="438912"/>
          </a:xfrm>
          <a:prstGeom prst="rect">
            <a:avLst/>
          </a:prstGeom>
          <a:noFill/>
        </p:spPr>
        <p:txBody>
          <a:bodyPr wrap="square" lIns="0" rIns="0" tIns="0" bIns="0" anchor="ctr">
            <a:noAutofit/>
          </a:bodyPr>
          <a:lstStyle/>
          <a:p>
            <a:pPr algn="l"/>
            <a:r>
              <a:rPr sz="1400" b="0" i="0">
                <a:solidFill>
                  <a:srgbClr val="E2E8F0"/>
                </a:solidFill>
                <a:latin typeface="Calibri"/>
              </a:rPr>
              <a:t>Kế toán trưởng trả lời nhóm câu hỏi “1A, 2A”</a:t>
            </a:r>
          </a:p>
        </p:txBody>
      </p:sp>
      <p:sp>
        <p:nvSpPr>
          <p:cNvPr id="14" name="Oval 13"/>
          <p:cNvSpPr/>
          <p:nvPr/>
        </p:nvSpPr>
        <p:spPr>
          <a:xfrm>
            <a:off x="548640" y="343814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5</a:t>
            </a:r>
          </a:p>
        </p:txBody>
      </p:sp>
      <p:sp>
        <p:nvSpPr>
          <p:cNvPr id="15" name="TextBox 14"/>
          <p:cNvSpPr txBox="1"/>
          <p:nvPr/>
        </p:nvSpPr>
        <p:spPr>
          <a:xfrm>
            <a:off x="1097280" y="3401568"/>
            <a:ext cx="4572000" cy="438912"/>
          </a:xfrm>
          <a:prstGeom prst="rect">
            <a:avLst/>
          </a:prstGeom>
          <a:noFill/>
        </p:spPr>
        <p:txBody>
          <a:bodyPr wrap="square" lIns="0" rIns="0" tIns="0" bIns="0" anchor="ctr">
            <a:noAutofit/>
          </a:bodyPr>
          <a:lstStyle/>
          <a:p>
            <a:pPr algn="l"/>
            <a:r>
              <a:rPr sz="1400" b="0" i="0">
                <a:solidFill>
                  <a:srgbClr val="E2E8F0"/>
                </a:solidFill>
                <a:latin typeface="Calibri"/>
              </a:rPr>
              <a:t>Người tạo lô tự chốt: bị chặn. Người có quyền chốt lô</a:t>
            </a:r>
          </a:p>
        </p:txBody>
      </p:sp>
      <p:sp>
        <p:nvSpPr>
          <p:cNvPr id="16" name="Oval 15"/>
          <p:cNvSpPr/>
          <p:nvPr/>
        </p:nvSpPr>
        <p:spPr>
          <a:xfrm>
            <a:off x="548640" y="3986784"/>
            <a:ext cx="365760" cy="365760"/>
          </a:xfrm>
          <a:prstGeom prst="ellipse">
            <a:avLst/>
          </a:prstGeom>
          <a:solidFill>
            <a:srgbClr val="D9F99D"/>
          </a:solidFill>
          <a:ln>
            <a:noFill/>
          </a:ln>
        </p:spPr>
        <p:txBody>
          <a:bodyPr rtlCol="0" anchor="ctr" lIns="0" rIns="0" tIns="0" bIns="0" wrap="square">
            <a:noAutofit/>
          </a:bodyPr>
          <a:lstStyle/>
          <a:p>
            <a:pPr algn="ctr"/>
            <a:r>
              <a:rPr sz="1300" b="1" i="0">
                <a:solidFill>
                  <a:srgbClr val="0F172A"/>
                </a:solidFill>
                <a:latin typeface="Calibri"/>
              </a:rPr>
              <a:t>6</a:t>
            </a:r>
          </a:p>
        </p:txBody>
      </p:sp>
      <p:sp>
        <p:nvSpPr>
          <p:cNvPr id="17" name="TextBox 16"/>
          <p:cNvSpPr txBox="1"/>
          <p:nvPr/>
        </p:nvSpPr>
        <p:spPr>
          <a:xfrm>
            <a:off x="1097280" y="3950208"/>
            <a:ext cx="4572000" cy="438912"/>
          </a:xfrm>
          <a:prstGeom prst="rect">
            <a:avLst/>
          </a:prstGeom>
          <a:noFill/>
        </p:spPr>
        <p:txBody>
          <a:bodyPr wrap="square" lIns="0" rIns="0" tIns="0" bIns="0" anchor="ctr">
            <a:noAutofit/>
          </a:bodyPr>
          <a:lstStyle/>
          <a:p>
            <a:pPr algn="l"/>
            <a:r>
              <a:rPr sz="1400" b="0" i="0">
                <a:solidFill>
                  <a:srgbClr val="E2E8F0"/>
                </a:solidFill>
                <a:latin typeface="Calibri"/>
              </a:rPr>
              <a:t>Xem tổng quan cho sếp, chạy /trust 12/12</a:t>
            </a:r>
          </a:p>
        </p:txBody>
      </p:sp>
      <p:sp>
        <p:nvSpPr>
          <p:cNvPr id="18" name="Rounded Rectangle 17"/>
          <p:cNvSpPr/>
          <p:nvPr/>
        </p:nvSpPr>
        <p:spPr>
          <a:xfrm>
            <a:off x="6035040" y="1207008"/>
            <a:ext cx="2651760" cy="1828800"/>
          </a:xfrm>
          <a:prstGeom prst="roundRect">
            <a:avLst>
              <a:gd name="adj" fmla="val 8000"/>
            </a:avLst>
          </a:prstGeom>
          <a:solidFill>
            <a:srgbClr val="1E293B"/>
          </a:solidFill>
          <a:ln>
            <a:noFill/>
          </a:ln>
        </p:spPr>
        <p:txBody>
          <a:bodyPr rtlCol="0" anchor="ctr" lIns="228600" rIns="228600" tIns="54864" bIns="54864" wrap="square">
            <a:noAutofit/>
          </a:bodyPr>
          <a:lstStyle/>
          <a:p>
            <a:pPr algn="l">
              <a:spcAft>
                <a:spcPts val="600"/>
              </a:spcAft>
            </a:pPr>
            <a:r>
              <a:rPr sz="2000" b="1" i="0">
                <a:solidFill>
                  <a:srgbClr val="D9F99D"/>
                </a:solidFill>
                <a:latin typeface="Cambria"/>
              </a:rPr>
              <a:t>Video 1 phút</a:t>
            </a:r>
          </a:p>
          <a:p>
            <a:pPr algn="l"/>
            <a:r>
              <a:rPr sz="1300" b="0" i="0">
                <a:solidFill>
                  <a:srgbClr val="CBD5E1"/>
                </a:solidFill>
                <a:latin typeface="Calibri"/>
              </a:rPr>
              <a:t>Dự phòng khi mạng hội trường chậm.</a:t>
            </a:r>
          </a:p>
        </p:txBody>
      </p:sp>
      <p:sp>
        <p:nvSpPr>
          <p:cNvPr id="19" name="TextBox 18"/>
          <p:cNvSpPr txBox="1"/>
          <p:nvPr/>
        </p:nvSpPr>
        <p:spPr>
          <a:xfrm>
            <a:off x="6035040" y="3246120"/>
            <a:ext cx="2651760" cy="822960"/>
          </a:xfrm>
          <a:prstGeom prst="rect">
            <a:avLst/>
          </a:prstGeom>
          <a:noFill/>
        </p:spPr>
        <p:txBody>
          <a:bodyPr wrap="square" lIns="0" rIns="0" tIns="0" bIns="0" anchor="t">
            <a:noAutofit/>
          </a:bodyPr>
          <a:lstStyle/>
          <a:p>
            <a:pPr algn="l">
              <a:spcAft>
                <a:spcPts val="200"/>
              </a:spcAft>
            </a:pPr>
            <a:r>
              <a:rPr sz="1100" b="1" i="0">
                <a:solidFill>
                  <a:srgbClr val="D9F99D"/>
                </a:solidFill>
                <a:latin typeface="Calibri"/>
              </a:rPr>
              <a:t>Bản đang chạy</a:t>
            </a:r>
          </a:p>
          <a:p>
            <a:pPr algn="l"/>
            <a:r>
              <a:rPr sz="1100" b="0" i="0">
                <a:solidFill>
                  <a:srgbClr val="CBD5E1"/>
                </a:solidFill>
                <a:latin typeface="Calibri"/>
              </a:rPr>
              <a:t>limegreen-salamander-517622</a:t>
            </a:r>
          </a:p>
          <a:p>
            <a:pPr algn="l"/>
            <a:r>
              <a:rPr sz="1100" b="0" i="0">
                <a:solidFill>
                  <a:srgbClr val="CBD5E1"/>
                </a:solidFill>
                <a:latin typeface="Calibri"/>
              </a:rPr>
              <a:t>.hostingersite.com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