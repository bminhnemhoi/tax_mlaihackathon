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Vấn đề" id="{9cd75de9-358b-993c-3822-aefd2953db36}">
          <p14:sldIdLst>
            <p14:sldId id="256"/>
          </p14:sldIdLst>
        </p14:section>
        <p14:section name="2 · Đầu vào → Xử lý → Đầu ra" id="{ccc2ff38-5695-4dd7-e3e5-cbea570cbd80}">
          <p14:sldIdLst>
            <p14:sldId id="257"/>
          </p14:sldIdLst>
        </p14:section>
        <p14:section name="3 · Tác động" id="{df9d4313-e0f9-de7b-8f1a-c08965d93324}">
          <p14:sldIdLst>
            <p14:sldId id="258"/>
          </p14:sldIdLst>
        </p14:section>
        <p14:section name="4 · Kiến trúc" id="{e3d320ce-d85c-ffde-335d-0945a7252a26}">
          <p14:sldIdLst>
            <p14:sldId id="259"/>
          </p14:sldIdLst>
        </p14:section>
        <p14:section name="5 · Giới hạn và rủi ro" id="{d97203d5-eb93-13e4-ace0-432bcbc2b518}">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giây. Bài toán không phải đọc hóa đơn nhanh hơn, mà là biết khi nào được tự duyệt, khi nào phải dừng, và hỏi thế nào để người duyệt trả lời ngay. Hai lỗi ngược nhau đều đắt: duyệt bừa thì mất VAT và bị phạt; chuyển hết thì người duyệt nghẽn. Doanh nghiệp góp ý: định giá theo VAT bảo vệ được và tiền phạt tránh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Khớp đúng màn hình demo: Verify → hộp chuyển tiếp → đổi vai KTT/CFO → trả lời "1A, 2A" → nhật ký → dừng/hoàn tác. Nhấn mạnh: quy tắc TypeScript là thẩm quyền duy nhất, không có vòng lặp agent. Ba ví dụ câu hỏi lấy nguyên văn từ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A đo trên hệ thống, tái lập bằng scripts/qa/compare-rehearsal.ts (docs/evidence/before-after-judge-rehearsal-2026-10-14.md): đúng 3/11 → 11/11, hỏi thừa 3/3 → 0/3, sai nhóm 4/8 → 0/8, câu hỏi cụ thể 1/10 → 8/8. Nói rõ giới hạn. Ô người dùng chỉ điền số thật ngày 16/10; nếu chưa có, nói "chưa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hỏi "vòng lặp agent không có trần" của doanh nghiệp: không còn vòng lặp. Dữ liệu ảnh chỉ đi qua Gemini khi tải ảnh; XML không qua AI. Persistence: SQLite WAL trên volume, test khởi động lại; audit chỉ ghi thêm (trigger) và HMAC nếu đặt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có trọng số lớn: nói thẳng giới hạn. Ca U2 (tiệc cưới) trong buổi thử là ví dụ thật của rủi ro hàng 1. Hai ô bên phải chỉ điền phản hồi thật của người dùng; mỗi cải tiến là một commit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900" dirty="0">
                <a:solidFill>
                  <a:schemeClr val="tx2"/>
                </a:solidFill>
              </a:rPr>
              <a:t>Tax Referee · Đội Fprinciples · MLAI Hackathon 2026 · Track VNG</a:t>
            </a:r>
            <a:endParaRPr lang="en-US" sz="900" dirty="0"/>
          </a:p>
        </p:txBody>
      </p:sp>
      <p:sp>
        <p:nvSpPr>
          <p:cNvPr id="3" name="Text 1"/>
          <p:cNvSpPr/>
          <p:nvPr>
            <p:ph idx="101"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r>
              <a:rPr lang="en-US" sz="3000" b="1" dirty="0">
                <a:solidFill>
                  <a:schemeClr val="tx1"/>
                </a:solidFill>
                <a:latin typeface="Cambria" pitchFamily="34" charset="0"/>
                <a:ea typeface="Cambria" pitchFamily="34" charset="-122"/>
                <a:cs typeface="Cambria" pitchFamily="34" charset="-120"/>
              </a:rPr>
              <a:t>Tiêu đề</a:t>
            </a:r>
            <a:endParaRPr lang="en-US" sz="3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900" dirty="0">
                <a:solidFill>
                  <a:srgbClr val="CBD5E1"/>
                </a:solidFill>
              </a:rPr>
              <a:t>Tax Referee · Đội Fprinciples · MLAI Hackathon 2026 · Track VNG</a:t>
            </a:r>
            <a:endParaRPr lang="en-US" sz="900" dirty="0"/>
          </a:p>
        </p:txBody>
      </p:sp>
      <p:sp>
        <p:nvSpPr>
          <p:cNvPr id="3" name="Text 1"/>
          <p:cNvSpPr/>
          <p:nvPr>
            <p:ph idx="101" type="title" hasCustomPrompt="1"/>
          </p:nvPr>
        </p:nvSpPr>
        <p:spPr>
          <a:xfrm>
            <a:off x="457200" y="502920"/>
            <a:ext cx="822960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r>
              <a:rPr lang="en-US" sz="3200" b="1" dirty="0">
                <a:solidFill>
                  <a:schemeClr val="bg1"/>
                </a:solidFill>
                <a:latin typeface="Cambria" pitchFamily="34" charset="0"/>
                <a:ea typeface="Cambria" pitchFamily="34" charset="-122"/>
                <a:cs typeface="Cambria" pitchFamily="34" charset="-120"/>
              </a:rPr>
              <a:t>Tiêu đề</a:t>
            </a:r>
            <a:endParaRPr lang="en-US" sz="3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CBD5E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228600"/>
            <a:ext cx="82296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TAX REFEREE · ĐỀ A — THE ESCALATION REFEREE</a:t>
            </a:r>
            <a:endParaRPr lang="en-US" sz="1100" dirty="0"/>
          </a:p>
        </p:txBody>
      </p:sp>
      <p:sp>
        <p:nvSpPr>
          <p:cNvPr id="3" name="Text 1"/>
          <p:cNvSpPr/>
          <p:nvPr>
            <p:ph idx="101"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Hóa đơn sai điều kiện = tiền thuế bị mất</a:t>
            </a:r>
            <a:endParaRPr lang="en-US" sz="3200" dirty="0"/>
          </a:p>
        </p:txBody>
      </p:sp>
      <p:sp>
        <p:nvSpPr>
          <p:cNvPr id="4" name="Conditions list"/>
          <p:cNvSpPr txBox="1"/>
          <p:nvPr/>
        </p:nvSpPr>
        <p:spPr>
          <a:xfrm>
            <a:off x="457200" y="1371600"/>
            <a:ext cx="4206240" cy="251460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Mỗi hóa đơn đầu vào phải đạt nhiều điều kiện cùng lúc:</a:t>
            </a:r>
            <a:endParaRPr lang="en-US" sz="1400" dirty="0"/>
          </a:p>
          <a:p>
            <a:pPr marL="177800" indent="-177800">
              <a:spcAft>
                <a:spcPts val="600"/>
              </a:spcAft>
              <a:buSzPct val="100000"/>
              <a:buChar char="•"/>
            </a:pPr>
            <a:r>
              <a:rPr lang="en-US" sz="1400" dirty="0">
                <a:solidFill>
                  <a:srgbClr val="E2E8F0"/>
                </a:solidFill>
              </a:rPr>
              <a:t>Từ 5.000.000₫ phải thanh toán không dùng tiền mặt</a:t>
            </a:r>
            <a:endParaRPr lang="en-US" sz="1400" dirty="0"/>
          </a:p>
          <a:p>
            <a:pPr marL="177800" indent="-177800">
              <a:spcAft>
                <a:spcPts val="600"/>
              </a:spcAft>
              <a:buSzPct val="100000"/>
              <a:buChar char="•"/>
            </a:pPr>
            <a:r>
              <a:rPr lang="en-US" sz="1400" dirty="0">
                <a:solidFill>
                  <a:srgbClr val="E2E8F0"/>
                </a:solidFill>
              </a:rPr>
              <a:t>Thuế suất 8% có danh mục loại trừ (viễn thông, CNTT, tài chính…)</a:t>
            </a:r>
            <a:endParaRPr lang="en-US" sz="1400" dirty="0"/>
          </a:p>
          <a:p>
            <a:pPr marL="177800" indent="-177800">
              <a:spcAft>
                <a:spcPts val="600"/>
              </a:spcAft>
              <a:buSzPct val="100000"/>
              <a:buChar char="•"/>
            </a:pPr>
            <a:r>
              <a:rPr lang="en-US" sz="1400" dirty="0">
                <a:solidFill>
                  <a:srgbClr val="E2E8F0"/>
                </a:solidFill>
              </a:rPr>
              <a:t>Đúng MST người mua; MST người bán còn hoạt động</a:t>
            </a:r>
            <a:endParaRPr lang="en-US" sz="1400" dirty="0"/>
          </a:p>
          <a:p>
            <a:pPr marL="177800" indent="-177800">
              <a:spcAft>
                <a:spcPts val="600"/>
              </a:spcAft>
              <a:buSzPct val="100000"/>
              <a:buChar char="•"/>
            </a:pPr>
            <a:r>
              <a:rPr lang="en-US" sz="1400" dirty="0">
                <a:solidFill>
                  <a:srgbClr val="E2E8F0"/>
                </a:solidFill>
              </a:rPr>
              <a:t>Đúng người duyệt theo hạn mức (KTT / CFO)</a:t>
            </a:r>
            <a:endParaRPr lang="en-US" sz="1400" dirty="0"/>
          </a:p>
          <a:p>
            <a:pPr indent="0" marL="0">
              <a:spcAft>
                <a:spcPts val="600"/>
              </a:spcAft>
              <a:buNone/>
            </a:pPr>
            <a:r>
              <a:rPr lang="en-US" sz="1400" i="1" dirty="0">
                <a:solidFill>
                  <a:srgbClr val="CBD5E1"/>
                </a:solidFill>
              </a:rPr>
              <a:t>Ca khó hôm nay: nhắn “anh xem giúp hóa đơn này” — người duyệt phải mở lại chứng từ mới hiểu đang hỏi gì.</a:t>
            </a:r>
            <a:endParaRPr lang="en-US" sz="1400" dirty="0"/>
          </a:p>
        </p:txBody>
      </p:sp>
      <p:sp>
        <p:nvSpPr>
          <p:cNvPr id="5" name="Pain card 1"/>
          <p:cNvSpPr/>
          <p:nvPr/>
        </p:nvSpPr>
        <p:spPr>
          <a:xfrm>
            <a:off x="4983480" y="1371600"/>
            <a:ext cx="3703320" cy="1051560"/>
          </a:xfrm>
          <a:prstGeom prst="roundRect">
            <a:avLst>
              <a:gd name="adj" fmla="val 10435"/>
            </a:avLst>
          </a:prstGeom>
          <a:solidFill>
            <a:srgbClr val="1E293B"/>
          </a:solidFill>
          <a:ln w="12700">
            <a:solidFill>
              <a:srgbClr val="1E293B"/>
            </a:solidFill>
            <a:prstDash val="solid"/>
          </a:ln>
          <a:effectLst>
            <a:outerShdw sx="100000" sy="100000" kx="0" ky="0" algn="bl" rotWithShape="0" blurRad="76200" dist="25400" dir="5400000">
              <a:srgbClr val="94A3B8">
                <a:alpha val="25000"/>
              </a:srgbClr>
            </a:outerShdw>
          </a:effectLst>
        </p:spPr>
      </p:sp>
      <p:sp>
        <p:nvSpPr>
          <p:cNvPr id="6" name="Pain 1 badge"/>
          <p:cNvSpPr/>
          <p:nvPr/>
        </p:nvSpPr>
        <p:spPr>
          <a:xfrm>
            <a:off x="5166360" y="1645920"/>
            <a:ext cx="502920" cy="502920"/>
          </a:xfrm>
          <a:prstGeom prst="ellipse">
            <a:avLst/>
          </a:prstGeom>
          <a:solidFill>
            <a:schemeClr val="accent4"/>
          </a:solidFill>
          <a:ln w="12700">
            <a:solidFill>
              <a:schemeClr val="accent4"/>
            </a:solidFill>
            <a:prstDash val="solid"/>
          </a:ln>
        </p:spPr>
      </p:sp>
      <p:sp>
        <p:nvSpPr>
          <p:cNvPr id="7" name="Pain 1 badge text"/>
          <p:cNvSpPr txBox="1"/>
          <p:nvPr/>
        </p:nvSpPr>
        <p:spPr>
          <a:xfrm>
            <a:off x="51663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Pain 1 title"/>
          <p:cNvSpPr txBox="1"/>
          <p:nvPr/>
        </p:nvSpPr>
        <p:spPr>
          <a:xfrm>
            <a:off x="5806440" y="1481328"/>
            <a:ext cx="2743200" cy="320040"/>
          </a:xfrm>
          <a:prstGeom prst="rect">
            <a:avLst/>
          </a:prstGeom>
          <a:noFill/>
          <a:ln/>
        </p:spPr>
        <p:txBody>
          <a:bodyPr wrap="square" lIns="0" tIns="0" rIns="0" bIns="0" rtlCol="0" anchor="ctr"/>
          <a:lstStyle/>
          <a:p>
            <a:pPr indent="0" marL="0">
              <a:buNone/>
            </a:pPr>
            <a:r>
              <a:rPr lang="en-US" sz="1600" b="1" dirty="0">
                <a:solidFill>
                  <a:schemeClr val="bg1"/>
                </a:solidFill>
              </a:rPr>
              <a:t>Tự động duyệt bừa</a:t>
            </a:r>
            <a:endParaRPr lang="en-US" sz="1600" dirty="0"/>
          </a:p>
        </p:txBody>
      </p:sp>
      <p:sp>
        <p:nvSpPr>
          <p:cNvPr id="9" name="Pain 1 body"/>
          <p:cNvSpPr txBox="1"/>
          <p:nvPr/>
        </p:nvSpPr>
        <p:spPr>
          <a:xfrm>
            <a:off x="5806440" y="1801368"/>
            <a:ext cx="2743200" cy="548640"/>
          </a:xfrm>
          <a:prstGeom prst="rect">
            <a:avLst/>
          </a:prstGeom>
          <a:noFill/>
          <a:ln/>
        </p:spPr>
        <p:txBody>
          <a:bodyPr wrap="square" lIns="0" tIns="0" rIns="0" bIns="0" rtlCol="0" anchor="t"/>
          <a:lstStyle/>
          <a:p>
            <a:pPr indent="0" marL="0">
              <a:buNone/>
            </a:pPr>
            <a:r>
              <a:rPr lang="en-US" sz="1300" dirty="0">
                <a:solidFill>
                  <a:srgbClr val="CBD5E1"/>
                </a:solidFill>
              </a:rPr>
              <a:t>Thuế GTGT đầu vào bị loại và bị phạt khi thanh tra — mất tiền mặt.</a:t>
            </a:r>
            <a:endParaRPr lang="en-US" sz="1300" dirty="0"/>
          </a:p>
        </p:txBody>
      </p:sp>
      <p:sp>
        <p:nvSpPr>
          <p:cNvPr id="10" name="Pain card 2"/>
          <p:cNvSpPr/>
          <p:nvPr/>
        </p:nvSpPr>
        <p:spPr>
          <a:xfrm>
            <a:off x="4983480" y="2606040"/>
            <a:ext cx="3703320" cy="1051560"/>
          </a:xfrm>
          <a:prstGeom prst="roundRect">
            <a:avLst>
              <a:gd name="adj" fmla="val 10435"/>
            </a:avLst>
          </a:prstGeom>
          <a:solidFill>
            <a:srgbClr val="1E293B"/>
          </a:solidFill>
          <a:ln w="12700">
            <a:solidFill>
              <a:srgbClr val="1E293B"/>
            </a:solidFill>
            <a:prstDash val="solid"/>
          </a:ln>
          <a:effectLst>
            <a:outerShdw sx="100000" sy="100000" kx="0" ky="0" algn="bl" rotWithShape="0" blurRad="76200" dist="25400" dir="5400000">
              <a:srgbClr val="94A3B8">
                <a:alpha val="25000"/>
              </a:srgbClr>
            </a:outerShdw>
          </a:effectLst>
        </p:spPr>
      </p:sp>
      <p:sp>
        <p:nvSpPr>
          <p:cNvPr id="11" name="Pain 2 badge"/>
          <p:cNvSpPr/>
          <p:nvPr/>
        </p:nvSpPr>
        <p:spPr>
          <a:xfrm>
            <a:off x="5166360" y="2880360"/>
            <a:ext cx="502920" cy="502920"/>
          </a:xfrm>
          <a:prstGeom prst="ellipse">
            <a:avLst/>
          </a:prstGeom>
          <a:solidFill>
            <a:schemeClr val="accent3"/>
          </a:solidFill>
          <a:ln w="12700">
            <a:solidFill>
              <a:schemeClr val="accent3"/>
            </a:solidFill>
            <a:prstDash val="solid"/>
          </a:ln>
        </p:spPr>
      </p:sp>
      <p:sp>
        <p:nvSpPr>
          <p:cNvPr id="12" name="Pain 2 badge text"/>
          <p:cNvSpPr txBox="1"/>
          <p:nvPr/>
        </p:nvSpPr>
        <p:spPr>
          <a:xfrm>
            <a:off x="5166360" y="2880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Pain 2 title"/>
          <p:cNvSpPr txBox="1"/>
          <p:nvPr/>
        </p:nvSpPr>
        <p:spPr>
          <a:xfrm>
            <a:off x="5806440" y="2715768"/>
            <a:ext cx="2743200" cy="320040"/>
          </a:xfrm>
          <a:prstGeom prst="rect">
            <a:avLst/>
          </a:prstGeom>
          <a:noFill/>
          <a:ln/>
        </p:spPr>
        <p:txBody>
          <a:bodyPr wrap="square" lIns="0" tIns="0" rIns="0" bIns="0" rtlCol="0" anchor="ctr"/>
          <a:lstStyle/>
          <a:p>
            <a:pPr indent="0" marL="0">
              <a:buNone/>
            </a:pPr>
            <a:r>
              <a:rPr lang="en-US" sz="1600" b="1" dirty="0">
                <a:solidFill>
                  <a:schemeClr val="bg1"/>
                </a:solidFill>
              </a:rPr>
              <a:t>Chuyển hết cho người duyệt</a:t>
            </a:r>
            <a:endParaRPr lang="en-US" sz="1600" dirty="0"/>
          </a:p>
        </p:txBody>
      </p:sp>
      <p:sp>
        <p:nvSpPr>
          <p:cNvPr id="14" name="Pain 2 body"/>
          <p:cNvSpPr txBox="1"/>
          <p:nvPr/>
        </p:nvSpPr>
        <p:spPr>
          <a:xfrm>
            <a:off x="5806440" y="3035808"/>
            <a:ext cx="2743200" cy="548640"/>
          </a:xfrm>
          <a:prstGeom prst="rect">
            <a:avLst/>
          </a:prstGeom>
          <a:noFill/>
          <a:ln/>
        </p:spPr>
        <p:txBody>
          <a:bodyPr wrap="square" lIns="0" tIns="0" rIns="0" bIns="0" rtlCol="0" anchor="t"/>
          <a:lstStyle/>
          <a:p>
            <a:pPr indent="0" marL="0">
              <a:buNone/>
            </a:pPr>
            <a:r>
              <a:rPr lang="en-US" sz="1300" dirty="0">
                <a:solidFill>
                  <a:srgbClr val="CBD5E1"/>
                </a:solidFill>
              </a:rPr>
              <a:t>KTT/CFO nghẽn cuối tháng; tự động hóa không còn giá trị.</a:t>
            </a:r>
            <a:endParaRPr lang="en-US" sz="1300" dirty="0"/>
          </a:p>
        </p:txBody>
      </p:sp>
      <p:sp>
        <p:nvSpPr>
          <p:cNvPr id="15" name="Promise pill"/>
          <p:cNvSpPr/>
          <p:nvPr/>
        </p:nvSpPr>
        <p:spPr>
          <a:xfrm>
            <a:off x="457200" y="4069080"/>
            <a:ext cx="8229600" cy="548640"/>
          </a:xfrm>
          <a:prstGeom prst="roundRect">
            <a:avLst>
              <a:gd name="adj" fmla="val 50000"/>
            </a:avLst>
          </a:prstGeom>
          <a:solidFill>
            <a:schemeClr val="accent2"/>
          </a:solidFill>
          <a:ln w="12700">
            <a:solidFill>
              <a:schemeClr val="accent2"/>
            </a:solidFill>
            <a:prstDash val="solid"/>
          </a:ln>
        </p:spPr>
      </p:sp>
      <p:sp>
        <p:nvSpPr>
          <p:cNvPr id="16" name="Promise text"/>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500" b="1" dirty="0">
                <a:solidFill>
                  <a:schemeClr val="tx1"/>
                </a:solidFill>
              </a:rPr>
              <a:t>Tax Referee: tự xử lý ca thường quy · dừng đúng lúc · hỏi đúng người, một câu là trả lời được.</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CBD5E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Máy tự xử lý, con người quyết ở 3 điểm</a:t>
            </a:r>
            <a:endParaRPr lang="en-US" sz="3000" dirty="0"/>
          </a:p>
        </p:txBody>
      </p:sp>
      <p:sp>
        <p:nvSpPr>
          <p:cNvPr id="3" name="Flow 1"/>
          <p:cNvSpPr/>
          <p:nvPr/>
        </p:nvSpPr>
        <p:spPr>
          <a:xfrm>
            <a:off x="457200" y="1051560"/>
            <a:ext cx="237744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4" name="Flow 1 head"/>
          <p:cNvSpPr txBox="1"/>
          <p:nvPr/>
        </p:nvSpPr>
        <p:spPr>
          <a:xfrm>
            <a:off x="594360" y="1115568"/>
            <a:ext cx="2103120" cy="274320"/>
          </a:xfrm>
          <a:prstGeom prst="rect">
            <a:avLst/>
          </a:prstGeom>
          <a:noFill/>
          <a:ln/>
        </p:spPr>
        <p:txBody>
          <a:bodyPr wrap="square" lIns="0" tIns="0" rIns="0" bIns="0" rtlCol="0" anchor="ctr"/>
          <a:lstStyle/>
          <a:p>
            <a:pPr indent="0" marL="0">
              <a:buNone/>
            </a:pPr>
            <a:r>
              <a:rPr lang="en-US" sz="1200" b="1" dirty="0">
                <a:solidFill>
                  <a:schemeClr val="accent1"/>
                </a:solidFill>
              </a:rPr>
              <a:t>ĐẦU VÀO</a:t>
            </a:r>
            <a:endParaRPr lang="en-US" sz="1200" dirty="0"/>
          </a:p>
        </p:txBody>
      </p:sp>
      <p:sp>
        <p:nvSpPr>
          <p:cNvPr id="5" name="Flow 1 body"/>
          <p:cNvSpPr txBox="1"/>
          <p:nvPr/>
        </p:nvSpPr>
        <p:spPr>
          <a:xfrm>
            <a:off x="594360" y="1417320"/>
            <a:ext cx="2103120" cy="82296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XML hóa đơn điện tử (TT78)</a:t>
            </a:r>
            <a:endParaRPr lang="en-US" sz="1200" dirty="0"/>
          </a:p>
          <a:p>
            <a:pPr indent="0" marL="0">
              <a:spcAft>
                <a:spcPts val="200"/>
              </a:spcAft>
              <a:buNone/>
            </a:pPr>
            <a:r>
              <a:rPr lang="en-US" sz="1200" dirty="0">
                <a:solidFill>
                  <a:schemeClr val="tx1"/>
                </a:solidFill>
              </a:rPr>
              <a:t>PDF, ảnh chụp, nhập tay</a:t>
            </a:r>
            <a:endParaRPr lang="en-US" sz="1200" dirty="0"/>
          </a:p>
        </p:txBody>
      </p:sp>
      <p:sp>
        <p:nvSpPr>
          <p:cNvPr id="6" name="Flow arrow 1"/>
          <p:cNvSpPr/>
          <p:nvPr/>
        </p:nvSpPr>
        <p:spPr>
          <a:xfrm>
            <a:off x="2880360" y="1527048"/>
            <a:ext cx="228600" cy="274320"/>
          </a:xfrm>
          <a:prstGeom prst="rightArrow">
            <a:avLst/>
          </a:prstGeom>
          <a:solidFill>
            <a:schemeClr val="tx2"/>
          </a:solidFill>
          <a:ln w="12700">
            <a:solidFill>
              <a:schemeClr val="tx2"/>
            </a:solidFill>
            <a:prstDash val="solid"/>
          </a:ln>
        </p:spPr>
      </p:sp>
      <p:sp>
        <p:nvSpPr>
          <p:cNvPr id="7" name="Flow 2"/>
          <p:cNvSpPr/>
          <p:nvPr/>
        </p:nvSpPr>
        <p:spPr>
          <a:xfrm>
            <a:off x="3154680" y="1051560"/>
            <a:ext cx="2743200" cy="1234440"/>
          </a:xfrm>
          <a:prstGeom prst="roundRect">
            <a:avLst>
              <a:gd name="adj" fmla="val 8889"/>
            </a:avLst>
          </a:prstGeom>
          <a:solidFill>
            <a:schemeClr val="tx1"/>
          </a:solidFill>
          <a:ln w="12700">
            <a:solidFill>
              <a:schemeClr val="tx1"/>
            </a:solidFill>
            <a:prstDash val="solid"/>
          </a:ln>
          <a:effectLst>
            <a:outerShdw sx="100000" sy="100000" kx="0" ky="0" algn="bl" rotWithShape="0" blurRad="76200" dist="25400" dir="5400000">
              <a:srgbClr val="94A3B8">
                <a:alpha val="25000"/>
              </a:srgbClr>
            </a:outerShdw>
          </a:effectLst>
        </p:spPr>
      </p:sp>
      <p:sp>
        <p:nvSpPr>
          <p:cNvPr id="8" name="Flow 2 head"/>
          <p:cNvSpPr txBox="1"/>
          <p:nvPr/>
        </p:nvSpPr>
        <p:spPr>
          <a:xfrm>
            <a:off x="3291840" y="1115568"/>
            <a:ext cx="2468880" cy="274320"/>
          </a:xfrm>
          <a:prstGeom prst="rect">
            <a:avLst/>
          </a:prstGeom>
          <a:noFill/>
          <a:ln/>
        </p:spPr>
        <p:txBody>
          <a:bodyPr wrap="square" lIns="0" tIns="0" rIns="0" bIns="0" rtlCol="0" anchor="ctr"/>
          <a:lstStyle/>
          <a:p>
            <a:pPr indent="0" marL="0">
              <a:buNone/>
            </a:pPr>
            <a:r>
              <a:rPr lang="en-US" sz="1200" b="1" dirty="0">
                <a:solidFill>
                  <a:schemeClr val="accent2"/>
                </a:solidFill>
              </a:rPr>
              <a:t>XỬ LÝ (quy tắc trước, AI sau)</a:t>
            </a:r>
            <a:endParaRPr lang="en-US" sz="1200" dirty="0"/>
          </a:p>
        </p:txBody>
      </p:sp>
      <p:sp>
        <p:nvSpPr>
          <p:cNvPr id="9" name="Flow 2 body"/>
          <p:cNvSpPr txBox="1"/>
          <p:nvPr/>
        </p:nvSpPr>
        <p:spPr>
          <a:xfrm>
            <a:off x="3291840" y="1417320"/>
            <a:ext cx="2468880" cy="822960"/>
          </a:xfrm>
          <a:prstGeom prst="rect">
            <a:avLst/>
          </a:prstGeom>
          <a:noFill/>
          <a:ln/>
        </p:spPr>
        <p:txBody>
          <a:bodyPr wrap="square" lIns="0" tIns="0" rIns="0" bIns="0" rtlCol="0" anchor="t"/>
          <a:lstStyle/>
          <a:p>
            <a:pPr indent="0" marL="0">
              <a:spcAft>
                <a:spcPts val="200"/>
              </a:spcAft>
              <a:buNone/>
            </a:pPr>
            <a:r>
              <a:rPr lang="en-US" sz="1200" dirty="0">
                <a:solidFill>
                  <a:schemeClr val="bg1"/>
                </a:solidFill>
              </a:rPr>
              <a:t>1. Kiểm nguồn: thiếu, mờ, khác gốc</a:t>
            </a:r>
            <a:endParaRPr lang="en-US" sz="1200" dirty="0"/>
          </a:p>
          <a:p>
            <a:pPr indent="0" marL="0">
              <a:spcAft>
                <a:spcPts val="200"/>
              </a:spcAft>
              <a:buNone/>
            </a:pPr>
            <a:r>
              <a:rPr lang="en-US" sz="1200" dirty="0">
                <a:solidFill>
                  <a:schemeClr val="bg1"/>
                </a:solidFill>
              </a:rPr>
              <a:t>2. 24 quy tắc SOP — không dùng AI</a:t>
            </a:r>
            <a:endParaRPr lang="en-US" sz="1200" dirty="0"/>
          </a:p>
          <a:p>
            <a:pPr indent="0" marL="0">
              <a:spcAft>
                <a:spcPts val="200"/>
              </a:spcAft>
              <a:buNone/>
            </a:pPr>
            <a:r>
              <a:rPr lang="en-US" sz="1200" dirty="0">
                <a:solidFill>
                  <a:schemeClr val="bg1"/>
                </a:solidFill>
              </a:rPr>
              <a:t>3. Phân nhóm dừng + câu hỏi một câu</a:t>
            </a:r>
            <a:endParaRPr lang="en-US" sz="1200" dirty="0"/>
          </a:p>
        </p:txBody>
      </p:sp>
      <p:sp>
        <p:nvSpPr>
          <p:cNvPr id="10" name="Flow arrow 2"/>
          <p:cNvSpPr/>
          <p:nvPr/>
        </p:nvSpPr>
        <p:spPr>
          <a:xfrm>
            <a:off x="5943600" y="1527048"/>
            <a:ext cx="228600" cy="274320"/>
          </a:xfrm>
          <a:prstGeom prst="rightArrow">
            <a:avLst/>
          </a:prstGeom>
          <a:solidFill>
            <a:schemeClr val="tx2"/>
          </a:solidFill>
          <a:ln w="12700">
            <a:solidFill>
              <a:schemeClr val="tx2"/>
            </a:solidFill>
            <a:prstDash val="solid"/>
          </a:ln>
        </p:spPr>
      </p:sp>
      <p:sp>
        <p:nvSpPr>
          <p:cNvPr id="11" name="Flow 3"/>
          <p:cNvSpPr/>
          <p:nvPr/>
        </p:nvSpPr>
        <p:spPr>
          <a:xfrm>
            <a:off x="6172200" y="1051560"/>
            <a:ext cx="251460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2" name="Flow 3 head"/>
          <p:cNvSpPr txBox="1"/>
          <p:nvPr/>
        </p:nvSpPr>
        <p:spPr>
          <a:xfrm>
            <a:off x="6309360" y="1115568"/>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ĐẦU RA</a:t>
            </a:r>
            <a:endParaRPr lang="en-US" sz="1200" dirty="0"/>
          </a:p>
        </p:txBody>
      </p:sp>
      <p:sp>
        <p:nvSpPr>
          <p:cNvPr id="13" name="Flow 3 body"/>
          <p:cNvSpPr txBox="1"/>
          <p:nvPr/>
        </p:nvSpPr>
        <p:spPr>
          <a:xfrm>
            <a:off x="6309360" y="1417320"/>
            <a:ext cx="2240280" cy="82296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Tự xử lý: duyệt thuế + nhật ký</a:t>
            </a:r>
            <a:endParaRPr lang="en-US" sz="1200" dirty="0"/>
          </a:p>
          <a:p>
            <a:pPr indent="0" marL="0">
              <a:spcAft>
                <a:spcPts val="200"/>
              </a:spcAft>
              <a:buNone/>
            </a:pPr>
            <a:r>
              <a:rPr lang="en-US" sz="1200" dirty="0">
                <a:solidFill>
                  <a:schemeClr val="tx1"/>
                </a:solidFill>
              </a:rPr>
              <a:t>Chuyển tiếp: 1 câu hỏi, đúng người</a:t>
            </a:r>
            <a:endParaRPr lang="en-US" sz="1200" dirty="0"/>
          </a:p>
        </p:txBody>
      </p:sp>
      <p:sp>
        <p:nvSpPr>
          <p:cNvPr id="14" name="Group card 1"/>
          <p:cNvSpPr/>
          <p:nvPr/>
        </p:nvSpPr>
        <p:spPr>
          <a:xfrm>
            <a:off x="457200" y="2468880"/>
            <a:ext cx="265176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5" name="Group 1 badge"/>
          <p:cNvSpPr/>
          <p:nvPr/>
        </p:nvSpPr>
        <p:spPr>
          <a:xfrm>
            <a:off x="594360" y="2578608"/>
            <a:ext cx="384048" cy="384048"/>
          </a:xfrm>
          <a:prstGeom prst="ellipse">
            <a:avLst/>
          </a:prstGeom>
          <a:solidFill>
            <a:schemeClr val="accent3"/>
          </a:solidFill>
          <a:ln w="12700">
            <a:solidFill>
              <a:schemeClr val="accent3"/>
            </a:solidFill>
            <a:prstDash val="solid"/>
          </a:ln>
        </p:spPr>
      </p:sp>
      <p:sp>
        <p:nvSpPr>
          <p:cNvPr id="16" name="Group 1 badge text"/>
          <p:cNvSpPr txBox="1"/>
          <p:nvPr/>
        </p:nvSpPr>
        <p:spPr>
          <a:xfrm>
            <a:off x="594360" y="25786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7" name="Group 1 label"/>
          <p:cNvSpPr txBox="1"/>
          <p:nvPr/>
        </p:nvSpPr>
        <p:spPr>
          <a:xfrm>
            <a:off x="1051560" y="2578608"/>
            <a:ext cx="1463040" cy="384048"/>
          </a:xfrm>
          <a:prstGeom prst="rect">
            <a:avLst/>
          </a:prstGeom>
          <a:noFill/>
          <a:ln/>
        </p:spPr>
        <p:txBody>
          <a:bodyPr wrap="square" lIns="0" tIns="0" rIns="0" bIns="0" rtlCol="0" anchor="ctr"/>
          <a:lstStyle/>
          <a:p>
            <a:pPr indent="0" marL="0">
              <a:buNone/>
            </a:pPr>
            <a:r>
              <a:rPr lang="en-US" sz="1400" b="1" dirty="0">
                <a:solidFill>
                  <a:schemeClr val="accent3"/>
                </a:solidFill>
              </a:rPr>
              <a:t>Chưa rõ thông tin</a:t>
            </a:r>
            <a:endParaRPr lang="en-US" sz="1400" dirty="0"/>
          </a:p>
        </p:txBody>
      </p:sp>
      <p:sp>
        <p:nvSpPr>
          <p:cNvPr id="18" name="Group 1 recipient"/>
          <p:cNvSpPr txBox="1"/>
          <p:nvPr/>
        </p:nvSpPr>
        <p:spPr>
          <a:xfrm>
            <a:off x="2423160" y="2578608"/>
            <a:ext cx="548640" cy="384048"/>
          </a:xfrm>
          <a:prstGeom prst="rect">
            <a:avLst/>
          </a:prstGeom>
          <a:noFill/>
          <a:ln/>
        </p:spPr>
        <p:txBody>
          <a:bodyPr wrap="square" lIns="0" tIns="0" rIns="0" bIns="0" rtlCol="0" anchor="ctr"/>
          <a:lstStyle/>
          <a:p>
            <a:pPr algn="r" indent="0" marL="0">
              <a:buNone/>
            </a:pPr>
            <a:r>
              <a:rPr lang="en-US" sz="1200" b="1" dirty="0">
                <a:solidFill>
                  <a:schemeClr val="tx2"/>
                </a:solidFill>
              </a:rPr>
              <a:t>→ KTT</a:t>
            </a:r>
            <a:endParaRPr lang="en-US" sz="1200" dirty="0"/>
          </a:p>
        </p:txBody>
      </p:sp>
      <p:sp>
        <p:nvSpPr>
          <p:cNvPr id="19" name="Group 1 question"/>
          <p:cNvSpPr txBox="1"/>
          <p:nvPr/>
        </p:nvSpPr>
        <p:spPr>
          <a:xfrm>
            <a:off x="594360" y="3035808"/>
            <a:ext cx="2377440" cy="960120"/>
          </a:xfrm>
          <a:prstGeom prst="rect">
            <a:avLst/>
          </a:prstGeom>
          <a:noFill/>
          <a:ln/>
        </p:spPr>
        <p:txBody>
          <a:bodyPr wrap="square" lIns="0" tIns="0" rIns="0" bIns="0" rtlCol="0" anchor="t"/>
          <a:lstStyle/>
          <a:p>
            <a:pPr indent="0" marL="0">
              <a:buNone/>
            </a:pPr>
            <a:r>
              <a:rPr lang="en-US" sz="1200" i="1" dirty="0">
                <a:solidFill>
                  <a:schemeClr val="tx1"/>
                </a:solidFill>
              </a:rPr>
              <a:t>“Tổng in 480.000₫ lệch tiền hàng + thuế = 495.000₫. A: 495.000₫ — sửa; hay B: 480.000₫ — yêu cầu NCC điều chỉnh?”</a:t>
            </a:r>
            <a:endParaRPr lang="en-US" sz="1200" dirty="0"/>
          </a:p>
        </p:txBody>
      </p:sp>
      <p:sp>
        <p:nvSpPr>
          <p:cNvPr id="20" name="Group card 2"/>
          <p:cNvSpPr/>
          <p:nvPr/>
        </p:nvSpPr>
        <p:spPr>
          <a:xfrm>
            <a:off x="3246120" y="2468880"/>
            <a:ext cx="265176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21" name="Group 2 badge"/>
          <p:cNvSpPr/>
          <p:nvPr/>
        </p:nvSpPr>
        <p:spPr>
          <a:xfrm>
            <a:off x="3383280" y="2578608"/>
            <a:ext cx="384048" cy="384048"/>
          </a:xfrm>
          <a:prstGeom prst="ellipse">
            <a:avLst/>
          </a:prstGeom>
          <a:solidFill>
            <a:schemeClr val="accent4"/>
          </a:solidFill>
          <a:ln w="12700">
            <a:solidFill>
              <a:schemeClr val="accent4"/>
            </a:solidFill>
            <a:prstDash val="solid"/>
          </a:ln>
        </p:spPr>
      </p:sp>
      <p:sp>
        <p:nvSpPr>
          <p:cNvPr id="22" name="Group 2 badge text"/>
          <p:cNvSpPr txBox="1"/>
          <p:nvPr/>
        </p:nvSpPr>
        <p:spPr>
          <a:xfrm>
            <a:off x="3383280" y="25786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3" name="Group 2 label"/>
          <p:cNvSpPr txBox="1"/>
          <p:nvPr/>
        </p:nvSpPr>
        <p:spPr>
          <a:xfrm>
            <a:off x="3840480" y="2578608"/>
            <a:ext cx="1463040" cy="384048"/>
          </a:xfrm>
          <a:prstGeom prst="rect">
            <a:avLst/>
          </a:prstGeom>
          <a:noFill/>
          <a:ln/>
        </p:spPr>
        <p:txBody>
          <a:bodyPr wrap="square" lIns="0" tIns="0" rIns="0" bIns="0" rtlCol="0" anchor="ctr"/>
          <a:lstStyle/>
          <a:p>
            <a:pPr indent="0" marL="0">
              <a:buNone/>
            </a:pPr>
            <a:r>
              <a:rPr lang="en-US" sz="1400" b="1" dirty="0">
                <a:solidFill>
                  <a:schemeClr val="accent4"/>
                </a:solidFill>
              </a:rPr>
              <a:t>Ngoài quy định</a:t>
            </a:r>
            <a:endParaRPr lang="en-US" sz="1400" dirty="0"/>
          </a:p>
        </p:txBody>
      </p:sp>
      <p:sp>
        <p:nvSpPr>
          <p:cNvPr id="24" name="Group 2 recipient"/>
          <p:cNvSpPr txBox="1"/>
          <p:nvPr/>
        </p:nvSpPr>
        <p:spPr>
          <a:xfrm>
            <a:off x="5212080" y="2578608"/>
            <a:ext cx="548640" cy="384048"/>
          </a:xfrm>
          <a:prstGeom prst="rect">
            <a:avLst/>
          </a:prstGeom>
          <a:noFill/>
          <a:ln/>
        </p:spPr>
        <p:txBody>
          <a:bodyPr wrap="square" lIns="0" tIns="0" rIns="0" bIns="0" rtlCol="0" anchor="ctr"/>
          <a:lstStyle/>
          <a:p>
            <a:pPr algn="r" indent="0" marL="0">
              <a:buNone/>
            </a:pPr>
            <a:r>
              <a:rPr lang="en-US" sz="1200" b="1" dirty="0">
                <a:solidFill>
                  <a:schemeClr val="tx2"/>
                </a:solidFill>
              </a:rPr>
              <a:t>→ KTT</a:t>
            </a:r>
            <a:endParaRPr lang="en-US" sz="1200" dirty="0"/>
          </a:p>
        </p:txBody>
      </p:sp>
      <p:sp>
        <p:nvSpPr>
          <p:cNvPr id="25" name="Group 2 question"/>
          <p:cNvSpPr txBox="1"/>
          <p:nvPr/>
        </p:nvSpPr>
        <p:spPr>
          <a:xfrm>
            <a:off x="3383280" y="3035808"/>
            <a:ext cx="2377440" cy="960120"/>
          </a:xfrm>
          <a:prstGeom prst="rect">
            <a:avLst/>
          </a:prstGeom>
          <a:noFill/>
          <a:ln/>
        </p:spPr>
        <p:txBody>
          <a:bodyPr wrap="square" lIns="0" tIns="0" rIns="0" bIns="0" rtlCol="0" anchor="t"/>
          <a:lstStyle/>
          <a:p>
            <a:pPr indent="0" marL="0">
              <a:buNone/>
            </a:pPr>
            <a:r>
              <a:rPr lang="en-US" sz="1200" i="1" dirty="0">
                <a:solidFill>
                  <a:schemeClr val="tx1"/>
                </a:solidFill>
              </a:rPr>
              <a:t>“Tiếp khách có rượu vang 3.300.000₫. A: Theo quy chế — khấu trừ 300.000₫; hay B: Chi cá nhân — loại 300.000₫ VAT?”</a:t>
            </a:r>
            <a:endParaRPr lang="en-US" sz="1200" dirty="0"/>
          </a:p>
        </p:txBody>
      </p:sp>
      <p:sp>
        <p:nvSpPr>
          <p:cNvPr id="26" name="Group card 3"/>
          <p:cNvSpPr/>
          <p:nvPr/>
        </p:nvSpPr>
        <p:spPr>
          <a:xfrm>
            <a:off x="6035040" y="2468880"/>
            <a:ext cx="265176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27" name="Group 3 badge"/>
          <p:cNvSpPr/>
          <p:nvPr/>
        </p:nvSpPr>
        <p:spPr>
          <a:xfrm>
            <a:off x="6172200" y="2578608"/>
            <a:ext cx="384048" cy="384048"/>
          </a:xfrm>
          <a:prstGeom prst="ellipse">
            <a:avLst/>
          </a:prstGeom>
          <a:solidFill>
            <a:schemeClr val="accent5"/>
          </a:solidFill>
          <a:ln w="12700">
            <a:solidFill>
              <a:schemeClr val="accent5"/>
            </a:solidFill>
            <a:prstDash val="solid"/>
          </a:ln>
        </p:spPr>
      </p:sp>
      <p:sp>
        <p:nvSpPr>
          <p:cNvPr id="28" name="Group 3 badge text"/>
          <p:cNvSpPr txBox="1"/>
          <p:nvPr/>
        </p:nvSpPr>
        <p:spPr>
          <a:xfrm>
            <a:off x="6172200" y="25786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Group 3 label"/>
          <p:cNvSpPr txBox="1"/>
          <p:nvPr/>
        </p:nvSpPr>
        <p:spPr>
          <a:xfrm>
            <a:off x="6629400" y="2578608"/>
            <a:ext cx="1463040" cy="384048"/>
          </a:xfrm>
          <a:prstGeom prst="rect">
            <a:avLst/>
          </a:prstGeom>
          <a:noFill/>
          <a:ln/>
        </p:spPr>
        <p:txBody>
          <a:bodyPr wrap="square" lIns="0" tIns="0" rIns="0" bIns="0" rtlCol="0" anchor="ctr"/>
          <a:lstStyle/>
          <a:p>
            <a:pPr indent="0" marL="0">
              <a:buNone/>
            </a:pPr>
            <a:r>
              <a:rPr lang="en-US" sz="1400" b="1" dirty="0">
                <a:solidFill>
                  <a:schemeClr val="accent5"/>
                </a:solidFill>
              </a:rPr>
              <a:t>Vượt thẩm quyền</a:t>
            </a:r>
            <a:endParaRPr lang="en-US" sz="1400" dirty="0"/>
          </a:p>
        </p:txBody>
      </p:sp>
      <p:sp>
        <p:nvSpPr>
          <p:cNvPr id="30" name="Group 3 recipient"/>
          <p:cNvSpPr txBox="1"/>
          <p:nvPr/>
        </p:nvSpPr>
        <p:spPr>
          <a:xfrm>
            <a:off x="8001000" y="2578608"/>
            <a:ext cx="548640" cy="384048"/>
          </a:xfrm>
          <a:prstGeom prst="rect">
            <a:avLst/>
          </a:prstGeom>
          <a:noFill/>
          <a:ln/>
        </p:spPr>
        <p:txBody>
          <a:bodyPr wrap="square" lIns="0" tIns="0" rIns="0" bIns="0" rtlCol="0" anchor="ctr"/>
          <a:lstStyle/>
          <a:p>
            <a:pPr algn="r" indent="0" marL="0">
              <a:buNone/>
            </a:pPr>
            <a:r>
              <a:rPr lang="en-US" sz="1200" b="1" dirty="0">
                <a:solidFill>
                  <a:schemeClr val="tx2"/>
                </a:solidFill>
              </a:rPr>
              <a:t>→ CFO</a:t>
            </a:r>
            <a:endParaRPr lang="en-US" sz="1200" dirty="0"/>
          </a:p>
        </p:txBody>
      </p:sp>
      <p:sp>
        <p:nvSpPr>
          <p:cNvPr id="31" name="Group 3 question"/>
          <p:cNvSpPr txBox="1"/>
          <p:nvPr/>
        </p:nvSpPr>
        <p:spPr>
          <a:xfrm>
            <a:off x="6172200" y="3035808"/>
            <a:ext cx="2377440" cy="960120"/>
          </a:xfrm>
          <a:prstGeom prst="rect">
            <a:avLst/>
          </a:prstGeom>
          <a:noFill/>
          <a:ln/>
        </p:spPr>
        <p:txBody>
          <a:bodyPr wrap="square" lIns="0" tIns="0" rIns="0" bIns="0" rtlCol="0" anchor="t"/>
          <a:lstStyle/>
          <a:p>
            <a:pPr indent="0" marL="0">
              <a:buNone/>
            </a:pPr>
            <a:r>
              <a:rPr lang="en-US" sz="1200" i="1" dirty="0">
                <a:solidFill>
                  <a:schemeClr val="tx1"/>
                </a:solidFill>
              </a:rPr>
              <a:t>“330.000.000₫ ≥ hạn mức KTT 200.000.000₫. A: CFO duyệt, khấu trừ 30.000.000₫; hay B: Tạm dừng thẩm tra hợp đồng?”</a:t>
            </a:r>
            <a:endParaRPr lang="en-US" sz="1200" dirty="0"/>
          </a:p>
        </p:txBody>
      </p:sp>
      <p:sp>
        <p:nvSpPr>
          <p:cNvPr id="32" name="Human decision line"/>
          <p:cNvSpPr txBox="1"/>
          <p:nvPr/>
        </p:nvSpPr>
        <p:spPr>
          <a:xfrm>
            <a:off x="457200" y="4187952"/>
            <a:ext cx="8229600" cy="457200"/>
          </a:xfrm>
          <a:prstGeom prst="rect">
            <a:avLst/>
          </a:prstGeom>
          <a:noFill/>
          <a:ln/>
        </p:spPr>
        <p:txBody>
          <a:bodyPr wrap="square" lIns="0" tIns="0" rIns="0" bIns="0" rtlCol="0" anchor="ctr"/>
          <a:lstStyle/>
          <a:p>
            <a:pPr indent="0" marL="0">
              <a:buNone/>
            </a:pPr>
            <a:r>
              <a:rPr lang="en-US" sz="1300" b="1" dirty="0">
                <a:solidFill>
                  <a:schemeClr val="accent1"/>
                </a:solidFill>
              </a:rPr>
              <a:t>Con người quyết định: </a:t>
            </a:r>
            <a:pPr indent="0" marL="0">
              <a:buNone/>
            </a:pPr>
            <a:r>
              <a:rPr lang="en-US" sz="1300" dirty="0">
                <a:solidFill>
                  <a:schemeClr val="tx1"/>
                </a:solidFill>
              </a:rPr>
              <a:t>xác nhận dữ kiện máy không chắc · chấp nhận hoặc loại khoản ngoài quy định · phê duyệt khoản vượt quyền. AI chỉ đọc ảnh; không phân loại, không quyết thuế.</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Tác động: đo trước/sau có phương pháp</a:t>
            </a:r>
            <a:endParaRPr lang="en-US" sz="3000" dirty="0"/>
          </a:p>
        </p:txBody>
      </p:sp>
      <p:sp>
        <p:nvSpPr>
          <p:cNvPr id="3" name="Stats caption"/>
          <p:cNvSpPr txBox="1"/>
          <p:nvPr/>
        </p:nvSpPr>
        <p:spPr>
          <a:xfrm>
            <a:off x="457200" y="1005840"/>
            <a:ext cx="4937760" cy="274320"/>
          </a:xfrm>
          <a:prstGeom prst="rect">
            <a:avLst/>
          </a:prstGeom>
          <a:noFill/>
          <a:ln/>
        </p:spPr>
        <p:txBody>
          <a:bodyPr wrap="square" lIns="0" tIns="0" rIns="0" bIns="0" rtlCol="0" anchor="ctr"/>
          <a:lstStyle/>
          <a:p>
            <a:pPr indent="0" marL="0">
              <a:buNone/>
            </a:pPr>
            <a:r>
              <a:rPr lang="en-US" sz="1200" b="1" dirty="0">
                <a:solidFill>
                  <a:schemeClr val="tx2"/>
                </a:solidFill>
              </a:rPr>
              <a:t>11 ca diễn tập kiểu giám khảo · bản 13/10 → bản 15/10</a:t>
            </a:r>
            <a:endParaRPr lang="en-US" sz="1200" dirty="0"/>
          </a:p>
        </p:txBody>
      </p:sp>
      <p:sp>
        <p:nvSpPr>
          <p:cNvPr id="4" name="Stat 1"/>
          <p:cNvSpPr/>
          <p:nvPr/>
        </p:nvSpPr>
        <p:spPr>
          <a:xfrm>
            <a:off x="457200" y="1371600"/>
            <a:ext cx="237744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5" name="Stat 1 value"/>
          <p:cNvSpPr txBox="1"/>
          <p:nvPr/>
        </p:nvSpPr>
        <p:spPr>
          <a:xfrm>
            <a:off x="594360" y="1463040"/>
            <a:ext cx="2103120" cy="548640"/>
          </a:xfrm>
          <a:prstGeom prst="rect">
            <a:avLst/>
          </a:prstGeom>
          <a:noFill/>
          <a:ln/>
        </p:spPr>
        <p:txBody>
          <a:bodyPr wrap="square" lIns="0" tIns="0" rIns="0" bIns="0" rtlCol="0" anchor="ctr"/>
          <a:lstStyle/>
          <a:p>
            <a:pPr indent="0" marL="0">
              <a:buNone/>
            </a:pPr>
            <a:r>
              <a:rPr lang="en-US" sz="1600" dirty="0">
                <a:solidFill>
                  <a:schemeClr val="tx2"/>
                </a:solidFill>
              </a:rPr>
              <a:t>3/11</a:t>
            </a:r>
            <a:pPr indent="0" marL="0">
              <a:buNone/>
            </a:pPr>
            <a:r>
              <a:rPr lang="en-US" sz="1600" dirty="0">
                <a:solidFill>
                  <a:schemeClr val="tx2"/>
                </a:solidFill>
              </a:rPr>
              <a:t>  →  </a:t>
            </a:r>
            <a:pPr indent="0" marL="0">
              <a:buNone/>
            </a:pPr>
            <a:r>
              <a:rPr lang="en-US" sz="3000" b="1" dirty="0">
                <a:solidFill>
                  <a:schemeClr val="accent1"/>
                </a:solidFill>
              </a:rPr>
              <a:t>11/11</a:t>
            </a:r>
            <a:endParaRPr lang="en-US" sz="1600" dirty="0"/>
          </a:p>
        </p:txBody>
      </p:sp>
      <p:sp>
        <p:nvSpPr>
          <p:cNvPr id="6" name="Stat 1 label"/>
          <p:cNvSpPr txBox="1"/>
          <p:nvPr/>
        </p:nvSpPr>
        <p:spPr>
          <a:xfrm>
            <a:off x="594360" y="2029968"/>
            <a:ext cx="2103120" cy="502920"/>
          </a:xfrm>
          <a:prstGeom prst="rect">
            <a:avLst/>
          </a:prstGeom>
          <a:noFill/>
          <a:ln/>
        </p:spPr>
        <p:txBody>
          <a:bodyPr wrap="square" lIns="0" tIns="0" rIns="0" bIns="0" rtlCol="0" anchor="t"/>
          <a:lstStyle/>
          <a:p>
            <a:pPr indent="0" marL="0">
              <a:buNone/>
            </a:pPr>
            <a:r>
              <a:rPr lang="en-US" sz="1200" dirty="0">
                <a:solidFill>
                  <a:schemeClr val="tx1"/>
                </a:solidFill>
              </a:rPr>
              <a:t>ca xử lý đúng trạng thái và nhóm dừng</a:t>
            </a:r>
            <a:endParaRPr lang="en-US" sz="1200" dirty="0"/>
          </a:p>
        </p:txBody>
      </p:sp>
      <p:sp>
        <p:nvSpPr>
          <p:cNvPr id="7" name="Stat 2"/>
          <p:cNvSpPr/>
          <p:nvPr/>
        </p:nvSpPr>
        <p:spPr>
          <a:xfrm>
            <a:off x="2971800" y="1371600"/>
            <a:ext cx="237744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8" name="Stat 2 value"/>
          <p:cNvSpPr txBox="1"/>
          <p:nvPr/>
        </p:nvSpPr>
        <p:spPr>
          <a:xfrm>
            <a:off x="3108960" y="1463040"/>
            <a:ext cx="2103120" cy="548640"/>
          </a:xfrm>
          <a:prstGeom prst="rect">
            <a:avLst/>
          </a:prstGeom>
          <a:noFill/>
          <a:ln/>
        </p:spPr>
        <p:txBody>
          <a:bodyPr wrap="square" lIns="0" tIns="0" rIns="0" bIns="0" rtlCol="0" anchor="ctr"/>
          <a:lstStyle/>
          <a:p>
            <a:pPr indent="0" marL="0">
              <a:buNone/>
            </a:pPr>
            <a:r>
              <a:rPr lang="en-US" sz="1600" dirty="0">
                <a:solidFill>
                  <a:schemeClr val="tx2"/>
                </a:solidFill>
              </a:rPr>
              <a:t>3/3</a:t>
            </a:r>
            <a:pPr indent="0" marL="0">
              <a:buNone/>
            </a:pPr>
            <a:r>
              <a:rPr lang="en-US" sz="1600" dirty="0">
                <a:solidFill>
                  <a:schemeClr val="tx2"/>
                </a:solidFill>
              </a:rPr>
              <a:t>  →  </a:t>
            </a:r>
            <a:pPr indent="0" marL="0">
              <a:buNone/>
            </a:pPr>
            <a:r>
              <a:rPr lang="en-US" sz="3000" b="1" dirty="0">
                <a:solidFill>
                  <a:schemeClr val="accent1"/>
                </a:solidFill>
              </a:rPr>
              <a:t>0/3</a:t>
            </a:r>
            <a:endParaRPr lang="en-US" sz="1600" dirty="0"/>
          </a:p>
        </p:txBody>
      </p:sp>
      <p:sp>
        <p:nvSpPr>
          <p:cNvPr id="9" name="Stat 2 label"/>
          <p:cNvSpPr txBox="1"/>
          <p:nvPr/>
        </p:nvSpPr>
        <p:spPr>
          <a:xfrm>
            <a:off x="3108960" y="2029968"/>
            <a:ext cx="2103120" cy="502920"/>
          </a:xfrm>
          <a:prstGeom prst="rect">
            <a:avLst/>
          </a:prstGeom>
          <a:noFill/>
          <a:ln/>
        </p:spPr>
        <p:txBody>
          <a:bodyPr wrap="square" lIns="0" tIns="0" rIns="0" bIns="0" rtlCol="0" anchor="t"/>
          <a:lstStyle/>
          <a:p>
            <a:pPr indent="0" marL="0">
              <a:buNone/>
            </a:pPr>
            <a:r>
              <a:rPr lang="en-US" sz="1200" dirty="0">
                <a:solidFill>
                  <a:schemeClr val="tx1"/>
                </a:solidFill>
              </a:rPr>
              <a:t>ca thường quy bị hỏi thừa (càng thấp càng tốt)</a:t>
            </a:r>
            <a:endParaRPr lang="en-US" sz="1200" dirty="0"/>
          </a:p>
        </p:txBody>
      </p:sp>
      <p:sp>
        <p:nvSpPr>
          <p:cNvPr id="10" name="Stat 3"/>
          <p:cNvSpPr/>
          <p:nvPr/>
        </p:nvSpPr>
        <p:spPr>
          <a:xfrm>
            <a:off x="457200" y="2743200"/>
            <a:ext cx="237744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1" name="Stat 3 value"/>
          <p:cNvSpPr txBox="1"/>
          <p:nvPr/>
        </p:nvSpPr>
        <p:spPr>
          <a:xfrm>
            <a:off x="594360" y="2834640"/>
            <a:ext cx="2103120" cy="548640"/>
          </a:xfrm>
          <a:prstGeom prst="rect">
            <a:avLst/>
          </a:prstGeom>
          <a:noFill/>
          <a:ln/>
        </p:spPr>
        <p:txBody>
          <a:bodyPr wrap="square" lIns="0" tIns="0" rIns="0" bIns="0" rtlCol="0" anchor="ctr"/>
          <a:lstStyle/>
          <a:p>
            <a:pPr indent="0" marL="0">
              <a:buNone/>
            </a:pPr>
            <a:r>
              <a:rPr lang="en-US" sz="1600" dirty="0">
                <a:solidFill>
                  <a:schemeClr val="tx2"/>
                </a:solidFill>
              </a:rPr>
              <a:t>4/8</a:t>
            </a:r>
            <a:pPr indent="0" marL="0">
              <a:buNone/>
            </a:pPr>
            <a:r>
              <a:rPr lang="en-US" sz="1600" dirty="0">
                <a:solidFill>
                  <a:schemeClr val="tx2"/>
                </a:solidFill>
              </a:rPr>
              <a:t>  →  </a:t>
            </a:r>
            <a:pPr indent="0" marL="0">
              <a:buNone/>
            </a:pPr>
            <a:r>
              <a:rPr lang="en-US" sz="3000" b="1" dirty="0">
                <a:solidFill>
                  <a:schemeClr val="accent1"/>
                </a:solidFill>
              </a:rPr>
              <a:t>0/8</a:t>
            </a:r>
            <a:endParaRPr lang="en-US" sz="1600" dirty="0"/>
          </a:p>
        </p:txBody>
      </p:sp>
      <p:sp>
        <p:nvSpPr>
          <p:cNvPr id="12" name="Stat 3 label"/>
          <p:cNvSpPr txBox="1"/>
          <p:nvPr/>
        </p:nvSpPr>
        <p:spPr>
          <a:xfrm>
            <a:off x="594360" y="3401568"/>
            <a:ext cx="2103120" cy="502920"/>
          </a:xfrm>
          <a:prstGeom prst="rect">
            <a:avLst/>
          </a:prstGeom>
          <a:noFill/>
          <a:ln/>
        </p:spPr>
        <p:txBody>
          <a:bodyPr wrap="square" lIns="0" tIns="0" rIns="0" bIns="0" rtlCol="0" anchor="t"/>
          <a:lstStyle/>
          <a:p>
            <a:pPr indent="0" marL="0">
              <a:buNone/>
            </a:pPr>
            <a:r>
              <a:rPr lang="en-US" sz="1200" dirty="0">
                <a:solidFill>
                  <a:schemeClr val="tx1"/>
                </a:solidFill>
              </a:rPr>
              <a:t>ca chuyển tiếp sai nhóm dừng</a:t>
            </a:r>
            <a:endParaRPr lang="en-US" sz="1200" dirty="0"/>
          </a:p>
        </p:txBody>
      </p:sp>
      <p:sp>
        <p:nvSpPr>
          <p:cNvPr id="13" name="Stat 4"/>
          <p:cNvSpPr/>
          <p:nvPr/>
        </p:nvSpPr>
        <p:spPr>
          <a:xfrm>
            <a:off x="2971800" y="2743200"/>
            <a:ext cx="237744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4" name="Stat 4 value"/>
          <p:cNvSpPr txBox="1"/>
          <p:nvPr/>
        </p:nvSpPr>
        <p:spPr>
          <a:xfrm>
            <a:off x="3108960" y="2834640"/>
            <a:ext cx="2103120" cy="548640"/>
          </a:xfrm>
          <a:prstGeom prst="rect">
            <a:avLst/>
          </a:prstGeom>
          <a:noFill/>
          <a:ln/>
        </p:spPr>
        <p:txBody>
          <a:bodyPr wrap="square" lIns="0" tIns="0" rIns="0" bIns="0" rtlCol="0" anchor="ctr"/>
          <a:lstStyle/>
          <a:p>
            <a:pPr indent="0" marL="0">
              <a:buNone/>
            </a:pPr>
            <a:r>
              <a:rPr lang="en-US" sz="1600" dirty="0">
                <a:solidFill>
                  <a:schemeClr val="tx2"/>
                </a:solidFill>
              </a:rPr>
              <a:t>1/10</a:t>
            </a:r>
            <a:pPr indent="0" marL="0">
              <a:buNone/>
            </a:pPr>
            <a:r>
              <a:rPr lang="en-US" sz="1600" dirty="0">
                <a:solidFill>
                  <a:schemeClr val="tx2"/>
                </a:solidFill>
              </a:rPr>
              <a:t>  →  </a:t>
            </a:r>
            <a:pPr indent="0" marL="0">
              <a:buNone/>
            </a:pPr>
            <a:r>
              <a:rPr lang="en-US" sz="3000" b="1" dirty="0">
                <a:solidFill>
                  <a:schemeClr val="accent1"/>
                </a:solidFill>
              </a:rPr>
              <a:t>8/8</a:t>
            </a:r>
            <a:endParaRPr lang="en-US" sz="1600" dirty="0"/>
          </a:p>
        </p:txBody>
      </p:sp>
      <p:sp>
        <p:nvSpPr>
          <p:cNvPr id="15" name="Stat 4 label"/>
          <p:cNvSpPr txBox="1"/>
          <p:nvPr/>
        </p:nvSpPr>
        <p:spPr>
          <a:xfrm>
            <a:off x="3108960" y="3401568"/>
            <a:ext cx="2103120" cy="502920"/>
          </a:xfrm>
          <a:prstGeom prst="rect">
            <a:avLst/>
          </a:prstGeom>
          <a:noFill/>
          <a:ln/>
        </p:spPr>
        <p:txBody>
          <a:bodyPr wrap="square" lIns="0" tIns="0" rIns="0" bIns="0" rtlCol="0" anchor="t"/>
          <a:lstStyle/>
          <a:p>
            <a:pPr indent="0" marL="0">
              <a:buNone/>
            </a:pPr>
            <a:r>
              <a:rPr lang="en-US" sz="1200" dirty="0">
                <a:solidFill>
                  <a:schemeClr val="tx1"/>
                </a:solidFill>
              </a:rPr>
              <a:t>câu hỏi có số tiền cụ thể, không bắt mở lại chứng từ</a:t>
            </a:r>
            <a:endParaRPr lang="en-US" sz="1200" dirty="0"/>
          </a:p>
        </p:txBody>
      </p:sp>
      <p:sp>
        <p:nvSpPr>
          <p:cNvPr id="16" name="Method card"/>
          <p:cNvSpPr/>
          <p:nvPr/>
        </p:nvSpPr>
        <p:spPr>
          <a:xfrm>
            <a:off x="5623560" y="1005840"/>
            <a:ext cx="30632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7" name="Method text"/>
          <p:cNvSpPr txBox="1"/>
          <p:nvPr/>
        </p:nvSpPr>
        <p:spPr>
          <a:xfrm>
            <a:off x="5760720" y="1078992"/>
            <a:ext cx="2834640" cy="155448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Phương pháp</a:t>
            </a:r>
            <a:endParaRPr lang="en-US" sz="1200" dirty="0"/>
          </a:p>
          <a:p>
            <a:pPr marL="177800" indent="-177800">
              <a:spcAft>
                <a:spcPts val="300"/>
              </a:spcAft>
              <a:buSzPct val="100000"/>
              <a:buChar char="•"/>
            </a:pPr>
            <a:r>
              <a:rPr lang="en-US" sz="1200" dirty="0">
                <a:solidFill>
                  <a:schemeClr val="tx1"/>
                </a:solidFill>
              </a:rPr>
              <a:t>Cùng 11 ca, cùng script, 2 phiên bản mã nguồn</a:t>
            </a:r>
            <a:endParaRPr lang="en-US" sz="1200" dirty="0"/>
          </a:p>
          <a:p>
            <a:pPr marL="177800" indent="-177800">
              <a:spcAft>
                <a:spcPts val="300"/>
              </a:spcAft>
              <a:buSzPct val="100000"/>
              <a:buChar char="•"/>
            </a:pPr>
            <a:r>
              <a:rPr lang="en-US" sz="1200" dirty="0">
                <a:solidFill>
                  <a:schemeClr val="tx1"/>
                </a:solidFill>
              </a:rPr>
              <a:t>Mỗi ca một database tạm, không gọi AI</a:t>
            </a:r>
            <a:endParaRPr lang="en-US" sz="1200" dirty="0"/>
          </a:p>
          <a:p>
            <a:pPr marL="177800" indent="-177800">
              <a:spcAft>
                <a:spcPts val="300"/>
              </a:spcAft>
              <a:buSzPct val="100000"/>
              <a:buChar char="•"/>
            </a:pPr>
            <a:r>
              <a:rPr lang="en-US" sz="1200" dirty="0">
                <a:solidFill>
                  <a:schemeClr val="tx1"/>
                </a:solidFill>
              </a:rPr>
              <a:t>Giới hạn: ca do đội viết — tập phát triển, chưa phải đánh giá độc lập</a:t>
            </a:r>
            <a:endParaRPr lang="en-US" sz="1200" dirty="0"/>
          </a:p>
        </p:txBody>
      </p:sp>
      <p:sp>
        <p:nvSpPr>
          <p:cNvPr id="18" name="User study slot"/>
          <p:cNvSpPr/>
          <p:nvPr/>
        </p:nvSpPr>
        <p:spPr>
          <a:xfrm>
            <a:off x="5623560" y="2834640"/>
            <a:ext cx="3063240" cy="1188720"/>
          </a:xfrm>
          <a:prstGeom prst="roundRect">
            <a:avLst>
              <a:gd name="adj" fmla="val 6154"/>
            </a:avLst>
          </a:prstGeom>
          <a:solidFill>
            <a:schemeClr val="bg1"/>
          </a:solidFill>
          <a:ln w="15875">
            <a:solidFill>
              <a:schemeClr val="accent1"/>
            </a:solidFill>
            <a:prstDash val="dash"/>
          </a:ln>
        </p:spPr>
      </p:sp>
      <p:sp>
        <p:nvSpPr>
          <p:cNvPr id="19" name="User study slot text"/>
          <p:cNvSpPr txBox="1"/>
          <p:nvPr/>
        </p:nvSpPr>
        <p:spPr>
          <a:xfrm>
            <a:off x="5733288" y="2889504"/>
            <a:ext cx="2843784" cy="1078992"/>
          </a:xfrm>
          <a:prstGeom prst="rect">
            <a:avLst/>
          </a:prstGeom>
          <a:noFill/>
          <a:ln/>
        </p:spPr>
        <p:txBody>
          <a:bodyPr wrap="square" lIns="0" tIns="0" rIns="0" bIns="0" rtlCol="0" anchor="ctr"/>
          <a:lstStyle/>
          <a:p>
            <a:pPr indent="0" marL="0">
              <a:buNone/>
            </a:pPr>
            <a:r>
              <a:rPr lang="en-US" sz="1100" i="1" dirty="0">
                <a:solidFill>
                  <a:schemeClr val="tx2"/>
                </a:solidFill>
              </a:rPr>
              <a:t>[Cập nhật 16/10 — 3 người dùng BTC] Đồng thuận người–máy __/15 · bỏ sót / hỏi thừa theo nhãn người dùng · điểm “trả lời ngay” __/5 · ca kiểm tra tin máy quá mức __/3. Nguồn: scripts/qa/evaluate-user-study.ts</a:t>
            </a:r>
            <a:endParaRPr lang="en-US" sz="1100" dirty="0"/>
          </a:p>
        </p:txBody>
      </p:sp>
      <p:sp>
        <p:nvSpPr>
          <p:cNvPr id="20" name="Valuation line"/>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b="1" dirty="0">
                <a:solidFill>
                  <a:schemeClr val="accent1"/>
                </a:solidFill>
              </a:rPr>
              <a:t>Định giá: </a:t>
            </a:r>
            <a:pPr indent="0" marL="0">
              <a:buNone/>
            </a:pPr>
            <a:r>
              <a:rPr lang="en-US" sz="1300" dirty="0">
                <a:solidFill>
                  <a:schemeClr val="tx1"/>
                </a:solidFill>
              </a:rPr>
              <a:t>VAT đầu vào được bảo vệ + tiền phạt tránh được, không phải giờ công. Mỗi câu hỏi hiện “VAT chờ quyết định”.</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Kiến trúc: thành phần thật và giả lập</a:t>
            </a:r>
            <a:endParaRPr lang="en-US" sz="3000" dirty="0"/>
          </a:p>
        </p:txBody>
      </p:sp>
      <p:sp>
        <p:nvSpPr>
          <p:cNvPr id="3" name="Arch 1"/>
          <p:cNvSpPr/>
          <p:nvPr/>
        </p:nvSpPr>
        <p:spPr>
          <a:xfrm>
            <a:off x="457200" y="1051560"/>
            <a:ext cx="329184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4" name="Arch 1 text"/>
          <p:cNvSpPr txBox="1"/>
          <p:nvPr/>
        </p:nvSpPr>
        <p:spPr>
          <a:xfrm>
            <a:off x="594360" y="1088136"/>
            <a:ext cx="3017520" cy="530352"/>
          </a:xfrm>
          <a:prstGeom prst="rect">
            <a:avLst/>
          </a:prstGeom>
          <a:noFill/>
          <a:ln/>
        </p:spPr>
        <p:txBody>
          <a:bodyPr wrap="square" lIns="0" tIns="0" rIns="0" bIns="0" rtlCol="0" anchor="ctr"/>
          <a:lstStyle/>
          <a:p>
            <a:pPr indent="0" marL="0">
              <a:buNone/>
            </a:pPr>
            <a:r>
              <a:rPr lang="en-US" sz="1300" b="1" dirty="0">
                <a:solidFill>
                  <a:schemeClr val="tx1"/>
                </a:solidFill>
              </a:rPr>
              <a:t>Trình duyệt · giám khảo</a:t>
            </a:r>
            <a:endParaRPr lang="en-US" sz="1300" dirty="0"/>
          </a:p>
          <a:p>
            <a:pPr indent="0" marL="0">
              <a:buNone/>
            </a:pPr>
            <a:r>
              <a:rPr lang="en-US" sz="1100" dirty="0">
                <a:solidFill>
                  <a:schemeClr val="tx1"/>
                </a:solidFill>
              </a:rPr>
              <a:t>Live URL, không cần tài khoản; demo riêng mỗi phiên</a:t>
            </a:r>
            <a:endParaRPr lang="en-US" sz="1300" dirty="0"/>
          </a:p>
        </p:txBody>
      </p:sp>
      <p:sp>
        <p:nvSpPr>
          <p:cNvPr id="5" name="Arch arrow 1"/>
          <p:cNvSpPr/>
          <p:nvPr/>
        </p:nvSpPr>
        <p:spPr>
          <a:xfrm>
            <a:off x="1993392" y="1655064"/>
            <a:ext cx="219456" cy="118872"/>
          </a:xfrm>
          <a:prstGeom prst="downArrow">
            <a:avLst/>
          </a:prstGeom>
          <a:solidFill>
            <a:schemeClr val="tx2"/>
          </a:solidFill>
          <a:ln w="12700">
            <a:solidFill>
              <a:schemeClr val="tx2"/>
            </a:solidFill>
            <a:prstDash val="solid"/>
          </a:ln>
        </p:spPr>
      </p:sp>
      <p:sp>
        <p:nvSpPr>
          <p:cNvPr id="6" name="Arch 2"/>
          <p:cNvSpPr/>
          <p:nvPr/>
        </p:nvSpPr>
        <p:spPr>
          <a:xfrm>
            <a:off x="457200" y="1783080"/>
            <a:ext cx="329184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7" name="Arch 2 text"/>
          <p:cNvSpPr txBox="1"/>
          <p:nvPr/>
        </p:nvSpPr>
        <p:spPr>
          <a:xfrm>
            <a:off x="594360" y="1819656"/>
            <a:ext cx="3017520" cy="530352"/>
          </a:xfrm>
          <a:prstGeom prst="rect">
            <a:avLst/>
          </a:prstGeom>
          <a:noFill/>
          <a:ln/>
        </p:spPr>
        <p:txBody>
          <a:bodyPr wrap="square" lIns="0" tIns="0" rIns="0" bIns="0" rtlCol="0" anchor="ctr"/>
          <a:lstStyle/>
          <a:p>
            <a:pPr indent="0" marL="0">
              <a:buNone/>
            </a:pPr>
            <a:r>
              <a:rPr lang="en-US" sz="1300" b="1" dirty="0">
                <a:solidFill>
                  <a:schemeClr val="tx1"/>
                </a:solidFill>
              </a:rPr>
              <a:t>Next.js API</a:t>
            </a:r>
            <a:endParaRPr lang="en-US" sz="1300" dirty="0"/>
          </a:p>
          <a:p>
            <a:pPr indent="0" marL="0">
              <a:buNone/>
            </a:pPr>
            <a:r>
              <a:rPr lang="en-US" sz="1100" dirty="0">
                <a:solidFill>
                  <a:schemeClr val="tx1"/>
                </a:solidFill>
              </a:rPr>
              <a:t>Tiếp nhận · đánh giá · duyệt · dừng · hoàn tác</a:t>
            </a:r>
            <a:endParaRPr lang="en-US" sz="1300" dirty="0"/>
          </a:p>
        </p:txBody>
      </p:sp>
      <p:sp>
        <p:nvSpPr>
          <p:cNvPr id="8" name="Arch arrow 2"/>
          <p:cNvSpPr/>
          <p:nvPr/>
        </p:nvSpPr>
        <p:spPr>
          <a:xfrm>
            <a:off x="1993392" y="2386584"/>
            <a:ext cx="219456" cy="118872"/>
          </a:xfrm>
          <a:prstGeom prst="downArrow">
            <a:avLst/>
          </a:prstGeom>
          <a:solidFill>
            <a:schemeClr val="tx2"/>
          </a:solidFill>
          <a:ln w="12700">
            <a:solidFill>
              <a:schemeClr val="tx2"/>
            </a:solidFill>
            <a:prstDash val="solid"/>
          </a:ln>
        </p:spPr>
      </p:sp>
      <p:sp>
        <p:nvSpPr>
          <p:cNvPr id="9" name="Arch 3"/>
          <p:cNvSpPr/>
          <p:nvPr/>
        </p:nvSpPr>
        <p:spPr>
          <a:xfrm>
            <a:off x="457200" y="2514600"/>
            <a:ext cx="3291840" cy="594360"/>
          </a:xfrm>
          <a:prstGeom prst="roundRect">
            <a:avLst>
              <a:gd name="adj" fmla="val 18462"/>
            </a:avLst>
          </a:prstGeom>
          <a:solidFill>
            <a:schemeClr val="tx1"/>
          </a:solidFill>
          <a:ln w="12700">
            <a:solidFill>
              <a:schemeClr val="tx1"/>
            </a:solidFill>
            <a:prstDash val="solid"/>
          </a:ln>
          <a:effectLst>
            <a:outerShdw sx="100000" sy="100000" kx="0" ky="0" algn="bl" rotWithShape="0" blurRad="76200" dist="25400" dir="5400000">
              <a:srgbClr val="94A3B8">
                <a:alpha val="25000"/>
              </a:srgbClr>
            </a:outerShdw>
          </a:effectLst>
        </p:spPr>
      </p:sp>
      <p:sp>
        <p:nvSpPr>
          <p:cNvPr id="10" name="Arch 3 text"/>
          <p:cNvSpPr txBox="1"/>
          <p:nvPr/>
        </p:nvSpPr>
        <p:spPr>
          <a:xfrm>
            <a:off x="594360" y="2551176"/>
            <a:ext cx="3017520" cy="530352"/>
          </a:xfrm>
          <a:prstGeom prst="rect">
            <a:avLst/>
          </a:prstGeom>
          <a:noFill/>
          <a:ln/>
        </p:spPr>
        <p:txBody>
          <a:bodyPr wrap="square" lIns="0" tIns="0" rIns="0" bIns="0" rtlCol="0" anchor="ctr"/>
          <a:lstStyle/>
          <a:p>
            <a:pPr indent="0" marL="0">
              <a:buNone/>
            </a:pPr>
            <a:r>
              <a:rPr lang="en-US" sz="1300" b="1" dirty="0">
                <a:solidFill>
                  <a:schemeClr val="bg1"/>
                </a:solidFill>
              </a:rPr>
              <a:t>Policy engine — 24 quy tắc SOP</a:t>
            </a:r>
            <a:endParaRPr lang="en-US" sz="1300" dirty="0"/>
          </a:p>
          <a:p>
            <a:pPr indent="0" marL="0">
              <a:buNone/>
            </a:pPr>
            <a:r>
              <a:rPr lang="en-US" sz="1100" dirty="0">
                <a:solidFill>
                  <a:schemeClr val="bg1"/>
                </a:solidFill>
              </a:rPr>
              <a:t>Tất định, 1 bảng phân loại 3 nhóm dừng</a:t>
            </a:r>
            <a:endParaRPr lang="en-US" sz="1300" dirty="0"/>
          </a:p>
        </p:txBody>
      </p:sp>
      <p:sp>
        <p:nvSpPr>
          <p:cNvPr id="11" name="Arch arrow 3"/>
          <p:cNvSpPr/>
          <p:nvPr/>
        </p:nvSpPr>
        <p:spPr>
          <a:xfrm>
            <a:off x="1993392" y="3118104"/>
            <a:ext cx="219456" cy="118872"/>
          </a:xfrm>
          <a:prstGeom prst="downArrow">
            <a:avLst/>
          </a:prstGeom>
          <a:solidFill>
            <a:schemeClr val="tx2"/>
          </a:solidFill>
          <a:ln w="12700">
            <a:solidFill>
              <a:schemeClr val="tx2"/>
            </a:solidFill>
            <a:prstDash val="solid"/>
          </a:ln>
        </p:spPr>
      </p:sp>
      <p:sp>
        <p:nvSpPr>
          <p:cNvPr id="12" name="Arch 4"/>
          <p:cNvSpPr/>
          <p:nvPr/>
        </p:nvSpPr>
        <p:spPr>
          <a:xfrm>
            <a:off x="457200" y="3246120"/>
            <a:ext cx="329184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94A3B8">
                <a:alpha val="25000"/>
              </a:srgbClr>
            </a:outerShdw>
          </a:effectLst>
        </p:spPr>
      </p:sp>
      <p:sp>
        <p:nvSpPr>
          <p:cNvPr id="13" name="Arch 4 text"/>
          <p:cNvSpPr txBox="1"/>
          <p:nvPr/>
        </p:nvSpPr>
        <p:spPr>
          <a:xfrm>
            <a:off x="594360" y="3282696"/>
            <a:ext cx="3017520" cy="530352"/>
          </a:xfrm>
          <a:prstGeom prst="rect">
            <a:avLst/>
          </a:prstGeom>
          <a:noFill/>
          <a:ln/>
        </p:spPr>
        <p:txBody>
          <a:bodyPr wrap="square" lIns="0" tIns="0" rIns="0" bIns="0" rtlCol="0" anchor="ctr"/>
          <a:lstStyle/>
          <a:p>
            <a:pPr indent="0" marL="0">
              <a:buNone/>
            </a:pPr>
            <a:r>
              <a:rPr lang="en-US" sz="1300" b="1" dirty="0">
                <a:solidFill>
                  <a:schemeClr val="tx1"/>
                </a:solidFill>
              </a:rPr>
              <a:t>SQLite (WAL) + nhật ký nối chuỗi hash</a:t>
            </a:r>
            <a:endParaRPr lang="en-US" sz="1300" dirty="0"/>
          </a:p>
          <a:p>
            <a:pPr indent="0" marL="0">
              <a:buNone/>
            </a:pPr>
            <a:r>
              <a:rPr lang="en-US" sz="1100" dirty="0">
                <a:solidFill>
                  <a:schemeClr val="tx1"/>
                </a:solidFill>
              </a:rPr>
              <a:t>Bền qua khởi động lại; chỉ ghi thêm; HMAC tùy chọn</a:t>
            </a:r>
            <a:endParaRPr lang="en-US" sz="1300" dirty="0"/>
          </a:p>
        </p:txBody>
      </p:sp>
      <p:sp>
        <p:nvSpPr>
          <p:cNvPr id="14" name="Vision box"/>
          <p:cNvSpPr/>
          <p:nvPr/>
        </p:nvSpPr>
        <p:spPr>
          <a:xfrm>
            <a:off x="457200" y="3977640"/>
            <a:ext cx="3291840" cy="594360"/>
          </a:xfrm>
          <a:prstGeom prst="roundRect">
            <a:avLst>
              <a:gd name="adj" fmla="val 18462"/>
            </a:avLst>
          </a:prstGeom>
          <a:solidFill>
            <a:schemeClr val="bg1"/>
          </a:solidFill>
          <a:ln w="15875">
            <a:solidFill>
              <a:schemeClr val="accent6"/>
            </a:solidFill>
            <a:prstDash val="dash"/>
          </a:ln>
        </p:spPr>
      </p:sp>
      <p:sp>
        <p:nvSpPr>
          <p:cNvPr id="15" name="Vision text"/>
          <p:cNvSpPr txBox="1"/>
          <p:nvPr/>
        </p:nvSpPr>
        <p:spPr>
          <a:xfrm>
            <a:off x="594360" y="4014216"/>
            <a:ext cx="3017520" cy="530352"/>
          </a:xfrm>
          <a:prstGeom prst="rect">
            <a:avLst/>
          </a:prstGeom>
          <a:noFill/>
          <a:ln/>
        </p:spPr>
        <p:txBody>
          <a:bodyPr wrap="square" lIns="0" tIns="0" rIns="0" bIns="0" rtlCol="0" anchor="ctr"/>
          <a:lstStyle/>
          <a:p>
            <a:pPr indent="0" marL="0">
              <a:buNone/>
            </a:pPr>
            <a:r>
              <a:rPr lang="en-US" sz="1300" b="1" dirty="0">
                <a:solidFill>
                  <a:schemeClr val="accent6"/>
                </a:solidFill>
              </a:rPr>
              <a:t>Gemini 2.5 Flash Vision</a:t>
            </a:r>
            <a:endParaRPr lang="en-US" sz="1300" dirty="0"/>
          </a:p>
          <a:p>
            <a:pPr indent="0" marL="0">
              <a:buNone/>
            </a:pPr>
            <a:r>
              <a:rPr lang="en-US" sz="1100" dirty="0">
                <a:solidFill>
                  <a:schemeClr val="accent6"/>
                </a:solidFill>
              </a:rPr>
              <a:t>Chỉ đọc ảnh/PDF scan; không quyết định</a:t>
            </a:r>
            <a:endParaRPr lang="en-US" sz="1300" dirty="0"/>
          </a:p>
        </p:txBody>
      </p:sp>
      <p:graphicFrame>
        <p:nvGraphicFramePr>
          <p:cNvPr id="5" name="Real vs simulated table"/>
          <p:cNvGraphicFramePr>
            <a:graphicFrameLocks noGrp="1"/>
          </p:cNvGraphicFramePr>
          <p:nvPr>
            <p:extLst>
              <p:ext uri="{D42A27DB-BD31-4B8C-83A1-F6EECF244321}">
                <p14:modId xmlns:p14="http://schemas.microsoft.com/office/powerpoint/2010/main" val="1579011935"/>
              </p:ext>
            </p:extLst>
          </p:nvPr>
        </p:nvGraphicFramePr>
        <p:xfrm>
          <a:off x="4023360" y="1051560"/>
          <a:ext cx="4663440" cy="914400"/>
        </p:xfrm>
        <a:graphic>
          <a:graphicData uri="http://schemas.openxmlformats.org/drawingml/2006/table">
            <a:tbl>
              <a:tblPr/>
              <a:tblGrid>
                <a:gridCol w="868680"/>
                <a:gridCol w="1874520"/>
                <a:gridCol w="1920240"/>
              </a:tblGrid>
              <a:tr h="292608">
                <a:tc>
                  <a:txBody>
                    <a:bodyPr/>
                    <a:lstStyle/>
                    <a:p>
                      <a:pPr indent="0" marL="0">
                        <a:buNone/>
                      </a:pP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Thật</a:t>
                      </a: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Giả lập / chưa chứng minh</a:t>
                      </a: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868680">
                <a:tc>
                  <a:txBody>
                    <a:bodyPr/>
                    <a:lstStyle/>
                    <a:p>
                      <a:pPr indent="0" marL="0">
                        <a:buNone/>
                      </a:pPr>
                      <a:r>
                        <a:rPr lang="en-US" sz="1100" b="1" dirty="0">
                          <a:solidFill>
                            <a:schemeClr val="tx1"/>
                          </a:solidFill>
                        </a:rPr>
                        <a:t>Thành phần</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Quy tắc, câu hỏi, workflow, nhật ký, dừng/hoàn tác, SQLite, parser XML, Gemini Vision, Verify</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Ngân hàng, đối soát TCT, ERP (chỉ xuất payload), báo cáo thuế — nhóm “Mở rộng · beta”</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731520">
                <a:tc>
                  <a:txBody>
                    <a:bodyPr/>
                    <a:lstStyle/>
                    <a:p>
                      <a:pPr indent="0" marL="0">
                        <a:buNone/>
                      </a:pPr>
                      <a:r>
                        <a:rPr lang="en-US" sz="1100" b="1" dirty="0">
                          <a:solidFill>
                            <a:schemeClr val="tx1"/>
                          </a:solidFill>
                        </a:rPr>
                        <a:t>Dữ liệu</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XML mẫu công khai của 5 nhà phát hành (Viettel, MISA, VNPT, FPT, TCT)</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Toàn bộ ca Verify và 60 ca phát triển do đội tổng hợp; MST thử nghiệm</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48640">
                <a:tc>
                  <a:txBody>
                    <a:bodyPr/>
                    <a:lstStyle/>
                    <a:p>
                      <a:pPr indent="0" marL="0">
                        <a:buNone/>
                      </a:pPr>
                      <a:r>
                        <a:rPr lang="en-US" sz="1100" b="1" dirty="0">
                          <a:solidFill>
                            <a:schemeClr val="tx1"/>
                          </a:solidFill>
                        </a:rPr>
                        <a:t>Người dùng</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3 người dùng do BTC điều phối [16/10]</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Vai trò KTT/CFO trong demo là mô phỏng</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17" name="Architecture notes"/>
          <p:cNvSpPr txBox="1"/>
          <p:nvPr/>
        </p:nvSpPr>
        <p:spPr>
          <a:xfrm>
            <a:off x="4023360" y="3657600"/>
            <a:ext cx="4663440" cy="914400"/>
          </a:xfrm>
          <a:prstGeom prst="rect">
            <a:avLst/>
          </a:prstGeom>
          <a:noFill/>
          <a:ln/>
        </p:spPr>
        <p:txBody>
          <a:bodyPr wrap="square" lIns="0" tIns="0" rIns="0" bIns="0" rtlCol="0" anchor="t"/>
          <a:lstStyle/>
          <a:p>
            <a:pPr indent="0" marL="0">
              <a:buNone/>
            </a:pPr>
            <a:r>
              <a:rPr lang="en-US" sz="1200" b="1" dirty="0">
                <a:solidFill>
                  <a:schemeClr val="accent1"/>
                </a:solidFill>
              </a:rPr>
              <a:t>Không có vòng lặp agent: </a:t>
            </a:r>
            <a:pPr indent="0" marL="0">
              <a:buNone/>
            </a:pPr>
            <a:r>
              <a:rPr lang="en-US" sz="1200" dirty="0">
                <a:solidFill>
                  <a:schemeClr val="tx1"/>
                </a:solidFill>
              </a:rPr>
              <a:t>một lượt quy tắc mỗi hồ sơ; AI có timeout; quá hạn → giữ hồ sơ. Kiểm chứng: /api/health hiện commit đang chạy, CI chạy test mỗi lần đẩy mã.</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Giới hạn, rủi ro và hướng xử lý</a:t>
            </a:r>
            <a:endParaRPr lang="en-US" sz="3000" dirty="0"/>
          </a:p>
        </p:txBody>
      </p:sp>
      <p:graphicFrame>
        <p:nvGraphicFramePr>
          <p:cNvPr id="6" name="Risk table"/>
          <p:cNvGraphicFramePr>
            <a:graphicFrameLocks noGrp="1"/>
          </p:cNvGraphicFramePr>
          <p:nvPr>
            <p:extLst>
              <p:ext uri="{D42A27DB-BD31-4B8C-83A1-F6EECF244321}">
                <p14:modId xmlns:p14="http://schemas.microsoft.com/office/powerpoint/2010/main" val="1579011935"/>
              </p:ext>
            </p:extLst>
          </p:nvPr>
        </p:nvGraphicFramePr>
        <p:xfrm>
          <a:off x="457200" y="1005840"/>
          <a:ext cx="5486400" cy="914400"/>
        </p:xfrm>
        <a:graphic>
          <a:graphicData uri="http://schemas.openxmlformats.org/drawingml/2006/table">
            <a:tbl>
              <a:tblPr/>
              <a:tblGrid>
                <a:gridCol w="2514600"/>
                <a:gridCol w="502920"/>
                <a:gridCol w="2468880"/>
              </a:tblGrid>
              <a:tr h="274320">
                <a:tc>
                  <a:txBody>
                    <a:bodyPr/>
                    <a:lstStyle/>
                    <a:p>
                      <a:pPr indent="0" marL="0">
                        <a:buNone/>
                      </a:pPr>
                      <a:r>
                        <a:rPr lang="en-US" sz="1200" b="1" dirty="0">
                          <a:solidFill>
                            <a:schemeClr val="bg1"/>
                          </a:solidFill>
                        </a:rPr>
                        <a:t>Rủi ro / giới hạn</a:t>
                      </a: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Mức</a:t>
                      </a: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Hướng xử lý</a:t>
                      </a:r>
                      <a:endParaRPr lang="en-US" sz="1200" dirty="0"/>
                    </a:p>
                  </a:txBody>
                  <a:tcPr marL="54864" marR="54864" marT="54864" marB="54864">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548640">
                <a:tc>
                  <a:txBody>
                    <a:bodyPr/>
                    <a:lstStyle/>
                    <a:p>
                      <a:pPr indent="0" marL="0">
                        <a:buNone/>
                      </a:pPr>
                      <a:r>
                        <a:rPr lang="en-US" sz="1100" dirty="0">
                          <a:solidFill>
                            <a:schemeClr val="tx1"/>
                          </a:solidFill>
                        </a:rPr>
                        <a:t>Khoản chi lạ ngoài danh mục rủi ro vẫn có thể tự duyệt (VD chi cá nhân đặt tên khác)</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Cao</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Mở rộng danh mục “ngoài phạm vi SOP” theo phản hồi; hậu kiểm ngẫu nhiên ca tự duyệt</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57200">
                <a:tc>
                  <a:txBody>
                    <a:bodyPr/>
                    <a:lstStyle/>
                    <a:p>
                      <a:pPr indent="0" marL="0">
                        <a:buNone/>
                      </a:pPr>
                      <a:r>
                        <a:rPr lang="en-US" sz="1100" dirty="0">
                          <a:solidFill>
                            <a:schemeClr val="tx1"/>
                          </a:solidFill>
                        </a:rPr>
                        <a:t>Người dùng tin danh sách “tự xử lý” mà không xem lại</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Cao</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Đo bằng ca kiểm tra trong buổi thử; hiện lý do tự duyệt; hậu kiểm định kỳ</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57200">
                <a:tc>
                  <a:txBody>
                    <a:bodyPr/>
                    <a:lstStyle/>
                    <a:p>
                      <a:pPr indent="0" marL="0">
                        <a:buNone/>
                      </a:pPr>
                      <a:r>
                        <a:rPr lang="en-US" sz="1100" dirty="0">
                          <a:solidFill>
                            <a:schemeClr val="tx1"/>
                          </a:solidFill>
                        </a:rPr>
                        <a:t>Ngoại lệ dồn về KTT/CFO cuối tháng</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TB</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Gộp mọi vấn đề thành một câu hỏi; công tắc dừng tự động hóa khi cần rà soát</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57200">
                <a:tc>
                  <a:txBody>
                    <a:bodyPr/>
                    <a:lstStyle/>
                    <a:p>
                      <a:pPr indent="0" marL="0">
                        <a:buNone/>
                      </a:pPr>
                      <a:r>
                        <a:rPr lang="en-US" sz="1100" dirty="0">
                          <a:solidFill>
                            <a:schemeClr val="tx1"/>
                          </a:solidFill>
                        </a:rPr>
                        <a:t>Diễn giải pháp lý của quy tắc chưa được chuyên gia thuế xác nhận</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TB</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Mỗi quy tắc dẫn nguồn văn bản; KTT ký xác nhận bộ quy tắc trước khi dùng thật</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48640">
                <a:tc>
                  <a:txBody>
                    <a:bodyPr/>
                    <a:lstStyle/>
                    <a:p>
                      <a:pPr indent="0" marL="0">
                        <a:buNone/>
                      </a:pPr>
                      <a:r>
                        <a:rPr lang="en-US" sz="1100" dirty="0">
                          <a:solidFill>
                            <a:schemeClr val="tx1"/>
                          </a:solidFill>
                        </a:rPr>
                        <a:t>Ảnh/PDF gửi tới dịch vụ AI bên thứ ba; dữ liệu kiểm thử là tổng hợp</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TB</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XML không qua AI; triển khai thật cần API có thỏa thuận dữ liệu; nhãn độc lập từ người dùng</a:t>
                      </a:r>
                      <a:endParaRPr lang="en-US" sz="1100" dirty="0"/>
                    </a:p>
                  </a:txBody>
                  <a:tcPr marL="54864" marR="54864" marT="54864" marB="54864" anchor="t">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4" name="Negative impact slot"/>
          <p:cNvSpPr/>
          <p:nvPr/>
        </p:nvSpPr>
        <p:spPr>
          <a:xfrm>
            <a:off x="6172200" y="1005840"/>
            <a:ext cx="2514600" cy="1600200"/>
          </a:xfrm>
          <a:prstGeom prst="roundRect">
            <a:avLst>
              <a:gd name="adj" fmla="val 4571"/>
            </a:avLst>
          </a:prstGeom>
          <a:solidFill>
            <a:schemeClr val="bg1"/>
          </a:solidFill>
          <a:ln w="15875">
            <a:solidFill>
              <a:schemeClr val="accent1"/>
            </a:solidFill>
            <a:prstDash val="dash"/>
          </a:ln>
        </p:spPr>
      </p:sp>
      <p:sp>
        <p:nvSpPr>
          <p:cNvPr id="5" name="Negative impact slot text"/>
          <p:cNvSpPr txBox="1"/>
          <p:nvPr/>
        </p:nvSpPr>
        <p:spPr>
          <a:xfrm>
            <a:off x="6281928" y="1060704"/>
            <a:ext cx="2295144" cy="1490472"/>
          </a:xfrm>
          <a:prstGeom prst="rect">
            <a:avLst/>
          </a:prstGeom>
          <a:noFill/>
          <a:ln/>
        </p:spPr>
        <p:txBody>
          <a:bodyPr wrap="square" lIns="0" tIns="0" rIns="0" bIns="0" rtlCol="0" anchor="ctr"/>
          <a:lstStyle/>
          <a:p>
            <a:pPr indent="0" marL="0">
              <a:buNone/>
            </a:pPr>
            <a:r>
              <a:rPr lang="en-US" sz="1100" i="1" dirty="0">
                <a:solidFill>
                  <a:schemeClr val="tx2"/>
                </a:solidFill>
              </a:rPr>
              <a:t>[Cập nhật 16/10] Tác động tiêu cực / bất cập do người dùng nêu — trích nguyên văn, kèm chức danh. (Thể lệ: “không có bất cập” = 0 điểm.)</a:t>
            </a:r>
            <a:endParaRPr lang="en-US" sz="1100" dirty="0"/>
          </a:p>
        </p:txBody>
      </p:sp>
      <p:sp>
        <p:nvSpPr>
          <p:cNvPr id="6" name="Improvement slot"/>
          <p:cNvSpPr/>
          <p:nvPr/>
        </p:nvSpPr>
        <p:spPr>
          <a:xfrm>
            <a:off x="6172200" y="2743200"/>
            <a:ext cx="2514600" cy="1280160"/>
          </a:xfrm>
          <a:prstGeom prst="roundRect">
            <a:avLst>
              <a:gd name="adj" fmla="val 5714"/>
            </a:avLst>
          </a:prstGeom>
          <a:solidFill>
            <a:schemeClr val="bg1"/>
          </a:solidFill>
          <a:ln w="15875">
            <a:solidFill>
              <a:schemeClr val="accent1"/>
            </a:solidFill>
            <a:prstDash val="dash"/>
          </a:ln>
        </p:spPr>
      </p:sp>
      <p:sp>
        <p:nvSpPr>
          <p:cNvPr id="7" name="Improvement slot text"/>
          <p:cNvSpPr txBox="1"/>
          <p:nvPr/>
        </p:nvSpPr>
        <p:spPr>
          <a:xfrm>
            <a:off x="6281928" y="2798064"/>
            <a:ext cx="2295144" cy="1170432"/>
          </a:xfrm>
          <a:prstGeom prst="rect">
            <a:avLst/>
          </a:prstGeom>
          <a:noFill/>
          <a:ln/>
        </p:spPr>
        <p:txBody>
          <a:bodyPr wrap="square" lIns="0" tIns="0" rIns="0" bIns="0" rtlCol="0" anchor="ctr"/>
          <a:lstStyle/>
          <a:p>
            <a:pPr indent="0" marL="0">
              <a:buNone/>
            </a:pPr>
            <a:r>
              <a:rPr lang="en-US" sz="1100" i="1" dirty="0">
                <a:solidFill>
                  <a:schemeClr val="tx2"/>
                </a:solidFill>
              </a:rPr>
              <a:t>[Cập nhật 16/10] Một cải tiến từ phản hồi: phản hồi gốc → thay đổi → commit &lt;hash&gt; → trước/sau.</a:t>
            </a:r>
            <a:endParaRPr lang="en-US" sz="1100" dirty="0"/>
          </a:p>
        </p:txBody>
      </p:sp>
      <p:sp>
        <p:nvSpPr>
          <p:cNvPr id="8" name="Fixed since sprint 1"/>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200" dirty="0">
                <a:solidFill>
                  <a:schemeClr val="tx2"/>
                </a:solidFill>
              </a:rPr>
              <a:t>Đã xử lý từ Sprint 1: lưu trên RAM → SQLite bền; XXE → chặn; leo thang quyền → chặn; test → npm test + CI.</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Tax Referee">
  <a:themeElements>
    <a:clrScheme name="Tax Referee">
      <a:dk1>
        <a:srgbClr val="0F172A"/>
      </a:dk1>
      <a:lt1>
        <a:srgbClr val="FFFFFF"/>
      </a:lt1>
      <a:dk2>
        <a:srgbClr val="334155"/>
      </a:dk2>
      <a:lt2>
        <a:srgbClr val="F1F5F9"/>
      </a:lt2>
      <a:accent1>
        <a:srgbClr val="4D7C0F"/>
      </a:accent1>
      <a:accent2>
        <a:srgbClr val="D9F99D"/>
      </a:accent2>
      <a:accent3>
        <a:srgbClr val="B45309"/>
      </a:accent3>
      <a:accent4>
        <a:srgbClr val="BE123C"/>
      </a:accent4>
      <a:accent5>
        <a:srgbClr val="6D28D9"/>
      </a:accent5>
      <a:accent6>
        <a:srgbClr val="0F766E"/>
      </a:accent6>
      <a:hlink>
        <a:srgbClr val="4D7C0F"/>
      </a:hlink>
      <a:folHlink>
        <a:srgbClr val="6D28D9"/>
      </a:folHlink>
    </a:clrScheme>
    <a:fontScheme name="Tax Refer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 Referee — Đề A The Escalation Referee</dc:title>
  <dc:subject>MLAI Hackathon 2026 · Track VNG</dc:subject>
  <dc:creator>Đội Fprinciples</dc:creator>
  <cp:lastModifiedBy>Đội Fprinciples</cp:lastModifiedBy>
  <cp:revision>1</cp:revision>
  <dcterms:created xsi:type="dcterms:W3CDTF">2026-10-14T16:36:40Z</dcterms:created>
  <dcterms:modified xsi:type="dcterms:W3CDTF">2026-10-14T16:36:40Z</dcterms:modified>
</cp:coreProperties>
</file>