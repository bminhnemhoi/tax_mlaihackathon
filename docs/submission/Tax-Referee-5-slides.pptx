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 Vấn đề" id="{a819fb21-550d-8f01-41c5-cca0a634d355}">
          <p14:sldIdLst>
            <p14:sldId id="256"/>
          </p14:sldIdLst>
        </p14:section>
        <p14:section name="2 · Đầu vào → Xử lý → Đầu ra" id="{27366c94-5c75-13e8-3160-e43e2de2ee94}">
          <p14:sldIdLst>
            <p14:sldId id="257"/>
          </p14:sldIdLst>
        </p14:section>
        <p14:section name="3 · Tác động" id="{39911a7b-a35b-9861-c692-49130b467075}">
          <p14:sldIdLst>
            <p14:sldId id="258"/>
          </p14:sldIdLst>
        </p14:section>
        <p14:section name="4 · Kiến trúc" id="{06c1286b-09aa-0380-003a-49b5668f3821}">
          <p14:sldIdLst>
            <p14:sldId id="259"/>
          </p14:sldIdLst>
        </p14:section>
        <p14:section name="5 · Giới hạn và rủi ro" id="{015e27ab-3276-927d-97e1-2edbe43d84e6}">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15–20 giây. Bài toán không phải đọc hóa đơn nhanh hơn, mà là biết khi nào được tự duyệt, khi nào phải dừng, và hỏi thế nào để người duyệt trả lời ngay. Hai lỗi ngược nhau đều đắt: duyệt bừa thì mất VAT và bị phạt; chuyển hết thì người duyệt nghẽn. Doanh nghiệp góp ý: định giá theo VAT bảo vệ được và tiền phạt tránh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Khớp đúng màn hình demo: Verify → hộp chuyển tiếp → đổi vai KTT/CFO → trả lời "1A, 2A" → nhật ký → dừng/hoàn tác. Nhấn mạnh: quy tắc TypeScript là thẩm quyền duy nhất, không có vòng lặp agent. Ba ví dụ câu hỏi lấy nguyên văn từ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Số liệu A đo trên hệ thống, tái lập bằng scripts/qa/compare-rehearsal.ts (docs/evidence/before-after-judge-rehearsal-2026-10-14.md): đúng 3/11 → 11/11, hỏi thừa 3/3 → 0/3, sai nhóm 4/8 → 0/8, câu hỏi qua kiểm tra tự động (có số tiền ₫, không chứa “chứng từ gốc/xem danh sách”) 1/10 → 8/8 — mẫu số khác nhau: bản cũ chuyển tiếp 10 ca gồm 3 ca thường quy bị hỏi thừa, bản mới 8 ca. Tái lập: chạy compare-rehearsal.ts với thư mục làm việc là phiên bản cần đo (xem file evidence). Red team: 72 ca bẫy do agent viết từ SOP (không đọc policyEngine.ts, có đọc SOP và module ngưỡng; nhãn do AI gán), lần đầu đúng 66/72, sau khi sửa 72/72, nay là bộ hồi quy trong npm test (data/verification/redteam/cases.json). Nói rõ giới hạn. Ô người dùng chỉ điền số thật ngày 16/10; nếu chưa có, nói "chưa có".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câu hỏi "vòng lặp agent không có trần" của doanh nghiệp: không còn vòng lặp. Dữ liệu ảnh chỉ đi qua Gemini khi tải ảnh; XML không qua AI. Persistence: SQLite WAL trên volume, test khởi động lại; audit chỉ ghi thêm (trigger) và HMAC nếu đặt khóa.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có trọng số lớn: nói thẳng giới hạn. Ca U2 (tiệc cưới) trong buổi thử là ví dụ thật của rủi ro hàng 1. Hai ô bên phải chỉ điền phản hồi thật của người dùng; mỗi cải tiến là một commit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4773168"/>
            <a:ext cx="6858000" cy="228600"/>
          </a:xfrm>
          <a:prstGeom prst="rect">
            <a:avLst/>
          </a:prstGeom>
          <a:noFill/>
          <a:ln/>
        </p:spPr>
        <p:txBody>
          <a:bodyPr wrap="square" lIns="0" tIns="0" rIns="0" bIns="0" rtlCol="0" anchor="ctr"/>
          <a:lstStyle/>
          <a:p>
            <a:pPr indent="0" marL="0">
              <a:buNone/>
            </a:pPr>
            <a:r>
              <a:rPr lang="en-US" sz="900" dirty="0">
                <a:solidFill>
                  <a:schemeClr val="tx2"/>
                </a:solidFill>
              </a:rPr>
              <a:t>Tax Referee · Đội Fprinciples · MLAI Hackathon 2026 · Track VNG</a:t>
            </a:r>
            <a:endParaRPr lang="en-US" sz="900" dirty="0"/>
          </a:p>
        </p:txBody>
      </p:sp>
      <p:sp>
        <p:nvSpPr>
          <p:cNvPr id="3" name="Text 1"/>
          <p:cNvSpPr/>
          <p:nvPr>
            <p:ph idx="101" type="title" hasCustomPrompt="1"/>
          </p:nvPr>
        </p:nvSpPr>
        <p:spPr>
          <a:xfrm>
            <a:off x="457200" y="256032"/>
            <a:ext cx="8229600" cy="64008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r>
              <a:rPr lang="en-US" sz="3000" b="1" dirty="0">
                <a:solidFill>
                  <a:schemeClr val="tx1"/>
                </a:solidFill>
                <a:latin typeface="Cambria" pitchFamily="34" charset="0"/>
                <a:ea typeface="Cambria" pitchFamily="34" charset="-122"/>
                <a:cs typeface="Cambria" pitchFamily="34" charset="-120"/>
              </a:rPr>
              <a:t>Tiêu đề</a:t>
            </a:r>
            <a:endParaRPr lang="en-US" sz="30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457200" y="4773168"/>
            <a:ext cx="6858000" cy="228600"/>
          </a:xfrm>
          <a:prstGeom prst="rect">
            <a:avLst/>
          </a:prstGeom>
          <a:noFill/>
          <a:ln/>
        </p:spPr>
        <p:txBody>
          <a:bodyPr wrap="square" lIns="0" tIns="0" rIns="0" bIns="0" rtlCol="0" anchor="ctr"/>
          <a:lstStyle/>
          <a:p>
            <a:pPr indent="0" marL="0">
              <a:buNone/>
            </a:pPr>
            <a:r>
              <a:rPr lang="en-US" sz="900" dirty="0">
                <a:solidFill>
                  <a:srgbClr val="CBD5E1"/>
                </a:solidFill>
              </a:rPr>
              <a:t>Tax Referee · Đội Fprinciples · MLAI Hackathon 2026 · Track VNG</a:t>
            </a:r>
            <a:endParaRPr lang="en-US" sz="900" dirty="0"/>
          </a:p>
        </p:txBody>
      </p:sp>
      <p:sp>
        <p:nvSpPr>
          <p:cNvPr id="3" name="Text 1"/>
          <p:cNvSpPr/>
          <p:nvPr>
            <p:ph idx="101" type="title" hasCustomPrompt="1"/>
          </p:nvPr>
        </p:nvSpPr>
        <p:spPr>
          <a:xfrm>
            <a:off x="457200" y="502920"/>
            <a:ext cx="8229600" cy="68580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r>
              <a:rPr lang="en-US" sz="3200" b="1" dirty="0">
                <a:solidFill>
                  <a:schemeClr val="bg1"/>
                </a:solidFill>
                <a:latin typeface="Cambria" pitchFamily="34" charset="0"/>
                <a:ea typeface="Cambria" pitchFamily="34" charset="-122"/>
                <a:cs typeface="Cambria" pitchFamily="34" charset="-120"/>
              </a:rPr>
              <a:t>Tiêu đề</a:t>
            </a:r>
            <a:endParaRPr lang="en-US" sz="32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CBD5E1"/>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457200" y="228600"/>
            <a:ext cx="8229600" cy="274320"/>
          </a:xfrm>
          <a:prstGeom prst="rect">
            <a:avLst/>
          </a:prstGeom>
          <a:noFill/>
          <a:ln/>
        </p:spPr>
        <p:txBody>
          <a:bodyPr wrap="square" lIns="0" tIns="0" rIns="0" bIns="0" rtlCol="0" anchor="ctr"/>
          <a:lstStyle/>
          <a:p>
            <a:pPr indent="0" marL="0">
              <a:buNone/>
            </a:pPr>
            <a:r>
              <a:rPr lang="en-US" sz="1100" b="1" spc="100" kern="0" dirty="0">
                <a:solidFill>
                  <a:schemeClr val="accent2"/>
                </a:solidFill>
              </a:rPr>
              <a:t>TAX REFEREE · ĐỀ A — THE ESCALATION REFEREE</a:t>
            </a:r>
            <a:endParaRPr lang="en-US" sz="1100" dirty="0"/>
          </a:p>
        </p:txBody>
      </p:sp>
      <p:sp>
        <p:nvSpPr>
          <p:cNvPr id="3" name="Text 1"/>
          <p:cNvSpPr/>
          <p:nvPr>
            <p:ph idx="101" type="title" hasCustomPrompt="1"/>
          </p:nvPr>
        </p:nvSpPr>
        <p:spPr>
          <a:xfrm>
            <a:off x="457200" y="502920"/>
            <a:ext cx="8229600" cy="685800"/>
          </a:xfrm>
          <a:prstGeom prst="rect">
            <a:avLst/>
          </a:prstGeom>
          <a:noFill/>
          <a:ln/>
        </p:spPr>
        <p:txBody>
          <a:bodyPr wrap="square" lIns="0" tIns="0" rIns="0" bIns="0" rtlCol="0" anchor="ctr"/>
          <a:lstStyle/>
          <a:p>
            <a:pPr algn="l" indent="0" marL="0">
              <a:buNone/>
            </a:pPr>
            <a:r>
              <a:rPr lang="en-US" sz="3200" b="1" dirty="0">
                <a:solidFill>
                  <a:schemeClr val="bg1"/>
                </a:solidFill>
                <a:latin typeface="Cambria" pitchFamily="34" charset="0"/>
                <a:ea typeface="Cambria" pitchFamily="34" charset="-122"/>
                <a:cs typeface="Cambria" pitchFamily="34" charset="-120"/>
              </a:rPr>
              <a:t>Hóa đơn sai điều kiện = tiền thuế bị mất</a:t>
            </a:r>
            <a:endParaRPr lang="en-US" sz="3200" dirty="0"/>
          </a:p>
        </p:txBody>
      </p:sp>
      <p:sp>
        <p:nvSpPr>
          <p:cNvPr id="4" name="Conditions list"/>
          <p:cNvSpPr txBox="1"/>
          <p:nvPr/>
        </p:nvSpPr>
        <p:spPr>
          <a:xfrm>
            <a:off x="457200" y="1371600"/>
            <a:ext cx="4206240" cy="2514600"/>
          </a:xfrm>
          <a:prstGeom prst="rect">
            <a:avLst/>
          </a:prstGeom>
          <a:noFill/>
          <a:ln/>
        </p:spPr>
        <p:txBody>
          <a:bodyPr wrap="square" lIns="0" tIns="0" rIns="0" bIns="0" rtlCol="0" anchor="t"/>
          <a:lstStyle/>
          <a:p>
            <a:pPr indent="0" marL="0">
              <a:spcAft>
                <a:spcPts val="600"/>
              </a:spcAft>
              <a:buNone/>
            </a:pPr>
            <a:r>
              <a:rPr lang="en-US" sz="1400" b="1" dirty="0">
                <a:solidFill>
                  <a:schemeClr val="bg1"/>
                </a:solidFill>
              </a:rPr>
              <a:t>Mỗi hóa đơn đầu vào phải đạt nhiều điều kiện cùng lúc:</a:t>
            </a:r>
            <a:endParaRPr lang="en-US" sz="1400" dirty="0"/>
          </a:p>
          <a:p>
            <a:pPr marL="177800" indent="-177800">
              <a:spcAft>
                <a:spcPts val="600"/>
              </a:spcAft>
              <a:buSzPct val="100000"/>
              <a:buChar char="•"/>
            </a:pPr>
            <a:r>
              <a:rPr lang="en-US" sz="1400" dirty="0">
                <a:solidFill>
                  <a:srgbClr val="E2E8F0"/>
                </a:solidFill>
              </a:rPr>
              <a:t>Từ 5.000.000₫ phải thanh toán không dùng tiền mặt</a:t>
            </a:r>
            <a:endParaRPr lang="en-US" sz="1400" dirty="0"/>
          </a:p>
          <a:p>
            <a:pPr marL="177800" indent="-177800">
              <a:spcAft>
                <a:spcPts val="600"/>
              </a:spcAft>
              <a:buSzPct val="100000"/>
              <a:buChar char="•"/>
            </a:pPr>
            <a:r>
              <a:rPr lang="en-US" sz="1400" dirty="0">
                <a:solidFill>
                  <a:srgbClr val="E2E8F0"/>
                </a:solidFill>
              </a:rPr>
              <a:t>Thuế suất 8% có danh mục loại trừ (viễn thông, CNTT, tài chính…)</a:t>
            </a:r>
            <a:endParaRPr lang="en-US" sz="1400" dirty="0"/>
          </a:p>
          <a:p>
            <a:pPr marL="177800" indent="-177800">
              <a:spcAft>
                <a:spcPts val="600"/>
              </a:spcAft>
              <a:buSzPct val="100000"/>
              <a:buChar char="•"/>
            </a:pPr>
            <a:r>
              <a:rPr lang="en-US" sz="1400" dirty="0">
                <a:solidFill>
                  <a:srgbClr val="E2E8F0"/>
                </a:solidFill>
              </a:rPr>
              <a:t>Đúng MST người mua; MST người bán còn hoạt động</a:t>
            </a:r>
            <a:endParaRPr lang="en-US" sz="1400" dirty="0"/>
          </a:p>
          <a:p>
            <a:pPr marL="177800" indent="-177800">
              <a:spcAft>
                <a:spcPts val="600"/>
              </a:spcAft>
              <a:buSzPct val="100000"/>
              <a:buChar char="•"/>
            </a:pPr>
            <a:r>
              <a:rPr lang="en-US" sz="1400" dirty="0">
                <a:solidFill>
                  <a:srgbClr val="E2E8F0"/>
                </a:solidFill>
              </a:rPr>
              <a:t>Đúng người duyệt theo hạn mức (KTT / CFO)</a:t>
            </a:r>
            <a:endParaRPr lang="en-US" sz="1400" dirty="0"/>
          </a:p>
          <a:p>
            <a:pPr indent="0" marL="0">
              <a:spcAft>
                <a:spcPts val="600"/>
              </a:spcAft>
              <a:buNone/>
            </a:pPr>
            <a:r>
              <a:rPr lang="en-US" sz="1400" i="1" dirty="0">
                <a:solidFill>
                  <a:srgbClr val="CBD5E1"/>
                </a:solidFill>
              </a:rPr>
              <a:t>Ca khó hôm nay: nhắn “anh xem giúp hóa đơn này” — người duyệt phải mở lại chứng từ mới hiểu đang hỏi gì.</a:t>
            </a:r>
            <a:endParaRPr lang="en-US" sz="1400" dirty="0"/>
          </a:p>
        </p:txBody>
      </p:sp>
      <p:sp>
        <p:nvSpPr>
          <p:cNvPr id="5" name="Pain card 1"/>
          <p:cNvSpPr/>
          <p:nvPr/>
        </p:nvSpPr>
        <p:spPr>
          <a:xfrm>
            <a:off x="4983480" y="1371600"/>
            <a:ext cx="3703320" cy="1051560"/>
          </a:xfrm>
          <a:prstGeom prst="roundRect">
            <a:avLst>
              <a:gd name="adj" fmla="val 10435"/>
            </a:avLst>
          </a:prstGeom>
          <a:solidFill>
            <a:srgbClr val="1E293B"/>
          </a:solidFill>
          <a:ln w="12700">
            <a:solidFill>
              <a:srgbClr val="1E293B"/>
            </a:solidFill>
            <a:prstDash val="solid"/>
          </a:ln>
          <a:effectLst>
            <a:outerShdw sx="100000" sy="100000" kx="0" ky="0" algn="bl" rotWithShape="0" blurRad="76200" dist="25400" dir="5400000">
              <a:srgbClr val="94A3B8">
                <a:alpha val="25000"/>
              </a:srgbClr>
            </a:outerShdw>
          </a:effectLst>
        </p:spPr>
      </p:sp>
      <p:sp>
        <p:nvSpPr>
          <p:cNvPr id="6" name="Pain 1 badge"/>
          <p:cNvSpPr/>
          <p:nvPr/>
        </p:nvSpPr>
        <p:spPr>
          <a:xfrm>
            <a:off x="5166360" y="1645920"/>
            <a:ext cx="502920" cy="502920"/>
          </a:xfrm>
          <a:prstGeom prst="ellipse">
            <a:avLst/>
          </a:prstGeom>
          <a:solidFill>
            <a:schemeClr val="accent4"/>
          </a:solidFill>
          <a:ln w="12700">
            <a:solidFill>
              <a:schemeClr val="accent4"/>
            </a:solidFill>
            <a:prstDash val="solid"/>
          </a:ln>
        </p:spPr>
      </p:sp>
      <p:sp>
        <p:nvSpPr>
          <p:cNvPr id="7" name="Pain 1 badge text"/>
          <p:cNvSpPr txBox="1"/>
          <p:nvPr/>
        </p:nvSpPr>
        <p:spPr>
          <a:xfrm>
            <a:off x="5166360" y="16459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8" name="Pain 1 title"/>
          <p:cNvSpPr txBox="1"/>
          <p:nvPr/>
        </p:nvSpPr>
        <p:spPr>
          <a:xfrm>
            <a:off x="5806440" y="1481328"/>
            <a:ext cx="2743200" cy="320040"/>
          </a:xfrm>
          <a:prstGeom prst="rect">
            <a:avLst/>
          </a:prstGeom>
          <a:noFill/>
          <a:ln/>
        </p:spPr>
        <p:txBody>
          <a:bodyPr wrap="square" lIns="0" tIns="0" rIns="0" bIns="0" rtlCol="0" anchor="ctr"/>
          <a:lstStyle/>
          <a:p>
            <a:pPr indent="0" marL="0">
              <a:buNone/>
            </a:pPr>
            <a:r>
              <a:rPr lang="en-US" sz="1600" b="1" dirty="0">
                <a:solidFill>
                  <a:schemeClr val="bg1"/>
                </a:solidFill>
              </a:rPr>
              <a:t>Tự động duyệt bừa</a:t>
            </a:r>
            <a:endParaRPr lang="en-US" sz="1600" dirty="0"/>
          </a:p>
        </p:txBody>
      </p:sp>
      <p:sp>
        <p:nvSpPr>
          <p:cNvPr id="9" name="Pain 1 body"/>
          <p:cNvSpPr txBox="1"/>
          <p:nvPr/>
        </p:nvSpPr>
        <p:spPr>
          <a:xfrm>
            <a:off x="5806440" y="1801368"/>
            <a:ext cx="2743200" cy="548640"/>
          </a:xfrm>
          <a:prstGeom prst="rect">
            <a:avLst/>
          </a:prstGeom>
          <a:noFill/>
          <a:ln/>
        </p:spPr>
        <p:txBody>
          <a:bodyPr wrap="square" lIns="0" tIns="0" rIns="0" bIns="0" rtlCol="0" anchor="t"/>
          <a:lstStyle/>
          <a:p>
            <a:pPr indent="0" marL="0">
              <a:buNone/>
            </a:pPr>
            <a:r>
              <a:rPr lang="en-US" sz="1300" dirty="0">
                <a:solidFill>
                  <a:srgbClr val="CBD5E1"/>
                </a:solidFill>
              </a:rPr>
              <a:t>Thuế GTGT đầu vào bị loại và bị phạt khi thanh tra — mất tiền mặt.</a:t>
            </a:r>
            <a:endParaRPr lang="en-US" sz="1300" dirty="0"/>
          </a:p>
        </p:txBody>
      </p:sp>
      <p:sp>
        <p:nvSpPr>
          <p:cNvPr id="10" name="Pain card 2"/>
          <p:cNvSpPr/>
          <p:nvPr/>
        </p:nvSpPr>
        <p:spPr>
          <a:xfrm>
            <a:off x="4983480" y="2606040"/>
            <a:ext cx="3703320" cy="1051560"/>
          </a:xfrm>
          <a:prstGeom prst="roundRect">
            <a:avLst>
              <a:gd name="adj" fmla="val 10435"/>
            </a:avLst>
          </a:prstGeom>
          <a:solidFill>
            <a:srgbClr val="1E293B"/>
          </a:solidFill>
          <a:ln w="12700">
            <a:solidFill>
              <a:srgbClr val="1E293B"/>
            </a:solidFill>
            <a:prstDash val="solid"/>
          </a:ln>
          <a:effectLst>
            <a:outerShdw sx="100000" sy="100000" kx="0" ky="0" algn="bl" rotWithShape="0" blurRad="76200" dist="25400" dir="5400000">
              <a:srgbClr val="94A3B8">
                <a:alpha val="25000"/>
              </a:srgbClr>
            </a:outerShdw>
          </a:effectLst>
        </p:spPr>
      </p:sp>
      <p:sp>
        <p:nvSpPr>
          <p:cNvPr id="11" name="Pain 2 badge"/>
          <p:cNvSpPr/>
          <p:nvPr/>
        </p:nvSpPr>
        <p:spPr>
          <a:xfrm>
            <a:off x="5166360" y="2880360"/>
            <a:ext cx="502920" cy="502920"/>
          </a:xfrm>
          <a:prstGeom prst="ellipse">
            <a:avLst/>
          </a:prstGeom>
          <a:solidFill>
            <a:schemeClr val="accent3"/>
          </a:solidFill>
          <a:ln w="12700">
            <a:solidFill>
              <a:schemeClr val="accent3"/>
            </a:solidFill>
            <a:prstDash val="solid"/>
          </a:ln>
        </p:spPr>
      </p:sp>
      <p:sp>
        <p:nvSpPr>
          <p:cNvPr id="12" name="Pain 2 badge text"/>
          <p:cNvSpPr txBox="1"/>
          <p:nvPr/>
        </p:nvSpPr>
        <p:spPr>
          <a:xfrm>
            <a:off x="5166360" y="2880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3" name="Pain 2 title"/>
          <p:cNvSpPr txBox="1"/>
          <p:nvPr/>
        </p:nvSpPr>
        <p:spPr>
          <a:xfrm>
            <a:off x="5806440" y="2715768"/>
            <a:ext cx="2743200" cy="320040"/>
          </a:xfrm>
          <a:prstGeom prst="rect">
            <a:avLst/>
          </a:prstGeom>
          <a:noFill/>
          <a:ln/>
        </p:spPr>
        <p:txBody>
          <a:bodyPr wrap="square" lIns="0" tIns="0" rIns="0" bIns="0" rtlCol="0" anchor="ctr"/>
          <a:lstStyle/>
          <a:p>
            <a:pPr indent="0" marL="0">
              <a:buNone/>
            </a:pPr>
            <a:r>
              <a:rPr lang="en-US" sz="1600" b="1" dirty="0">
                <a:solidFill>
                  <a:schemeClr val="bg1"/>
                </a:solidFill>
              </a:rPr>
              <a:t>Chuyển hết cho người duyệt</a:t>
            </a:r>
            <a:endParaRPr lang="en-US" sz="1600" dirty="0"/>
          </a:p>
        </p:txBody>
      </p:sp>
      <p:sp>
        <p:nvSpPr>
          <p:cNvPr id="14" name="Pain 2 body"/>
          <p:cNvSpPr txBox="1"/>
          <p:nvPr/>
        </p:nvSpPr>
        <p:spPr>
          <a:xfrm>
            <a:off x="5806440" y="3035808"/>
            <a:ext cx="2743200" cy="548640"/>
          </a:xfrm>
          <a:prstGeom prst="rect">
            <a:avLst/>
          </a:prstGeom>
          <a:noFill/>
          <a:ln/>
        </p:spPr>
        <p:txBody>
          <a:bodyPr wrap="square" lIns="0" tIns="0" rIns="0" bIns="0" rtlCol="0" anchor="t"/>
          <a:lstStyle/>
          <a:p>
            <a:pPr indent="0" marL="0">
              <a:buNone/>
            </a:pPr>
            <a:r>
              <a:rPr lang="en-US" sz="1300" dirty="0">
                <a:solidFill>
                  <a:srgbClr val="CBD5E1"/>
                </a:solidFill>
              </a:rPr>
              <a:t>KTT/CFO nghẽn cuối tháng; tự động hóa không còn giá trị.</a:t>
            </a:r>
            <a:endParaRPr lang="en-US" sz="1300" dirty="0"/>
          </a:p>
        </p:txBody>
      </p:sp>
      <p:sp>
        <p:nvSpPr>
          <p:cNvPr id="15" name="Promise pill"/>
          <p:cNvSpPr/>
          <p:nvPr/>
        </p:nvSpPr>
        <p:spPr>
          <a:xfrm>
            <a:off x="457200" y="4069080"/>
            <a:ext cx="8229600" cy="548640"/>
          </a:xfrm>
          <a:prstGeom prst="roundRect">
            <a:avLst>
              <a:gd name="adj" fmla="val 50000"/>
            </a:avLst>
          </a:prstGeom>
          <a:solidFill>
            <a:schemeClr val="accent2"/>
          </a:solidFill>
          <a:ln w="12700">
            <a:solidFill>
              <a:schemeClr val="accent2"/>
            </a:solidFill>
            <a:prstDash val="solid"/>
          </a:ln>
        </p:spPr>
      </p:sp>
      <p:sp>
        <p:nvSpPr>
          <p:cNvPr id="16" name="Promise text"/>
          <p:cNvSpPr txBox="1"/>
          <p:nvPr/>
        </p:nvSpPr>
        <p:spPr>
          <a:xfrm>
            <a:off x="685800" y="4069080"/>
            <a:ext cx="7772400" cy="548640"/>
          </a:xfrm>
          <a:prstGeom prst="rect">
            <a:avLst/>
          </a:prstGeom>
          <a:noFill/>
          <a:ln/>
        </p:spPr>
        <p:txBody>
          <a:bodyPr wrap="square" lIns="0" tIns="0" rIns="0" bIns="0" rtlCol="0" anchor="ctr"/>
          <a:lstStyle/>
          <a:p>
            <a:pPr indent="0" marL="0">
              <a:buNone/>
            </a:pPr>
            <a:r>
              <a:rPr lang="en-US" sz="1500" b="1" dirty="0">
                <a:solidFill>
                  <a:schemeClr val="tx1"/>
                </a:solidFill>
              </a:rPr>
              <a:t>Tax Referee: tự xử lý ca thường quy · dừng đúng lúc · hỏi đúng người, một câu là trả lời được.</a:t>
            </a:r>
            <a:endParaRPr lang="en-US" sz="15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CBD5E1"/>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Đầu vào → Xử lý → Đầu ra</a:t>
            </a:r>
            <a:endParaRPr lang="en-US" sz="3000" dirty="0"/>
          </a:p>
        </p:txBody>
      </p:sp>
      <p:pic>
        <p:nvPicPr>
          <p:cNvPr id="3" name="Pipeline diagram" descr="D:/TAX_MLAI/docs/diagrams/s1-pipeline-slide.png">    </p:cNvPr>
          <p:cNvPicPr>
            <a:picLocks noChangeAspect="1"/>
          </p:cNvPicPr>
          <p:nvPr/>
        </p:nvPicPr>
        <p:blipFill>
          <a:blip r:embed="rId1"/>
          <a:stretch>
            <a:fillRect/>
          </a:stretch>
        </p:blipFill>
        <p:spPr>
          <a:xfrm>
            <a:off x="457200" y="1024128"/>
            <a:ext cx="8229600" cy="1192180"/>
          </a:xfrm>
          <a:prstGeom prst="rect">
            <a:avLst/>
          </a:prstGeom>
        </p:spPr>
      </p:pic>
      <p:sp>
        <p:nvSpPr>
          <p:cNvPr id="4" name="Group card 1"/>
          <p:cNvSpPr/>
          <p:nvPr/>
        </p:nvSpPr>
        <p:spPr>
          <a:xfrm>
            <a:off x="457200" y="2487168"/>
            <a:ext cx="2651760" cy="1536192"/>
          </a:xfrm>
          <a:prstGeom prst="roundRect">
            <a:avLst>
              <a:gd name="adj" fmla="val 7143"/>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5" name="Group 1 badge"/>
          <p:cNvSpPr/>
          <p:nvPr/>
        </p:nvSpPr>
        <p:spPr>
          <a:xfrm>
            <a:off x="594360" y="2596896"/>
            <a:ext cx="384048" cy="384048"/>
          </a:xfrm>
          <a:prstGeom prst="ellipse">
            <a:avLst/>
          </a:prstGeom>
          <a:solidFill>
            <a:schemeClr val="accent3"/>
          </a:solidFill>
          <a:ln w="12700">
            <a:solidFill>
              <a:schemeClr val="accent3"/>
            </a:solidFill>
            <a:prstDash val="solid"/>
          </a:ln>
        </p:spPr>
      </p:sp>
      <p:sp>
        <p:nvSpPr>
          <p:cNvPr id="6" name="Group 1 badge text"/>
          <p:cNvSpPr txBox="1"/>
          <p:nvPr/>
        </p:nvSpPr>
        <p:spPr>
          <a:xfrm>
            <a:off x="594360" y="25968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Group 1 label"/>
          <p:cNvSpPr txBox="1"/>
          <p:nvPr/>
        </p:nvSpPr>
        <p:spPr>
          <a:xfrm>
            <a:off x="1051560" y="2596896"/>
            <a:ext cx="1463040" cy="384048"/>
          </a:xfrm>
          <a:prstGeom prst="rect">
            <a:avLst/>
          </a:prstGeom>
          <a:noFill/>
          <a:ln/>
        </p:spPr>
        <p:txBody>
          <a:bodyPr wrap="square" lIns="0" tIns="0" rIns="0" bIns="0" rtlCol="0" anchor="ctr"/>
          <a:lstStyle/>
          <a:p>
            <a:pPr indent="0" marL="0">
              <a:buNone/>
            </a:pPr>
            <a:r>
              <a:rPr lang="en-US" sz="1400" b="1" dirty="0">
                <a:solidFill>
                  <a:schemeClr val="accent3"/>
                </a:solidFill>
              </a:rPr>
              <a:t>Chưa rõ thông tin</a:t>
            </a:r>
            <a:endParaRPr lang="en-US" sz="1400" dirty="0"/>
          </a:p>
        </p:txBody>
      </p:sp>
      <p:sp>
        <p:nvSpPr>
          <p:cNvPr id="8" name="Group 1 recipient"/>
          <p:cNvSpPr txBox="1"/>
          <p:nvPr/>
        </p:nvSpPr>
        <p:spPr>
          <a:xfrm>
            <a:off x="2423160" y="2596896"/>
            <a:ext cx="548640" cy="384048"/>
          </a:xfrm>
          <a:prstGeom prst="rect">
            <a:avLst/>
          </a:prstGeom>
          <a:noFill/>
          <a:ln/>
        </p:spPr>
        <p:txBody>
          <a:bodyPr wrap="square" lIns="0" tIns="0" rIns="0" bIns="0" rtlCol="0" anchor="ctr"/>
          <a:lstStyle/>
          <a:p>
            <a:pPr algn="r" indent="0" marL="0">
              <a:buNone/>
            </a:pPr>
            <a:r>
              <a:rPr lang="en-US" sz="1200" b="1" dirty="0">
                <a:solidFill>
                  <a:schemeClr val="tx2"/>
                </a:solidFill>
              </a:rPr>
              <a:t>→ KTT</a:t>
            </a:r>
            <a:endParaRPr lang="en-US" sz="1200" dirty="0"/>
          </a:p>
        </p:txBody>
      </p:sp>
      <p:sp>
        <p:nvSpPr>
          <p:cNvPr id="9" name="Group 1 question"/>
          <p:cNvSpPr txBox="1"/>
          <p:nvPr/>
        </p:nvSpPr>
        <p:spPr>
          <a:xfrm>
            <a:off x="594360" y="3035808"/>
            <a:ext cx="2377440" cy="914400"/>
          </a:xfrm>
          <a:prstGeom prst="rect">
            <a:avLst/>
          </a:prstGeom>
          <a:noFill/>
          <a:ln/>
        </p:spPr>
        <p:txBody>
          <a:bodyPr wrap="square" lIns="0" tIns="0" rIns="0" bIns="0" rtlCol="0" anchor="t"/>
          <a:lstStyle/>
          <a:p>
            <a:pPr indent="0" marL="0">
              <a:buNone/>
            </a:pPr>
            <a:r>
              <a:rPr lang="en-US" sz="1150" i="1" dirty="0">
                <a:solidFill>
                  <a:schemeClr val="tx1"/>
                </a:solidFill>
              </a:rPr>
              <a:t>“Tổng in 480.000₫ lệch tiền hàng + thuế = 495.000₫. A: 495.000₫ — sửa; hay B: 480.000₫ — yêu cầu NCC điều chỉnh?”</a:t>
            </a:r>
            <a:endParaRPr lang="en-US" sz="1150" dirty="0"/>
          </a:p>
        </p:txBody>
      </p:sp>
      <p:sp>
        <p:nvSpPr>
          <p:cNvPr id="10" name="Group card 2"/>
          <p:cNvSpPr/>
          <p:nvPr/>
        </p:nvSpPr>
        <p:spPr>
          <a:xfrm>
            <a:off x="3246120" y="2487168"/>
            <a:ext cx="2651760" cy="1536192"/>
          </a:xfrm>
          <a:prstGeom prst="roundRect">
            <a:avLst>
              <a:gd name="adj" fmla="val 7143"/>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11" name="Group 2 badge"/>
          <p:cNvSpPr/>
          <p:nvPr/>
        </p:nvSpPr>
        <p:spPr>
          <a:xfrm>
            <a:off x="3383280" y="2596896"/>
            <a:ext cx="384048" cy="384048"/>
          </a:xfrm>
          <a:prstGeom prst="ellipse">
            <a:avLst/>
          </a:prstGeom>
          <a:solidFill>
            <a:schemeClr val="accent4"/>
          </a:solidFill>
          <a:ln w="12700">
            <a:solidFill>
              <a:schemeClr val="accent4"/>
            </a:solidFill>
            <a:prstDash val="solid"/>
          </a:ln>
        </p:spPr>
      </p:sp>
      <p:sp>
        <p:nvSpPr>
          <p:cNvPr id="12" name="Group 2 badge text"/>
          <p:cNvSpPr txBox="1"/>
          <p:nvPr/>
        </p:nvSpPr>
        <p:spPr>
          <a:xfrm>
            <a:off x="3383280" y="25968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Group 2 label"/>
          <p:cNvSpPr txBox="1"/>
          <p:nvPr/>
        </p:nvSpPr>
        <p:spPr>
          <a:xfrm>
            <a:off x="3840480" y="2596896"/>
            <a:ext cx="1463040" cy="384048"/>
          </a:xfrm>
          <a:prstGeom prst="rect">
            <a:avLst/>
          </a:prstGeom>
          <a:noFill/>
          <a:ln/>
        </p:spPr>
        <p:txBody>
          <a:bodyPr wrap="square" lIns="0" tIns="0" rIns="0" bIns="0" rtlCol="0" anchor="ctr"/>
          <a:lstStyle/>
          <a:p>
            <a:pPr indent="0" marL="0">
              <a:buNone/>
            </a:pPr>
            <a:r>
              <a:rPr lang="en-US" sz="1400" b="1" dirty="0">
                <a:solidFill>
                  <a:schemeClr val="accent4"/>
                </a:solidFill>
              </a:rPr>
              <a:t>Ngoài quy định</a:t>
            </a:r>
            <a:endParaRPr lang="en-US" sz="1400" dirty="0"/>
          </a:p>
        </p:txBody>
      </p:sp>
      <p:sp>
        <p:nvSpPr>
          <p:cNvPr id="14" name="Group 2 recipient"/>
          <p:cNvSpPr txBox="1"/>
          <p:nvPr/>
        </p:nvSpPr>
        <p:spPr>
          <a:xfrm>
            <a:off x="5212080" y="2596896"/>
            <a:ext cx="548640" cy="384048"/>
          </a:xfrm>
          <a:prstGeom prst="rect">
            <a:avLst/>
          </a:prstGeom>
          <a:noFill/>
          <a:ln/>
        </p:spPr>
        <p:txBody>
          <a:bodyPr wrap="square" lIns="0" tIns="0" rIns="0" bIns="0" rtlCol="0" anchor="ctr"/>
          <a:lstStyle/>
          <a:p>
            <a:pPr algn="r" indent="0" marL="0">
              <a:buNone/>
            </a:pPr>
            <a:r>
              <a:rPr lang="en-US" sz="1200" b="1" dirty="0">
                <a:solidFill>
                  <a:schemeClr val="tx2"/>
                </a:solidFill>
              </a:rPr>
              <a:t>→ KTT</a:t>
            </a:r>
            <a:endParaRPr lang="en-US" sz="1200" dirty="0"/>
          </a:p>
        </p:txBody>
      </p:sp>
      <p:sp>
        <p:nvSpPr>
          <p:cNvPr id="15" name="Group 2 question"/>
          <p:cNvSpPr txBox="1"/>
          <p:nvPr/>
        </p:nvSpPr>
        <p:spPr>
          <a:xfrm>
            <a:off x="3383280" y="3035808"/>
            <a:ext cx="2377440" cy="914400"/>
          </a:xfrm>
          <a:prstGeom prst="rect">
            <a:avLst/>
          </a:prstGeom>
          <a:noFill/>
          <a:ln/>
        </p:spPr>
        <p:txBody>
          <a:bodyPr wrap="square" lIns="0" tIns="0" rIns="0" bIns="0" rtlCol="0" anchor="t"/>
          <a:lstStyle/>
          <a:p>
            <a:pPr indent="0" marL="0">
              <a:buNone/>
            </a:pPr>
            <a:r>
              <a:rPr lang="en-US" sz="1150" i="1" dirty="0">
                <a:solidFill>
                  <a:schemeClr val="tx1"/>
                </a:solidFill>
              </a:rPr>
              <a:t>“Tiếp khách có rượu vang 3.300.000₫. A: Theo quy chế — khấu trừ 300.000₫; hay B: Chi cá nhân — loại 300.000₫ VAT?”</a:t>
            </a:r>
            <a:endParaRPr lang="en-US" sz="1150" dirty="0"/>
          </a:p>
        </p:txBody>
      </p:sp>
      <p:sp>
        <p:nvSpPr>
          <p:cNvPr id="16" name="Group card 3"/>
          <p:cNvSpPr/>
          <p:nvPr/>
        </p:nvSpPr>
        <p:spPr>
          <a:xfrm>
            <a:off x="6035040" y="2487168"/>
            <a:ext cx="2651760" cy="1536192"/>
          </a:xfrm>
          <a:prstGeom prst="roundRect">
            <a:avLst>
              <a:gd name="adj" fmla="val 7143"/>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17" name="Group 3 badge"/>
          <p:cNvSpPr/>
          <p:nvPr/>
        </p:nvSpPr>
        <p:spPr>
          <a:xfrm>
            <a:off x="6172200" y="2596896"/>
            <a:ext cx="384048" cy="384048"/>
          </a:xfrm>
          <a:prstGeom prst="ellipse">
            <a:avLst/>
          </a:prstGeom>
          <a:solidFill>
            <a:schemeClr val="accent5"/>
          </a:solidFill>
          <a:ln w="12700">
            <a:solidFill>
              <a:schemeClr val="accent5"/>
            </a:solidFill>
            <a:prstDash val="solid"/>
          </a:ln>
        </p:spPr>
      </p:sp>
      <p:sp>
        <p:nvSpPr>
          <p:cNvPr id="18" name="Group 3 badge text"/>
          <p:cNvSpPr txBox="1"/>
          <p:nvPr/>
        </p:nvSpPr>
        <p:spPr>
          <a:xfrm>
            <a:off x="6172200" y="25968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9" name="Group 3 label"/>
          <p:cNvSpPr txBox="1"/>
          <p:nvPr/>
        </p:nvSpPr>
        <p:spPr>
          <a:xfrm>
            <a:off x="6629400" y="2596896"/>
            <a:ext cx="1463040" cy="384048"/>
          </a:xfrm>
          <a:prstGeom prst="rect">
            <a:avLst/>
          </a:prstGeom>
          <a:noFill/>
          <a:ln/>
        </p:spPr>
        <p:txBody>
          <a:bodyPr wrap="square" lIns="0" tIns="0" rIns="0" bIns="0" rtlCol="0" anchor="ctr"/>
          <a:lstStyle/>
          <a:p>
            <a:pPr indent="0" marL="0">
              <a:buNone/>
            </a:pPr>
            <a:r>
              <a:rPr lang="en-US" sz="1400" b="1" dirty="0">
                <a:solidFill>
                  <a:schemeClr val="accent5"/>
                </a:solidFill>
              </a:rPr>
              <a:t>Vượt thẩm quyền</a:t>
            </a:r>
            <a:endParaRPr lang="en-US" sz="1400" dirty="0"/>
          </a:p>
        </p:txBody>
      </p:sp>
      <p:sp>
        <p:nvSpPr>
          <p:cNvPr id="20" name="Group 3 recipient"/>
          <p:cNvSpPr txBox="1"/>
          <p:nvPr/>
        </p:nvSpPr>
        <p:spPr>
          <a:xfrm>
            <a:off x="8001000" y="2596896"/>
            <a:ext cx="548640" cy="384048"/>
          </a:xfrm>
          <a:prstGeom prst="rect">
            <a:avLst/>
          </a:prstGeom>
          <a:noFill/>
          <a:ln/>
        </p:spPr>
        <p:txBody>
          <a:bodyPr wrap="square" lIns="0" tIns="0" rIns="0" bIns="0" rtlCol="0" anchor="ctr"/>
          <a:lstStyle/>
          <a:p>
            <a:pPr algn="r" indent="0" marL="0">
              <a:buNone/>
            </a:pPr>
            <a:r>
              <a:rPr lang="en-US" sz="1200" b="1" dirty="0">
                <a:solidFill>
                  <a:schemeClr val="tx2"/>
                </a:solidFill>
              </a:rPr>
              <a:t>→ CFO</a:t>
            </a:r>
            <a:endParaRPr lang="en-US" sz="1200" dirty="0"/>
          </a:p>
        </p:txBody>
      </p:sp>
      <p:sp>
        <p:nvSpPr>
          <p:cNvPr id="21" name="Group 3 question"/>
          <p:cNvSpPr txBox="1"/>
          <p:nvPr/>
        </p:nvSpPr>
        <p:spPr>
          <a:xfrm>
            <a:off x="6172200" y="3035808"/>
            <a:ext cx="2377440" cy="914400"/>
          </a:xfrm>
          <a:prstGeom prst="rect">
            <a:avLst/>
          </a:prstGeom>
          <a:noFill/>
          <a:ln/>
        </p:spPr>
        <p:txBody>
          <a:bodyPr wrap="square" lIns="0" tIns="0" rIns="0" bIns="0" rtlCol="0" anchor="t"/>
          <a:lstStyle/>
          <a:p>
            <a:pPr indent="0" marL="0">
              <a:buNone/>
            </a:pPr>
            <a:r>
              <a:rPr lang="en-US" sz="1150" i="1" dirty="0">
                <a:solidFill>
                  <a:schemeClr val="tx1"/>
                </a:solidFill>
              </a:rPr>
              <a:t>“330.000.000₫ ≥ hạn mức KTT 200.000.000₫. A: CFO duyệt, khấu trừ 30.000.000₫; hay B: Tạm dừng thẩm tra hợp đồng?”</a:t>
            </a:r>
            <a:endParaRPr lang="en-US" sz="1150" dirty="0"/>
          </a:p>
        </p:txBody>
      </p:sp>
      <p:sp>
        <p:nvSpPr>
          <p:cNvPr id="22" name="Human decision line"/>
          <p:cNvSpPr txBox="1"/>
          <p:nvPr/>
        </p:nvSpPr>
        <p:spPr>
          <a:xfrm>
            <a:off x="457200" y="4187952"/>
            <a:ext cx="8229600" cy="457200"/>
          </a:xfrm>
          <a:prstGeom prst="rect">
            <a:avLst/>
          </a:prstGeom>
          <a:noFill/>
          <a:ln/>
        </p:spPr>
        <p:txBody>
          <a:bodyPr wrap="square" lIns="0" tIns="0" rIns="0" bIns="0" rtlCol="0" anchor="ctr"/>
          <a:lstStyle/>
          <a:p>
            <a:pPr indent="0" marL="0">
              <a:buNone/>
            </a:pPr>
            <a:r>
              <a:rPr lang="en-US" sz="1300" b="1" dirty="0">
                <a:solidFill>
                  <a:schemeClr val="accent1"/>
                </a:solidFill>
              </a:rPr>
              <a:t>Con người quyết định: </a:t>
            </a:r>
            <a:pPr indent="0" marL="0">
              <a:buNone/>
            </a:pPr>
            <a:r>
              <a:rPr lang="en-US" sz="1300" dirty="0">
                <a:solidFill>
                  <a:schemeClr val="tx1"/>
                </a:solidFill>
              </a:rPr>
              <a:t>xác nhận dữ kiện máy không chắc · chấp nhận hoặc loại khoản ngoài quy định · phê duyệt khoản vượt quyền. AI chỉ đọc ảnh; không phân loại, không quyết thuế.</a:t>
            </a:r>
            <a:endParaRPr lang="en-US" sz="13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Tác động: đo trước/sau có phương pháp</a:t>
            </a:r>
            <a:endParaRPr lang="en-US" sz="3000" dirty="0"/>
          </a:p>
        </p:txBody>
      </p:sp>
      <p:sp>
        <p:nvSpPr>
          <p:cNvPr id="3" name="Stats caption"/>
          <p:cNvSpPr txBox="1"/>
          <p:nvPr/>
        </p:nvSpPr>
        <p:spPr>
          <a:xfrm>
            <a:off x="457200" y="1005840"/>
            <a:ext cx="4937760" cy="274320"/>
          </a:xfrm>
          <a:prstGeom prst="rect">
            <a:avLst/>
          </a:prstGeom>
          <a:noFill/>
          <a:ln/>
        </p:spPr>
        <p:txBody>
          <a:bodyPr wrap="square" lIns="0" tIns="0" rIns="0" bIns="0" rtlCol="0" anchor="ctr"/>
          <a:lstStyle/>
          <a:p>
            <a:pPr indent="0" marL="0">
              <a:buNone/>
            </a:pPr>
            <a:r>
              <a:rPr lang="en-US" sz="1200" b="1" dirty="0">
                <a:solidFill>
                  <a:schemeClr val="tx2"/>
                </a:solidFill>
              </a:rPr>
              <a:t>11 ca diễn tập kiểu giám khảo · bản 13/10 → bản 15/10</a:t>
            </a:r>
            <a:endParaRPr lang="en-US" sz="1200" dirty="0"/>
          </a:p>
        </p:txBody>
      </p:sp>
      <p:sp>
        <p:nvSpPr>
          <p:cNvPr id="4" name="Stat 1"/>
          <p:cNvSpPr/>
          <p:nvPr/>
        </p:nvSpPr>
        <p:spPr>
          <a:xfrm>
            <a:off x="457200" y="1371600"/>
            <a:ext cx="2377440" cy="1234440"/>
          </a:xfrm>
          <a:prstGeom prst="roundRect">
            <a:avLst>
              <a:gd name="adj" fmla="val 8889"/>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5" name="Stat 1 value"/>
          <p:cNvSpPr txBox="1"/>
          <p:nvPr/>
        </p:nvSpPr>
        <p:spPr>
          <a:xfrm>
            <a:off x="594360" y="1463040"/>
            <a:ext cx="2103120" cy="548640"/>
          </a:xfrm>
          <a:prstGeom prst="rect">
            <a:avLst/>
          </a:prstGeom>
          <a:noFill/>
          <a:ln/>
        </p:spPr>
        <p:txBody>
          <a:bodyPr wrap="square" lIns="0" tIns="0" rIns="0" bIns="0" rtlCol="0" anchor="ctr"/>
          <a:lstStyle/>
          <a:p>
            <a:pPr indent="0" marL="0">
              <a:buNone/>
            </a:pPr>
            <a:r>
              <a:rPr lang="en-US" sz="1600" dirty="0">
                <a:solidFill>
                  <a:schemeClr val="tx2"/>
                </a:solidFill>
              </a:rPr>
              <a:t>3/11</a:t>
            </a:r>
            <a:pPr indent="0" marL="0">
              <a:buNone/>
            </a:pPr>
            <a:r>
              <a:rPr lang="en-US" sz="1600" dirty="0">
                <a:solidFill>
                  <a:schemeClr val="tx2"/>
                </a:solidFill>
              </a:rPr>
              <a:t>  →  </a:t>
            </a:r>
            <a:pPr indent="0" marL="0">
              <a:buNone/>
            </a:pPr>
            <a:r>
              <a:rPr lang="en-US" sz="3000" b="1" dirty="0">
                <a:solidFill>
                  <a:schemeClr val="accent1"/>
                </a:solidFill>
              </a:rPr>
              <a:t>11/11</a:t>
            </a:r>
            <a:endParaRPr lang="en-US" sz="1600" dirty="0"/>
          </a:p>
        </p:txBody>
      </p:sp>
      <p:sp>
        <p:nvSpPr>
          <p:cNvPr id="6" name="Stat 1 label"/>
          <p:cNvSpPr txBox="1"/>
          <p:nvPr/>
        </p:nvSpPr>
        <p:spPr>
          <a:xfrm>
            <a:off x="594360" y="2029968"/>
            <a:ext cx="2103120" cy="502920"/>
          </a:xfrm>
          <a:prstGeom prst="rect">
            <a:avLst/>
          </a:prstGeom>
          <a:noFill/>
          <a:ln/>
        </p:spPr>
        <p:txBody>
          <a:bodyPr wrap="square" lIns="0" tIns="0" rIns="0" bIns="0" rtlCol="0" anchor="t"/>
          <a:lstStyle/>
          <a:p>
            <a:pPr indent="0" marL="0">
              <a:buNone/>
            </a:pPr>
            <a:r>
              <a:rPr lang="en-US" sz="1200" dirty="0">
                <a:solidFill>
                  <a:schemeClr val="tx1"/>
                </a:solidFill>
              </a:rPr>
              <a:t>ca xử lý đúng trạng thái và nhóm dừng</a:t>
            </a:r>
            <a:endParaRPr lang="en-US" sz="1200" dirty="0"/>
          </a:p>
        </p:txBody>
      </p:sp>
      <p:sp>
        <p:nvSpPr>
          <p:cNvPr id="7" name="Stat 2"/>
          <p:cNvSpPr/>
          <p:nvPr/>
        </p:nvSpPr>
        <p:spPr>
          <a:xfrm>
            <a:off x="2971800" y="1371600"/>
            <a:ext cx="2377440" cy="1234440"/>
          </a:xfrm>
          <a:prstGeom prst="roundRect">
            <a:avLst>
              <a:gd name="adj" fmla="val 8889"/>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8" name="Stat 2 value"/>
          <p:cNvSpPr txBox="1"/>
          <p:nvPr/>
        </p:nvSpPr>
        <p:spPr>
          <a:xfrm>
            <a:off x="3108960" y="1463040"/>
            <a:ext cx="2103120" cy="548640"/>
          </a:xfrm>
          <a:prstGeom prst="rect">
            <a:avLst/>
          </a:prstGeom>
          <a:noFill/>
          <a:ln/>
        </p:spPr>
        <p:txBody>
          <a:bodyPr wrap="square" lIns="0" tIns="0" rIns="0" bIns="0" rtlCol="0" anchor="ctr"/>
          <a:lstStyle/>
          <a:p>
            <a:pPr indent="0" marL="0">
              <a:buNone/>
            </a:pPr>
            <a:r>
              <a:rPr lang="en-US" sz="1600" dirty="0">
                <a:solidFill>
                  <a:schemeClr val="tx2"/>
                </a:solidFill>
              </a:rPr>
              <a:t>3/3</a:t>
            </a:r>
            <a:pPr indent="0" marL="0">
              <a:buNone/>
            </a:pPr>
            <a:r>
              <a:rPr lang="en-US" sz="1600" dirty="0">
                <a:solidFill>
                  <a:schemeClr val="tx2"/>
                </a:solidFill>
              </a:rPr>
              <a:t>  →  </a:t>
            </a:r>
            <a:pPr indent="0" marL="0">
              <a:buNone/>
            </a:pPr>
            <a:r>
              <a:rPr lang="en-US" sz="3000" b="1" dirty="0">
                <a:solidFill>
                  <a:schemeClr val="accent1"/>
                </a:solidFill>
              </a:rPr>
              <a:t>0/3</a:t>
            </a:r>
            <a:endParaRPr lang="en-US" sz="1600" dirty="0"/>
          </a:p>
        </p:txBody>
      </p:sp>
      <p:sp>
        <p:nvSpPr>
          <p:cNvPr id="9" name="Stat 2 label"/>
          <p:cNvSpPr txBox="1"/>
          <p:nvPr/>
        </p:nvSpPr>
        <p:spPr>
          <a:xfrm>
            <a:off x="3108960" y="2029968"/>
            <a:ext cx="2103120" cy="502920"/>
          </a:xfrm>
          <a:prstGeom prst="rect">
            <a:avLst/>
          </a:prstGeom>
          <a:noFill/>
          <a:ln/>
        </p:spPr>
        <p:txBody>
          <a:bodyPr wrap="square" lIns="0" tIns="0" rIns="0" bIns="0" rtlCol="0" anchor="t"/>
          <a:lstStyle/>
          <a:p>
            <a:pPr indent="0" marL="0">
              <a:buNone/>
            </a:pPr>
            <a:r>
              <a:rPr lang="en-US" sz="1200" dirty="0">
                <a:solidFill>
                  <a:schemeClr val="tx1"/>
                </a:solidFill>
              </a:rPr>
              <a:t>ca thường quy bị hỏi thừa (càng thấp càng tốt)</a:t>
            </a:r>
            <a:endParaRPr lang="en-US" sz="1200" dirty="0"/>
          </a:p>
        </p:txBody>
      </p:sp>
      <p:sp>
        <p:nvSpPr>
          <p:cNvPr id="10" name="Stat 3"/>
          <p:cNvSpPr/>
          <p:nvPr/>
        </p:nvSpPr>
        <p:spPr>
          <a:xfrm>
            <a:off x="457200" y="2743200"/>
            <a:ext cx="2377440" cy="1234440"/>
          </a:xfrm>
          <a:prstGeom prst="roundRect">
            <a:avLst>
              <a:gd name="adj" fmla="val 8889"/>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11" name="Stat 3 value"/>
          <p:cNvSpPr txBox="1"/>
          <p:nvPr/>
        </p:nvSpPr>
        <p:spPr>
          <a:xfrm>
            <a:off x="594360" y="2834640"/>
            <a:ext cx="2103120" cy="548640"/>
          </a:xfrm>
          <a:prstGeom prst="rect">
            <a:avLst/>
          </a:prstGeom>
          <a:noFill/>
          <a:ln/>
        </p:spPr>
        <p:txBody>
          <a:bodyPr wrap="square" lIns="0" tIns="0" rIns="0" bIns="0" rtlCol="0" anchor="ctr"/>
          <a:lstStyle/>
          <a:p>
            <a:pPr indent="0" marL="0">
              <a:buNone/>
            </a:pPr>
            <a:r>
              <a:rPr lang="en-US" sz="1600" dirty="0">
                <a:solidFill>
                  <a:schemeClr val="tx2"/>
                </a:solidFill>
              </a:rPr>
              <a:t>4/8</a:t>
            </a:r>
            <a:pPr indent="0" marL="0">
              <a:buNone/>
            </a:pPr>
            <a:r>
              <a:rPr lang="en-US" sz="1600" dirty="0">
                <a:solidFill>
                  <a:schemeClr val="tx2"/>
                </a:solidFill>
              </a:rPr>
              <a:t>  →  </a:t>
            </a:r>
            <a:pPr indent="0" marL="0">
              <a:buNone/>
            </a:pPr>
            <a:r>
              <a:rPr lang="en-US" sz="3000" b="1" dirty="0">
                <a:solidFill>
                  <a:schemeClr val="accent1"/>
                </a:solidFill>
              </a:rPr>
              <a:t>0/8</a:t>
            </a:r>
            <a:endParaRPr lang="en-US" sz="1600" dirty="0"/>
          </a:p>
        </p:txBody>
      </p:sp>
      <p:sp>
        <p:nvSpPr>
          <p:cNvPr id="12" name="Stat 3 label"/>
          <p:cNvSpPr txBox="1"/>
          <p:nvPr/>
        </p:nvSpPr>
        <p:spPr>
          <a:xfrm>
            <a:off x="594360" y="3401568"/>
            <a:ext cx="2103120" cy="502920"/>
          </a:xfrm>
          <a:prstGeom prst="rect">
            <a:avLst/>
          </a:prstGeom>
          <a:noFill/>
          <a:ln/>
        </p:spPr>
        <p:txBody>
          <a:bodyPr wrap="square" lIns="0" tIns="0" rIns="0" bIns="0" rtlCol="0" anchor="t"/>
          <a:lstStyle/>
          <a:p>
            <a:pPr indent="0" marL="0">
              <a:buNone/>
            </a:pPr>
            <a:r>
              <a:rPr lang="en-US" sz="1200" dirty="0">
                <a:solidFill>
                  <a:schemeClr val="tx1"/>
                </a:solidFill>
              </a:rPr>
              <a:t>ca chuyển tiếp sai nhóm dừng</a:t>
            </a:r>
            <a:endParaRPr lang="en-US" sz="1200" dirty="0"/>
          </a:p>
        </p:txBody>
      </p:sp>
      <p:sp>
        <p:nvSpPr>
          <p:cNvPr id="13" name="Stat 4"/>
          <p:cNvSpPr/>
          <p:nvPr/>
        </p:nvSpPr>
        <p:spPr>
          <a:xfrm>
            <a:off x="2971800" y="2743200"/>
            <a:ext cx="2377440" cy="1234440"/>
          </a:xfrm>
          <a:prstGeom prst="roundRect">
            <a:avLst>
              <a:gd name="adj" fmla="val 8889"/>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14" name="Stat 4 value"/>
          <p:cNvSpPr txBox="1"/>
          <p:nvPr/>
        </p:nvSpPr>
        <p:spPr>
          <a:xfrm>
            <a:off x="3108960" y="2834640"/>
            <a:ext cx="2103120" cy="548640"/>
          </a:xfrm>
          <a:prstGeom prst="rect">
            <a:avLst/>
          </a:prstGeom>
          <a:noFill/>
          <a:ln/>
        </p:spPr>
        <p:txBody>
          <a:bodyPr wrap="square" lIns="0" tIns="0" rIns="0" bIns="0" rtlCol="0" anchor="ctr"/>
          <a:lstStyle/>
          <a:p>
            <a:pPr indent="0" marL="0">
              <a:buNone/>
            </a:pPr>
            <a:r>
              <a:rPr lang="en-US" sz="1600" dirty="0">
                <a:solidFill>
                  <a:schemeClr val="tx2"/>
                </a:solidFill>
              </a:rPr>
              <a:t>1/10</a:t>
            </a:r>
            <a:pPr indent="0" marL="0">
              <a:buNone/>
            </a:pPr>
            <a:r>
              <a:rPr lang="en-US" sz="1600" dirty="0">
                <a:solidFill>
                  <a:schemeClr val="tx2"/>
                </a:solidFill>
              </a:rPr>
              <a:t>  →  </a:t>
            </a:r>
            <a:pPr indent="0" marL="0">
              <a:buNone/>
            </a:pPr>
            <a:r>
              <a:rPr lang="en-US" sz="3000" b="1" dirty="0">
                <a:solidFill>
                  <a:schemeClr val="accent1"/>
                </a:solidFill>
              </a:rPr>
              <a:t>8/8</a:t>
            </a:r>
            <a:endParaRPr lang="en-US" sz="1600" dirty="0"/>
          </a:p>
        </p:txBody>
      </p:sp>
      <p:sp>
        <p:nvSpPr>
          <p:cNvPr id="15" name="Stat 4 label"/>
          <p:cNvSpPr txBox="1"/>
          <p:nvPr/>
        </p:nvSpPr>
        <p:spPr>
          <a:xfrm>
            <a:off x="3108960" y="3401568"/>
            <a:ext cx="2103120" cy="502920"/>
          </a:xfrm>
          <a:prstGeom prst="rect">
            <a:avLst/>
          </a:prstGeom>
          <a:noFill/>
          <a:ln/>
        </p:spPr>
        <p:txBody>
          <a:bodyPr wrap="square" lIns="0" tIns="0" rIns="0" bIns="0" rtlCol="0" anchor="t"/>
          <a:lstStyle/>
          <a:p>
            <a:pPr indent="0" marL="0">
              <a:buNone/>
            </a:pPr>
            <a:r>
              <a:rPr lang="en-US" sz="1200" dirty="0">
                <a:solidFill>
                  <a:schemeClr val="tx1"/>
                </a:solidFill>
              </a:rPr>
              <a:t>câu hỏi có số ₫, không đòi chứng từ gốc (kiểm tự động)</a:t>
            </a:r>
            <a:endParaRPr lang="en-US" sz="1200" dirty="0"/>
          </a:p>
        </p:txBody>
      </p:sp>
      <p:sp>
        <p:nvSpPr>
          <p:cNvPr id="16" name="Method card"/>
          <p:cNvSpPr/>
          <p:nvPr/>
        </p:nvSpPr>
        <p:spPr>
          <a:xfrm>
            <a:off x="5623560" y="1005840"/>
            <a:ext cx="3063240" cy="1691640"/>
          </a:xfrm>
          <a:prstGeom prst="roundRect">
            <a:avLst>
              <a:gd name="adj" fmla="val 6486"/>
            </a:avLst>
          </a:prstGeom>
          <a:solidFill>
            <a:schemeClr val="bg2"/>
          </a:solidFill>
          <a:ln w="12700">
            <a:solidFill>
              <a:schemeClr val="bg2"/>
            </a:solidFill>
            <a:prstDash val="solid"/>
          </a:ln>
          <a:effectLst>
            <a:outerShdw sx="100000" sy="100000" kx="0" ky="0" algn="bl" rotWithShape="0" blurRad="76200" dist="25400" dir="5400000">
              <a:srgbClr val="94A3B8">
                <a:alpha val="25000"/>
              </a:srgbClr>
            </a:outerShdw>
          </a:effectLst>
        </p:spPr>
      </p:sp>
      <p:sp>
        <p:nvSpPr>
          <p:cNvPr id="17" name="Method text"/>
          <p:cNvSpPr txBox="1"/>
          <p:nvPr/>
        </p:nvSpPr>
        <p:spPr>
          <a:xfrm>
            <a:off x="5760720" y="1078992"/>
            <a:ext cx="2834640" cy="1554480"/>
          </a:xfrm>
          <a:prstGeom prst="rect">
            <a:avLst/>
          </a:prstGeom>
          <a:noFill/>
          <a:ln/>
        </p:spPr>
        <p:txBody>
          <a:bodyPr wrap="square" lIns="0" tIns="0" rIns="0" bIns="0" rtlCol="0" anchor="t"/>
          <a:lstStyle/>
          <a:p>
            <a:pPr indent="0" marL="0">
              <a:spcAft>
                <a:spcPts val="300"/>
              </a:spcAft>
              <a:buNone/>
            </a:pPr>
            <a:r>
              <a:rPr lang="en-US" sz="1200" b="1" dirty="0">
                <a:solidFill>
                  <a:schemeClr val="accent1"/>
                </a:solidFill>
              </a:rPr>
              <a:t>Phương pháp</a:t>
            </a:r>
            <a:endParaRPr lang="en-US" sz="1200" dirty="0"/>
          </a:p>
          <a:p>
            <a:pPr marL="177800" indent="-177800">
              <a:spcAft>
                <a:spcPts val="300"/>
              </a:spcAft>
              <a:buSzPct val="100000"/>
              <a:buChar char="•"/>
            </a:pPr>
            <a:r>
              <a:rPr lang="en-US" sz="1200" dirty="0">
                <a:solidFill>
                  <a:schemeClr val="tx1"/>
                </a:solidFill>
              </a:rPr>
              <a:t>11 ca, 2 bản mã, DB tạm, không gọi AI</a:t>
            </a:r>
            <a:endParaRPr lang="en-US" sz="1200" dirty="0"/>
          </a:p>
          <a:p>
            <a:pPr marL="177800" indent="-177800">
              <a:spcAft>
                <a:spcPts val="300"/>
              </a:spcAft>
              <a:buSzPct val="100000"/>
              <a:buChar char="•"/>
            </a:pPr>
            <a:r>
              <a:rPr lang="en-US" sz="1200" dirty="0">
                <a:solidFill>
                  <a:schemeClr val="tx1"/>
                </a:solidFill>
              </a:rPr>
              <a:t>72 ca bẫy agent viết từ SOP: 66 → 72/72</a:t>
            </a:r>
            <a:endParaRPr lang="en-US" sz="1200" dirty="0"/>
          </a:p>
          <a:p>
            <a:pPr marL="177800" indent="-177800">
              <a:spcAft>
                <a:spcPts val="300"/>
              </a:spcAft>
              <a:buSzPct val="100000"/>
              <a:buChar char="•"/>
            </a:pPr>
            <a:r>
              <a:rPr lang="en-US" sz="1200" dirty="0">
                <a:solidFill>
                  <a:schemeClr val="tx1"/>
                </a:solidFill>
              </a:rPr>
              <a:t>Giới hạn: ca do đội/AI viết — chưa phải đánh giá độc lập</a:t>
            </a:r>
            <a:endParaRPr lang="en-US" sz="1200" dirty="0"/>
          </a:p>
        </p:txBody>
      </p:sp>
      <p:sp>
        <p:nvSpPr>
          <p:cNvPr id="18" name="User study slot"/>
          <p:cNvSpPr/>
          <p:nvPr/>
        </p:nvSpPr>
        <p:spPr>
          <a:xfrm>
            <a:off x="5623560" y="2834640"/>
            <a:ext cx="3063240" cy="1188720"/>
          </a:xfrm>
          <a:prstGeom prst="roundRect">
            <a:avLst>
              <a:gd name="adj" fmla="val 6154"/>
            </a:avLst>
          </a:prstGeom>
          <a:solidFill>
            <a:schemeClr val="bg1"/>
          </a:solidFill>
          <a:ln w="15875">
            <a:solidFill>
              <a:schemeClr val="accent1"/>
            </a:solidFill>
            <a:prstDash val="dash"/>
          </a:ln>
        </p:spPr>
      </p:sp>
      <p:sp>
        <p:nvSpPr>
          <p:cNvPr id="19" name="User study slot text"/>
          <p:cNvSpPr txBox="1"/>
          <p:nvPr/>
        </p:nvSpPr>
        <p:spPr>
          <a:xfrm>
            <a:off x="5733288" y="2889504"/>
            <a:ext cx="2843784" cy="1078992"/>
          </a:xfrm>
          <a:prstGeom prst="rect">
            <a:avLst/>
          </a:prstGeom>
          <a:noFill/>
          <a:ln/>
        </p:spPr>
        <p:txBody>
          <a:bodyPr wrap="square" lIns="0" tIns="0" rIns="0" bIns="0" rtlCol="0" anchor="ctr"/>
          <a:lstStyle/>
          <a:p>
            <a:pPr indent="0" marL="0">
              <a:buNone/>
            </a:pPr>
            <a:r>
              <a:rPr lang="en-US" sz="1100" i="1" dirty="0">
                <a:solidFill>
                  <a:schemeClr val="tx2"/>
                </a:solidFill>
              </a:rPr>
              <a:t>[Cập nhật 16/10 — 3 người dùng BTC] Đồng thuận người–máy __/15 · bỏ sót / hỏi thừa theo nhãn người dùng · điểm “trả lời ngay” __/5 · ca kiểm tra tin máy quá mức __/3. Nguồn: scripts/qa/evaluate-user-study.ts</a:t>
            </a:r>
            <a:endParaRPr lang="en-US" sz="1100" dirty="0"/>
          </a:p>
        </p:txBody>
      </p:sp>
      <p:sp>
        <p:nvSpPr>
          <p:cNvPr id="20" name="Valuation line"/>
          <p:cNvSpPr txBox="1"/>
          <p:nvPr/>
        </p:nvSpPr>
        <p:spPr>
          <a:xfrm>
            <a:off x="457200" y="4160520"/>
            <a:ext cx="8229600" cy="457200"/>
          </a:xfrm>
          <a:prstGeom prst="rect">
            <a:avLst/>
          </a:prstGeom>
          <a:noFill/>
          <a:ln/>
        </p:spPr>
        <p:txBody>
          <a:bodyPr wrap="square" lIns="0" tIns="0" rIns="0" bIns="0" rtlCol="0" anchor="ctr"/>
          <a:lstStyle/>
          <a:p>
            <a:pPr indent="0" marL="0">
              <a:buNone/>
            </a:pPr>
            <a:r>
              <a:rPr lang="en-US" sz="1300" b="1" dirty="0">
                <a:solidFill>
                  <a:schemeClr val="accent1"/>
                </a:solidFill>
              </a:rPr>
              <a:t>Định giá: </a:t>
            </a:r>
            <a:pPr indent="0" marL="0">
              <a:buNone/>
            </a:pPr>
            <a:r>
              <a:rPr lang="en-US" sz="1300" dirty="0">
                <a:solidFill>
                  <a:schemeClr val="tx1"/>
                </a:solidFill>
              </a:rPr>
              <a:t>VAT đầu vào được bảo vệ + tiền phạt tránh được, không phải giờ công. Mỗi câu hỏi hiện “VAT chờ quyết định”.</a:t>
            </a:r>
            <a:endParaRPr lang="en-US" sz="13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Kiến trúc &amp; công nghệ: thật và giả lập</a:t>
            </a:r>
            <a:endParaRPr lang="en-US" sz="3000" dirty="0"/>
          </a:p>
        </p:txBody>
      </p:sp>
      <p:pic>
        <p:nvPicPr>
          <p:cNvPr id="3" name="Architecture diagram" descr="D:/TAX_MLAI/docs/diagrams/s3-architecture-slide.png">    </p:cNvPr>
          <p:cNvPicPr>
            <a:picLocks noChangeAspect="1"/>
          </p:cNvPicPr>
          <p:nvPr/>
        </p:nvPicPr>
        <p:blipFill>
          <a:blip r:embed="rId1"/>
          <a:stretch>
            <a:fillRect/>
          </a:stretch>
        </p:blipFill>
        <p:spPr>
          <a:xfrm>
            <a:off x="365760" y="1143000"/>
            <a:ext cx="3977640" cy="2482448"/>
          </a:xfrm>
          <a:prstGeom prst="rect">
            <a:avLst/>
          </a:prstGeom>
        </p:spPr>
      </p:pic>
      <p:graphicFrame>
        <p:nvGraphicFramePr>
          <p:cNvPr id="5" name="Tech stack table"/>
          <p:cNvGraphicFramePr>
            <a:graphicFrameLocks noGrp="1"/>
          </p:cNvGraphicFramePr>
          <p:nvPr>
            <p:extLst>
              <p:ext uri="{D42A27DB-BD31-4B8C-83A1-F6EECF244321}">
                <p14:modId xmlns:p14="http://schemas.microsoft.com/office/powerpoint/2010/main" val="1579011935"/>
              </p:ext>
            </p:extLst>
          </p:nvPr>
        </p:nvGraphicFramePr>
        <p:xfrm>
          <a:off x="4526280" y="1005840"/>
          <a:ext cx="4160520" cy="914400"/>
        </p:xfrm>
        <a:graphic>
          <a:graphicData uri="http://schemas.openxmlformats.org/drawingml/2006/table">
            <a:tbl>
              <a:tblPr/>
              <a:tblGrid>
                <a:gridCol w="1188720"/>
                <a:gridCol w="2377440"/>
                <a:gridCol w="594360"/>
              </a:tblGrid>
              <a:tr h="301752">
                <a:tc>
                  <a:txBody>
                    <a:bodyPr/>
                    <a:lstStyle/>
                    <a:p>
                      <a:pPr indent="0" marL="0">
                        <a:buNone/>
                      </a:pPr>
                      <a:r>
                        <a:rPr lang="en-US" sz="1050" b="1" dirty="0">
                          <a:solidFill>
                            <a:schemeClr val="bg1"/>
                          </a:solidFill>
                        </a:rPr>
                        <a:t>Tầng</a:t>
                      </a:r>
                      <a:endParaRPr lang="en-US" sz="1050" dirty="0"/>
                    </a:p>
                  </a:txBody>
                  <a:tcPr marL="36576" marR="36576" marT="36576" marB="36576" anchor="ctr">
                    <a:lnL w="7620" cap="flat" cmpd="sng" algn="ctr">
                      <a:solidFill>
                        <a:srgbClr val="CBD5E1"/>
                      </a:solidFill>
                      <a:prstDash val="solid"/>
                      <a:round/>
                      <a:headEnd type="none" w="med" len="med"/>
                      <a:tailEnd type="none" w="med" len="med"/>
                    </a:lnL>
                    <a:lnR w="7620" cap="flat" cmpd="sng" algn="ctr">
                      <a:solidFill>
                        <a:srgbClr val="CBD5E1"/>
                      </a:solidFill>
                      <a:prstDash val="solid"/>
                      <a:round/>
                      <a:headEnd type="none" w="med" len="med"/>
                      <a:tailEnd type="none" w="med" len="med"/>
                    </a:lnR>
                    <a:lnT w="7620" cap="flat" cmpd="sng" algn="ctr">
                      <a:solidFill>
                        <a:srgbClr val="CBD5E1"/>
                      </a:solidFill>
                      <a:prstDash val="solid"/>
                      <a:round/>
                      <a:headEnd type="none" w="med" len="med"/>
                      <a:tailEnd type="none" w="med" len="med"/>
                    </a:lnT>
                    <a:lnB w="7620" cap="flat" cmpd="sng" algn="ctr">
                      <a:solidFill>
                        <a:srgbClr val="CBD5E1"/>
                      </a:solidFill>
                      <a:prstDash val="solid"/>
                      <a:round/>
                      <a:headEnd type="none" w="med" len="med"/>
                      <a:tailEnd type="none" w="med" len="med"/>
                    </a:lnB>
                    <a:solidFill>
                      <a:schemeClr val="tx1"/>
                    </a:solidFill>
                  </a:tcPr>
                </a:tc>
                <a:tc>
                  <a:txBody>
                    <a:bodyPr/>
                    <a:lstStyle/>
                    <a:p>
                      <a:pPr indent="0" marL="0">
                        <a:buNone/>
                      </a:pPr>
                      <a:r>
                        <a:rPr lang="en-US" sz="1050" b="1" dirty="0">
                          <a:solidFill>
                            <a:schemeClr val="bg1"/>
                          </a:solidFill>
                        </a:rPr>
                        <a:t>Công nghệ</a:t>
                      </a:r>
                      <a:endParaRPr lang="en-US" sz="1050" dirty="0"/>
                    </a:p>
                  </a:txBody>
                  <a:tcPr marL="36576" marR="36576" marT="36576" marB="36576" anchor="ctr">
                    <a:lnL w="7620" cap="flat" cmpd="sng" algn="ctr">
                      <a:solidFill>
                        <a:srgbClr val="CBD5E1"/>
                      </a:solidFill>
                      <a:prstDash val="solid"/>
                      <a:round/>
                      <a:headEnd type="none" w="med" len="med"/>
                      <a:tailEnd type="none" w="med" len="med"/>
                    </a:lnL>
                    <a:lnR w="7620" cap="flat" cmpd="sng" algn="ctr">
                      <a:solidFill>
                        <a:srgbClr val="CBD5E1"/>
                      </a:solidFill>
                      <a:prstDash val="solid"/>
                      <a:round/>
                      <a:headEnd type="none" w="med" len="med"/>
                      <a:tailEnd type="none" w="med" len="med"/>
                    </a:lnR>
                    <a:lnT w="7620" cap="flat" cmpd="sng" algn="ctr">
                      <a:solidFill>
                        <a:srgbClr val="CBD5E1"/>
                      </a:solidFill>
                      <a:prstDash val="solid"/>
                      <a:round/>
                      <a:headEnd type="none" w="med" len="med"/>
                      <a:tailEnd type="none" w="med" len="med"/>
                    </a:lnT>
                    <a:lnB w="7620" cap="flat" cmpd="sng" algn="ctr">
                      <a:solidFill>
                        <a:srgbClr val="CBD5E1"/>
                      </a:solidFill>
                      <a:prstDash val="solid"/>
                      <a:round/>
                      <a:headEnd type="none" w="med" len="med"/>
                      <a:tailEnd type="none" w="med" len="med"/>
                    </a:lnB>
                    <a:solidFill>
                      <a:schemeClr val="tx1"/>
                    </a:solidFill>
                  </a:tcPr>
                </a:tc>
                <a:tc>
                  <a:txBody>
                    <a:bodyPr/>
                    <a:lstStyle/>
                    <a:p>
                      <a:pPr indent="0" marL="0">
                        <a:buNone/>
                      </a:pPr>
                      <a:endParaRPr lang="en-US" sz="1050" dirty="0"/>
                    </a:p>
                  </a:txBody>
                  <a:tcPr marL="36576" marR="36576" marT="36576" marB="36576" anchor="ctr">
                    <a:lnL w="7620" cap="flat" cmpd="sng" algn="ctr">
                      <a:solidFill>
                        <a:srgbClr val="CBD5E1"/>
                      </a:solidFill>
                      <a:prstDash val="solid"/>
                      <a:round/>
                      <a:headEnd type="none" w="med" len="med"/>
                      <a:tailEnd type="none" w="med" len="med"/>
                    </a:lnL>
                    <a:lnR w="7620" cap="flat" cmpd="sng" algn="ctr">
                      <a:solidFill>
                        <a:srgbClr val="CBD5E1"/>
                      </a:solidFill>
                      <a:prstDash val="solid"/>
                      <a:round/>
                      <a:headEnd type="none" w="med" len="med"/>
                      <a:tailEnd type="none" w="med" len="med"/>
                    </a:lnR>
                    <a:lnT w="7620" cap="flat" cmpd="sng" algn="ctr">
                      <a:solidFill>
                        <a:srgbClr val="CBD5E1"/>
                      </a:solidFill>
                      <a:prstDash val="solid"/>
                      <a:round/>
                      <a:headEnd type="none" w="med" len="med"/>
                      <a:tailEnd type="none" w="med" len="med"/>
                    </a:lnT>
                    <a:lnB w="7620" cap="flat" cmpd="sng" algn="ctr">
                      <a:solidFill>
                        <a:srgbClr val="CBD5E1"/>
                      </a:solidFill>
                      <a:prstDash val="solid"/>
                      <a:round/>
                      <a:headEnd type="none" w="med" len="med"/>
                      <a:tailEnd type="none" w="med" len="med"/>
                    </a:lnB>
                    <a:solidFill>
                      <a:schemeClr val="tx1"/>
                    </a:solidFill>
                  </a:tcPr>
                </a:tc>
              </a:tr>
              <a:tr h="301752">
                <a:tc>
                  <a:txBody>
                    <a:bodyPr/>
                    <a:lstStyle/>
                    <a:p>
                      <a:pPr indent="0" marL="0">
                        <a:buNone/>
                      </a:pPr>
                      <a:r>
                        <a:rPr lang="en-US" sz="900" b="1" dirty="0">
                          <a:solidFill>
                            <a:schemeClr val="tx1"/>
                          </a:solidFill>
                        </a:rPr>
                        <a:t>Giao diện</a:t>
                      </a:r>
                      <a:endParaRPr lang="en-US" sz="900" dirty="0"/>
                    </a:p>
                  </a:txBody>
                  <a:tcPr marL="36576" marR="36576" marT="36576" marB="36576" anchor="ctr">
                    <a:lnL w="7620" cap="flat" cmpd="sng" algn="ctr">
                      <a:solidFill>
                        <a:srgbClr val="CBD5E1"/>
                      </a:solidFill>
                      <a:prstDash val="solid"/>
                      <a:round/>
                      <a:headEnd type="none" w="med" len="med"/>
                      <a:tailEnd type="none" w="med" len="med"/>
                    </a:lnL>
                    <a:lnR w="7620" cap="flat" cmpd="sng" algn="ctr">
                      <a:solidFill>
                        <a:srgbClr val="CBD5E1"/>
                      </a:solidFill>
                      <a:prstDash val="solid"/>
                      <a:round/>
                      <a:headEnd type="none" w="med" len="med"/>
                      <a:tailEnd type="none" w="med" len="med"/>
                    </a:lnR>
                    <a:lnT w="7620" cap="flat" cmpd="sng" algn="ctr">
                      <a:solidFill>
                        <a:srgbClr val="CBD5E1"/>
                      </a:solidFill>
                      <a:prstDash val="solid"/>
                      <a:round/>
                      <a:headEnd type="none" w="med" len="med"/>
                      <a:tailEnd type="none" w="med" len="med"/>
                    </a:lnT>
                    <a:lnB w="7620"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Next.js 15 · React 19 · TypeScript · Tailwind</a:t>
                      </a:r>
                      <a:endParaRPr lang="en-US" sz="900" dirty="0"/>
                    </a:p>
                  </a:txBody>
                  <a:tcPr marL="36576" marR="36576" marT="36576" marB="36576" anchor="ctr">
                    <a:lnL w="7620" cap="flat" cmpd="sng" algn="ctr">
                      <a:solidFill>
                        <a:srgbClr val="CBD5E1"/>
                      </a:solidFill>
                      <a:prstDash val="solid"/>
                      <a:round/>
                      <a:headEnd type="none" w="med" len="med"/>
                      <a:tailEnd type="none" w="med" len="med"/>
                    </a:lnL>
                    <a:lnR w="7620" cap="flat" cmpd="sng" algn="ctr">
                      <a:solidFill>
                        <a:srgbClr val="CBD5E1"/>
                      </a:solidFill>
                      <a:prstDash val="solid"/>
                      <a:round/>
                      <a:headEnd type="none" w="med" len="med"/>
                      <a:tailEnd type="none" w="med" len="med"/>
                    </a:lnR>
                    <a:lnT w="7620" cap="flat" cmpd="sng" algn="ctr">
                      <a:solidFill>
                        <a:srgbClr val="CBD5E1"/>
                      </a:solidFill>
                      <a:prstDash val="solid"/>
                      <a:round/>
                      <a:headEnd type="none" w="med" len="med"/>
                      <a:tailEnd type="none" w="med" len="med"/>
                    </a:lnT>
                    <a:lnB w="7620"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900" b="1" dirty="0">
                          <a:solidFill>
                            <a:schemeClr val="accent1"/>
                          </a:solidFill>
                        </a:rPr>
                        <a:t>Thật</a:t>
                      </a:r>
                      <a:endParaRPr lang="en-US" sz="900" dirty="0"/>
                    </a:p>
                  </a:txBody>
                  <a:tcPr marL="36576" marR="36576" marT="36576" marB="36576" anchor="ctr">
                    <a:lnL w="7620" cap="flat" cmpd="sng" algn="ctr">
                      <a:solidFill>
                        <a:srgbClr val="CBD5E1"/>
                      </a:solidFill>
                      <a:prstDash val="solid"/>
                      <a:round/>
                      <a:headEnd type="none" w="med" len="med"/>
                      <a:tailEnd type="none" w="med" len="med"/>
                    </a:lnL>
                    <a:lnR w="7620" cap="flat" cmpd="sng" algn="ctr">
                      <a:solidFill>
                        <a:srgbClr val="CBD5E1"/>
                      </a:solidFill>
                      <a:prstDash val="solid"/>
                      <a:round/>
                      <a:headEnd type="none" w="med" len="med"/>
                      <a:tailEnd type="none" w="med" len="med"/>
                    </a:lnR>
                    <a:lnT w="7620" cap="flat" cmpd="sng" algn="ctr">
                      <a:solidFill>
                        <a:srgbClr val="CBD5E1"/>
                      </a:solidFill>
                      <a:prstDash val="solid"/>
                      <a:round/>
                      <a:headEnd type="none" w="med" len="med"/>
                      <a:tailEnd type="none" w="med" len="med"/>
                    </a:lnT>
                    <a:lnB w="7620" cap="flat" cmpd="sng" algn="ctr">
                      <a:solidFill>
                        <a:srgbClr val="CBD5E1"/>
                      </a:solidFill>
                      <a:prstDash val="solid"/>
                      <a:round/>
                      <a:headEnd type="none" w="med" len="med"/>
                      <a:tailEnd type="none" w="med" len="med"/>
                    </a:lnB>
                    <a:solidFill>
                      <a:schemeClr val="bg1"/>
                    </a:solidFill>
                  </a:tcPr>
                </a:tc>
              </a:tr>
              <a:tr h="301752">
                <a:tc>
                  <a:txBody>
                    <a:bodyPr/>
                    <a:lstStyle/>
                    <a:p>
                      <a:pPr indent="0" marL="0">
                        <a:buNone/>
                      </a:pPr>
                      <a:r>
                        <a:rPr lang="en-US" sz="900" b="1" dirty="0">
                          <a:solidFill>
                            <a:schemeClr val="tx1"/>
                          </a:solidFill>
                        </a:rPr>
                        <a:t>Lõi quyết định</a:t>
                      </a:r>
                      <a:endParaRPr lang="en-US" sz="900" dirty="0"/>
                    </a:p>
                  </a:txBody>
                  <a:tcPr marL="36576" marR="36576" marT="36576" marB="36576" anchor="ctr">
                    <a:lnL w="7620" cap="flat" cmpd="sng" algn="ctr">
                      <a:solidFill>
                        <a:srgbClr val="CBD5E1"/>
                      </a:solidFill>
                      <a:prstDash val="solid"/>
                      <a:round/>
                      <a:headEnd type="none" w="med" len="med"/>
                      <a:tailEnd type="none" w="med" len="med"/>
                    </a:lnL>
                    <a:lnR w="7620" cap="flat" cmpd="sng" algn="ctr">
                      <a:solidFill>
                        <a:srgbClr val="CBD5E1"/>
                      </a:solidFill>
                      <a:prstDash val="solid"/>
                      <a:round/>
                      <a:headEnd type="none" w="med" len="med"/>
                      <a:tailEnd type="none" w="med" len="med"/>
                    </a:lnR>
                    <a:lnT w="7620" cap="flat" cmpd="sng" algn="ctr">
                      <a:solidFill>
                        <a:srgbClr val="CBD5E1"/>
                      </a:solidFill>
                      <a:prstDash val="solid"/>
                      <a:round/>
                      <a:headEnd type="none" w="med" len="med"/>
                      <a:tailEnd type="none" w="med" len="med"/>
                    </a:lnT>
                    <a:lnB w="7620"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24 quy tắc tất định · 3 kiểu dừng · Zod</a:t>
                      </a:r>
                      <a:endParaRPr lang="en-US" sz="900" dirty="0"/>
                    </a:p>
                  </a:txBody>
                  <a:tcPr marL="36576" marR="36576" marT="36576" marB="36576" anchor="ctr">
                    <a:lnL w="7620" cap="flat" cmpd="sng" algn="ctr">
                      <a:solidFill>
                        <a:srgbClr val="CBD5E1"/>
                      </a:solidFill>
                      <a:prstDash val="solid"/>
                      <a:round/>
                      <a:headEnd type="none" w="med" len="med"/>
                      <a:tailEnd type="none" w="med" len="med"/>
                    </a:lnL>
                    <a:lnR w="7620" cap="flat" cmpd="sng" algn="ctr">
                      <a:solidFill>
                        <a:srgbClr val="CBD5E1"/>
                      </a:solidFill>
                      <a:prstDash val="solid"/>
                      <a:round/>
                      <a:headEnd type="none" w="med" len="med"/>
                      <a:tailEnd type="none" w="med" len="med"/>
                    </a:lnR>
                    <a:lnT w="7620" cap="flat" cmpd="sng" algn="ctr">
                      <a:solidFill>
                        <a:srgbClr val="CBD5E1"/>
                      </a:solidFill>
                      <a:prstDash val="solid"/>
                      <a:round/>
                      <a:headEnd type="none" w="med" len="med"/>
                      <a:tailEnd type="none" w="med" len="med"/>
                    </a:lnT>
                    <a:lnB w="7620"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900" b="1" dirty="0">
                          <a:solidFill>
                            <a:schemeClr val="accent1"/>
                          </a:solidFill>
                        </a:rPr>
                        <a:t>Thật</a:t>
                      </a:r>
                      <a:endParaRPr lang="en-US" sz="900" dirty="0"/>
                    </a:p>
                  </a:txBody>
                  <a:tcPr marL="36576" marR="36576" marT="36576" marB="36576" anchor="ctr">
                    <a:lnL w="7620" cap="flat" cmpd="sng" algn="ctr">
                      <a:solidFill>
                        <a:srgbClr val="CBD5E1"/>
                      </a:solidFill>
                      <a:prstDash val="solid"/>
                      <a:round/>
                      <a:headEnd type="none" w="med" len="med"/>
                      <a:tailEnd type="none" w="med" len="med"/>
                    </a:lnL>
                    <a:lnR w="7620" cap="flat" cmpd="sng" algn="ctr">
                      <a:solidFill>
                        <a:srgbClr val="CBD5E1"/>
                      </a:solidFill>
                      <a:prstDash val="solid"/>
                      <a:round/>
                      <a:headEnd type="none" w="med" len="med"/>
                      <a:tailEnd type="none" w="med" len="med"/>
                    </a:lnR>
                    <a:lnT w="7620" cap="flat" cmpd="sng" algn="ctr">
                      <a:solidFill>
                        <a:srgbClr val="CBD5E1"/>
                      </a:solidFill>
                      <a:prstDash val="solid"/>
                      <a:round/>
                      <a:headEnd type="none" w="med" len="med"/>
                      <a:tailEnd type="none" w="med" len="med"/>
                    </a:lnT>
                    <a:lnB w="7620" cap="flat" cmpd="sng" algn="ctr">
                      <a:solidFill>
                        <a:srgbClr val="CBD5E1"/>
                      </a:solidFill>
                      <a:prstDash val="solid"/>
                      <a:round/>
                      <a:headEnd type="none" w="med" len="med"/>
                      <a:tailEnd type="none" w="med" len="med"/>
                    </a:lnB>
                    <a:solidFill>
                      <a:schemeClr val="bg1"/>
                    </a:solidFill>
                  </a:tcPr>
                </a:tc>
              </a:tr>
              <a:tr h="301752">
                <a:tc>
                  <a:txBody>
                    <a:bodyPr/>
                    <a:lstStyle/>
                    <a:p>
                      <a:pPr indent="0" marL="0">
                        <a:buNone/>
                      </a:pPr>
                      <a:r>
                        <a:rPr lang="en-US" sz="900" b="1" dirty="0">
                          <a:solidFill>
                            <a:schemeClr val="tx1"/>
                          </a:solidFill>
                        </a:rPr>
                        <a:t>Đọc chứng từ</a:t>
                      </a:r>
                      <a:endParaRPr lang="en-US" sz="900" dirty="0"/>
                    </a:p>
                  </a:txBody>
                  <a:tcPr marL="36576" marR="36576" marT="36576" marB="36576" anchor="ctr">
                    <a:lnL w="7620" cap="flat" cmpd="sng" algn="ctr">
                      <a:solidFill>
                        <a:srgbClr val="CBD5E1"/>
                      </a:solidFill>
                      <a:prstDash val="solid"/>
                      <a:round/>
                      <a:headEnd type="none" w="med" len="med"/>
                      <a:tailEnd type="none" w="med" len="med"/>
                    </a:lnL>
                    <a:lnR w="7620" cap="flat" cmpd="sng" algn="ctr">
                      <a:solidFill>
                        <a:srgbClr val="CBD5E1"/>
                      </a:solidFill>
                      <a:prstDash val="solid"/>
                      <a:round/>
                      <a:headEnd type="none" w="med" len="med"/>
                      <a:tailEnd type="none" w="med" len="med"/>
                    </a:lnR>
                    <a:lnT w="7620" cap="flat" cmpd="sng" algn="ctr">
                      <a:solidFill>
                        <a:srgbClr val="CBD5E1"/>
                      </a:solidFill>
                      <a:prstDash val="solid"/>
                      <a:round/>
                      <a:headEnd type="none" w="med" len="med"/>
                      <a:tailEnd type="none" w="med" len="med"/>
                    </a:lnT>
                    <a:lnB w="7620"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XML 5 định dạng · Gemini Vision (chỉ đọc)</a:t>
                      </a:r>
                      <a:endParaRPr lang="en-US" sz="900" dirty="0"/>
                    </a:p>
                  </a:txBody>
                  <a:tcPr marL="36576" marR="36576" marT="36576" marB="36576" anchor="ctr">
                    <a:lnL w="7620" cap="flat" cmpd="sng" algn="ctr">
                      <a:solidFill>
                        <a:srgbClr val="CBD5E1"/>
                      </a:solidFill>
                      <a:prstDash val="solid"/>
                      <a:round/>
                      <a:headEnd type="none" w="med" len="med"/>
                      <a:tailEnd type="none" w="med" len="med"/>
                    </a:lnL>
                    <a:lnR w="7620" cap="flat" cmpd="sng" algn="ctr">
                      <a:solidFill>
                        <a:srgbClr val="CBD5E1"/>
                      </a:solidFill>
                      <a:prstDash val="solid"/>
                      <a:round/>
                      <a:headEnd type="none" w="med" len="med"/>
                      <a:tailEnd type="none" w="med" len="med"/>
                    </a:lnR>
                    <a:lnT w="7620" cap="flat" cmpd="sng" algn="ctr">
                      <a:solidFill>
                        <a:srgbClr val="CBD5E1"/>
                      </a:solidFill>
                      <a:prstDash val="solid"/>
                      <a:round/>
                      <a:headEnd type="none" w="med" len="med"/>
                      <a:tailEnd type="none" w="med" len="med"/>
                    </a:lnT>
                    <a:lnB w="7620"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900" b="1" dirty="0">
                          <a:solidFill>
                            <a:schemeClr val="accent1"/>
                          </a:solidFill>
                        </a:rPr>
                        <a:t>Thật</a:t>
                      </a:r>
                      <a:endParaRPr lang="en-US" sz="900" dirty="0"/>
                    </a:p>
                  </a:txBody>
                  <a:tcPr marL="36576" marR="36576" marT="36576" marB="36576" anchor="ctr">
                    <a:lnL w="7620" cap="flat" cmpd="sng" algn="ctr">
                      <a:solidFill>
                        <a:srgbClr val="CBD5E1"/>
                      </a:solidFill>
                      <a:prstDash val="solid"/>
                      <a:round/>
                      <a:headEnd type="none" w="med" len="med"/>
                      <a:tailEnd type="none" w="med" len="med"/>
                    </a:lnL>
                    <a:lnR w="7620" cap="flat" cmpd="sng" algn="ctr">
                      <a:solidFill>
                        <a:srgbClr val="CBD5E1"/>
                      </a:solidFill>
                      <a:prstDash val="solid"/>
                      <a:round/>
                      <a:headEnd type="none" w="med" len="med"/>
                      <a:tailEnd type="none" w="med" len="med"/>
                    </a:lnR>
                    <a:lnT w="7620" cap="flat" cmpd="sng" algn="ctr">
                      <a:solidFill>
                        <a:srgbClr val="CBD5E1"/>
                      </a:solidFill>
                      <a:prstDash val="solid"/>
                      <a:round/>
                      <a:headEnd type="none" w="med" len="med"/>
                      <a:tailEnd type="none" w="med" len="med"/>
                    </a:lnT>
                    <a:lnB w="7620" cap="flat" cmpd="sng" algn="ctr">
                      <a:solidFill>
                        <a:srgbClr val="CBD5E1"/>
                      </a:solidFill>
                      <a:prstDash val="solid"/>
                      <a:round/>
                      <a:headEnd type="none" w="med" len="med"/>
                      <a:tailEnd type="none" w="med" len="med"/>
                    </a:lnB>
                    <a:solidFill>
                      <a:schemeClr val="bg1"/>
                    </a:solidFill>
                  </a:tcPr>
                </a:tc>
              </a:tr>
              <a:tr h="301752">
                <a:tc>
                  <a:txBody>
                    <a:bodyPr/>
                    <a:lstStyle/>
                    <a:p>
                      <a:pPr indent="0" marL="0">
                        <a:buNone/>
                      </a:pPr>
                      <a:r>
                        <a:rPr lang="en-US" sz="900" b="1" dirty="0">
                          <a:solidFill>
                            <a:schemeClr val="tx1"/>
                          </a:solidFill>
                        </a:rPr>
                        <a:t>Dữ liệu, kiểm toán</a:t>
                      </a:r>
                      <a:endParaRPr lang="en-US" sz="900" dirty="0"/>
                    </a:p>
                  </a:txBody>
                  <a:tcPr marL="36576" marR="36576" marT="36576" marB="36576" anchor="ctr">
                    <a:lnL w="7620" cap="flat" cmpd="sng" algn="ctr">
                      <a:solidFill>
                        <a:srgbClr val="CBD5E1"/>
                      </a:solidFill>
                      <a:prstDash val="solid"/>
                      <a:round/>
                      <a:headEnd type="none" w="med" len="med"/>
                      <a:tailEnd type="none" w="med" len="med"/>
                    </a:lnL>
                    <a:lnR w="7620" cap="flat" cmpd="sng" algn="ctr">
                      <a:solidFill>
                        <a:srgbClr val="CBD5E1"/>
                      </a:solidFill>
                      <a:prstDash val="solid"/>
                      <a:round/>
                      <a:headEnd type="none" w="med" len="med"/>
                      <a:tailEnd type="none" w="med" len="med"/>
                    </a:lnR>
                    <a:lnT w="7620" cap="flat" cmpd="sng" algn="ctr">
                      <a:solidFill>
                        <a:srgbClr val="CBD5E1"/>
                      </a:solidFill>
                      <a:prstDash val="solid"/>
                      <a:round/>
                      <a:headEnd type="none" w="med" len="med"/>
                      <a:tailEnd type="none" w="med" len="med"/>
                    </a:lnT>
                    <a:lnB w="7620"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SQLite WAL · nhật ký chỉ ghi thêm · hash + HMAC</a:t>
                      </a:r>
                      <a:endParaRPr lang="en-US" sz="900" dirty="0"/>
                    </a:p>
                  </a:txBody>
                  <a:tcPr marL="36576" marR="36576" marT="36576" marB="36576" anchor="ctr">
                    <a:lnL w="7620" cap="flat" cmpd="sng" algn="ctr">
                      <a:solidFill>
                        <a:srgbClr val="CBD5E1"/>
                      </a:solidFill>
                      <a:prstDash val="solid"/>
                      <a:round/>
                      <a:headEnd type="none" w="med" len="med"/>
                      <a:tailEnd type="none" w="med" len="med"/>
                    </a:lnL>
                    <a:lnR w="7620" cap="flat" cmpd="sng" algn="ctr">
                      <a:solidFill>
                        <a:srgbClr val="CBD5E1"/>
                      </a:solidFill>
                      <a:prstDash val="solid"/>
                      <a:round/>
                      <a:headEnd type="none" w="med" len="med"/>
                      <a:tailEnd type="none" w="med" len="med"/>
                    </a:lnR>
                    <a:lnT w="7620" cap="flat" cmpd="sng" algn="ctr">
                      <a:solidFill>
                        <a:srgbClr val="CBD5E1"/>
                      </a:solidFill>
                      <a:prstDash val="solid"/>
                      <a:round/>
                      <a:headEnd type="none" w="med" len="med"/>
                      <a:tailEnd type="none" w="med" len="med"/>
                    </a:lnT>
                    <a:lnB w="7620"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900" b="1" dirty="0">
                          <a:solidFill>
                            <a:schemeClr val="accent1"/>
                          </a:solidFill>
                        </a:rPr>
                        <a:t>Thật</a:t>
                      </a:r>
                      <a:endParaRPr lang="en-US" sz="900" dirty="0"/>
                    </a:p>
                  </a:txBody>
                  <a:tcPr marL="36576" marR="36576" marT="36576" marB="36576" anchor="ctr">
                    <a:lnL w="7620" cap="flat" cmpd="sng" algn="ctr">
                      <a:solidFill>
                        <a:srgbClr val="CBD5E1"/>
                      </a:solidFill>
                      <a:prstDash val="solid"/>
                      <a:round/>
                      <a:headEnd type="none" w="med" len="med"/>
                      <a:tailEnd type="none" w="med" len="med"/>
                    </a:lnL>
                    <a:lnR w="7620" cap="flat" cmpd="sng" algn="ctr">
                      <a:solidFill>
                        <a:srgbClr val="CBD5E1"/>
                      </a:solidFill>
                      <a:prstDash val="solid"/>
                      <a:round/>
                      <a:headEnd type="none" w="med" len="med"/>
                      <a:tailEnd type="none" w="med" len="med"/>
                    </a:lnR>
                    <a:lnT w="7620" cap="flat" cmpd="sng" algn="ctr">
                      <a:solidFill>
                        <a:srgbClr val="CBD5E1"/>
                      </a:solidFill>
                      <a:prstDash val="solid"/>
                      <a:round/>
                      <a:headEnd type="none" w="med" len="med"/>
                      <a:tailEnd type="none" w="med" len="med"/>
                    </a:lnT>
                    <a:lnB w="7620" cap="flat" cmpd="sng" algn="ctr">
                      <a:solidFill>
                        <a:srgbClr val="CBD5E1"/>
                      </a:solidFill>
                      <a:prstDash val="solid"/>
                      <a:round/>
                      <a:headEnd type="none" w="med" len="med"/>
                      <a:tailEnd type="none" w="med" len="med"/>
                    </a:lnB>
                    <a:solidFill>
                      <a:schemeClr val="bg1"/>
                    </a:solidFill>
                  </a:tcPr>
                </a:tc>
              </a:tr>
              <a:tr h="301752">
                <a:tc>
                  <a:txBody>
                    <a:bodyPr/>
                    <a:lstStyle/>
                    <a:p>
                      <a:pPr indent="0" marL="0">
                        <a:buNone/>
                      </a:pPr>
                      <a:r>
                        <a:rPr lang="en-US" sz="900" b="1" dirty="0">
                          <a:solidFill>
                            <a:schemeClr val="tx1"/>
                          </a:solidFill>
                        </a:rPr>
                        <a:t>Bảo mật</a:t>
                      </a:r>
                      <a:endParaRPr lang="en-US" sz="900" dirty="0"/>
                    </a:p>
                  </a:txBody>
                  <a:tcPr marL="36576" marR="36576" marT="36576" marB="36576" anchor="ctr">
                    <a:lnL w="7620" cap="flat" cmpd="sng" algn="ctr">
                      <a:solidFill>
                        <a:srgbClr val="CBD5E1"/>
                      </a:solidFill>
                      <a:prstDash val="solid"/>
                      <a:round/>
                      <a:headEnd type="none" w="med" len="med"/>
                      <a:tailEnd type="none" w="med" len="med"/>
                    </a:lnL>
                    <a:lnR w="7620" cap="flat" cmpd="sng" algn="ctr">
                      <a:solidFill>
                        <a:srgbClr val="CBD5E1"/>
                      </a:solidFill>
                      <a:prstDash val="solid"/>
                      <a:round/>
                      <a:headEnd type="none" w="med" len="med"/>
                      <a:tailEnd type="none" w="med" len="med"/>
                    </a:lnR>
                    <a:lnT w="7620" cap="flat" cmpd="sng" algn="ctr">
                      <a:solidFill>
                        <a:srgbClr val="CBD5E1"/>
                      </a:solidFill>
                      <a:prstDash val="solid"/>
                      <a:round/>
                      <a:headEnd type="none" w="med" len="med"/>
                      <a:tailEnd type="none" w="med" len="med"/>
                    </a:lnT>
                    <a:lnB w="7620"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Phân quyền · chống CSRF · giới hạn tần suất</a:t>
                      </a:r>
                      <a:endParaRPr lang="en-US" sz="900" dirty="0"/>
                    </a:p>
                  </a:txBody>
                  <a:tcPr marL="36576" marR="36576" marT="36576" marB="36576" anchor="ctr">
                    <a:lnL w="7620" cap="flat" cmpd="sng" algn="ctr">
                      <a:solidFill>
                        <a:srgbClr val="CBD5E1"/>
                      </a:solidFill>
                      <a:prstDash val="solid"/>
                      <a:round/>
                      <a:headEnd type="none" w="med" len="med"/>
                      <a:tailEnd type="none" w="med" len="med"/>
                    </a:lnL>
                    <a:lnR w="7620" cap="flat" cmpd="sng" algn="ctr">
                      <a:solidFill>
                        <a:srgbClr val="CBD5E1"/>
                      </a:solidFill>
                      <a:prstDash val="solid"/>
                      <a:round/>
                      <a:headEnd type="none" w="med" len="med"/>
                      <a:tailEnd type="none" w="med" len="med"/>
                    </a:lnR>
                    <a:lnT w="7620" cap="flat" cmpd="sng" algn="ctr">
                      <a:solidFill>
                        <a:srgbClr val="CBD5E1"/>
                      </a:solidFill>
                      <a:prstDash val="solid"/>
                      <a:round/>
                      <a:headEnd type="none" w="med" len="med"/>
                      <a:tailEnd type="none" w="med" len="med"/>
                    </a:lnT>
                    <a:lnB w="7620"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900" b="1" dirty="0">
                          <a:solidFill>
                            <a:schemeClr val="accent1"/>
                          </a:solidFill>
                        </a:rPr>
                        <a:t>Thật</a:t>
                      </a:r>
                      <a:endParaRPr lang="en-US" sz="900" dirty="0"/>
                    </a:p>
                  </a:txBody>
                  <a:tcPr marL="36576" marR="36576" marT="36576" marB="36576" anchor="ctr">
                    <a:lnL w="7620" cap="flat" cmpd="sng" algn="ctr">
                      <a:solidFill>
                        <a:srgbClr val="CBD5E1"/>
                      </a:solidFill>
                      <a:prstDash val="solid"/>
                      <a:round/>
                      <a:headEnd type="none" w="med" len="med"/>
                      <a:tailEnd type="none" w="med" len="med"/>
                    </a:lnL>
                    <a:lnR w="7620" cap="flat" cmpd="sng" algn="ctr">
                      <a:solidFill>
                        <a:srgbClr val="CBD5E1"/>
                      </a:solidFill>
                      <a:prstDash val="solid"/>
                      <a:round/>
                      <a:headEnd type="none" w="med" len="med"/>
                      <a:tailEnd type="none" w="med" len="med"/>
                    </a:lnR>
                    <a:lnT w="7620" cap="flat" cmpd="sng" algn="ctr">
                      <a:solidFill>
                        <a:srgbClr val="CBD5E1"/>
                      </a:solidFill>
                      <a:prstDash val="solid"/>
                      <a:round/>
                      <a:headEnd type="none" w="med" len="med"/>
                      <a:tailEnd type="none" w="med" len="med"/>
                    </a:lnT>
                    <a:lnB w="7620" cap="flat" cmpd="sng" algn="ctr">
                      <a:solidFill>
                        <a:srgbClr val="CBD5E1"/>
                      </a:solidFill>
                      <a:prstDash val="solid"/>
                      <a:round/>
                      <a:headEnd type="none" w="med" len="med"/>
                      <a:tailEnd type="none" w="med" len="med"/>
                    </a:lnB>
                    <a:solidFill>
                      <a:schemeClr val="bg1"/>
                    </a:solidFill>
                  </a:tcPr>
                </a:tc>
              </a:tr>
              <a:tr h="301752">
                <a:tc>
                  <a:txBody>
                    <a:bodyPr/>
                    <a:lstStyle/>
                    <a:p>
                      <a:pPr indent="0" marL="0">
                        <a:buNone/>
                      </a:pPr>
                      <a:r>
                        <a:rPr lang="en-US" sz="900" b="1" dirty="0">
                          <a:solidFill>
                            <a:schemeClr val="tx1"/>
                          </a:solidFill>
                        </a:rPr>
                        <a:t>Kiểm thử, CI</a:t>
                      </a:r>
                      <a:endParaRPr lang="en-US" sz="900" dirty="0"/>
                    </a:p>
                  </a:txBody>
                  <a:tcPr marL="36576" marR="36576" marT="36576" marB="36576" anchor="ctr">
                    <a:lnL w="7620" cap="flat" cmpd="sng" algn="ctr">
                      <a:solidFill>
                        <a:srgbClr val="CBD5E1"/>
                      </a:solidFill>
                      <a:prstDash val="solid"/>
                      <a:round/>
                      <a:headEnd type="none" w="med" len="med"/>
                      <a:tailEnd type="none" w="med" len="med"/>
                    </a:lnL>
                    <a:lnR w="7620" cap="flat" cmpd="sng" algn="ctr">
                      <a:solidFill>
                        <a:srgbClr val="CBD5E1"/>
                      </a:solidFill>
                      <a:prstDash val="solid"/>
                      <a:round/>
                      <a:headEnd type="none" w="med" len="med"/>
                      <a:tailEnd type="none" w="med" len="med"/>
                    </a:lnR>
                    <a:lnT w="7620" cap="flat" cmpd="sng" algn="ctr">
                      <a:solidFill>
                        <a:srgbClr val="CBD5E1"/>
                      </a:solidFill>
                      <a:prstDash val="solid"/>
                      <a:round/>
                      <a:headEnd type="none" w="med" len="med"/>
                      <a:tailEnd type="none" w="med" len="med"/>
                    </a:lnT>
                    <a:lnB w="7620"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16 bộ test · 72 ca red team · Playwright · CI</a:t>
                      </a:r>
                      <a:endParaRPr lang="en-US" sz="900" dirty="0"/>
                    </a:p>
                  </a:txBody>
                  <a:tcPr marL="36576" marR="36576" marT="36576" marB="36576" anchor="ctr">
                    <a:lnL w="7620" cap="flat" cmpd="sng" algn="ctr">
                      <a:solidFill>
                        <a:srgbClr val="CBD5E1"/>
                      </a:solidFill>
                      <a:prstDash val="solid"/>
                      <a:round/>
                      <a:headEnd type="none" w="med" len="med"/>
                      <a:tailEnd type="none" w="med" len="med"/>
                    </a:lnL>
                    <a:lnR w="7620" cap="flat" cmpd="sng" algn="ctr">
                      <a:solidFill>
                        <a:srgbClr val="CBD5E1"/>
                      </a:solidFill>
                      <a:prstDash val="solid"/>
                      <a:round/>
                      <a:headEnd type="none" w="med" len="med"/>
                      <a:tailEnd type="none" w="med" len="med"/>
                    </a:lnR>
                    <a:lnT w="7620" cap="flat" cmpd="sng" algn="ctr">
                      <a:solidFill>
                        <a:srgbClr val="CBD5E1"/>
                      </a:solidFill>
                      <a:prstDash val="solid"/>
                      <a:round/>
                      <a:headEnd type="none" w="med" len="med"/>
                      <a:tailEnd type="none" w="med" len="med"/>
                    </a:lnT>
                    <a:lnB w="7620"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900" b="1" dirty="0">
                          <a:solidFill>
                            <a:schemeClr val="accent1"/>
                          </a:solidFill>
                        </a:rPr>
                        <a:t>Thật</a:t>
                      </a:r>
                      <a:endParaRPr lang="en-US" sz="900" dirty="0"/>
                    </a:p>
                  </a:txBody>
                  <a:tcPr marL="36576" marR="36576" marT="36576" marB="36576" anchor="ctr">
                    <a:lnL w="7620" cap="flat" cmpd="sng" algn="ctr">
                      <a:solidFill>
                        <a:srgbClr val="CBD5E1"/>
                      </a:solidFill>
                      <a:prstDash val="solid"/>
                      <a:round/>
                      <a:headEnd type="none" w="med" len="med"/>
                      <a:tailEnd type="none" w="med" len="med"/>
                    </a:lnL>
                    <a:lnR w="7620" cap="flat" cmpd="sng" algn="ctr">
                      <a:solidFill>
                        <a:srgbClr val="CBD5E1"/>
                      </a:solidFill>
                      <a:prstDash val="solid"/>
                      <a:round/>
                      <a:headEnd type="none" w="med" len="med"/>
                      <a:tailEnd type="none" w="med" len="med"/>
                    </a:lnR>
                    <a:lnT w="7620" cap="flat" cmpd="sng" algn="ctr">
                      <a:solidFill>
                        <a:srgbClr val="CBD5E1"/>
                      </a:solidFill>
                      <a:prstDash val="solid"/>
                      <a:round/>
                      <a:headEnd type="none" w="med" len="med"/>
                      <a:tailEnd type="none" w="med" len="med"/>
                    </a:lnT>
                    <a:lnB w="7620" cap="flat" cmpd="sng" algn="ctr">
                      <a:solidFill>
                        <a:srgbClr val="CBD5E1"/>
                      </a:solidFill>
                      <a:prstDash val="solid"/>
                      <a:round/>
                      <a:headEnd type="none" w="med" len="med"/>
                      <a:tailEnd type="none" w="med" len="med"/>
                    </a:lnB>
                    <a:solidFill>
                      <a:schemeClr val="bg1"/>
                    </a:solidFill>
                  </a:tcPr>
                </a:tc>
              </a:tr>
              <a:tr h="301752">
                <a:tc>
                  <a:txBody>
                    <a:bodyPr/>
                    <a:lstStyle/>
                    <a:p>
                      <a:pPr indent="0" marL="0">
                        <a:buNone/>
                      </a:pPr>
                      <a:r>
                        <a:rPr lang="en-US" sz="900" b="1" dirty="0">
                          <a:solidFill>
                            <a:schemeClr val="tx1"/>
                          </a:solidFill>
                        </a:rPr>
                        <a:t>Triển khai</a:t>
                      </a:r>
                      <a:endParaRPr lang="en-US" sz="900" dirty="0"/>
                    </a:p>
                  </a:txBody>
                  <a:tcPr marL="36576" marR="36576" marT="36576" marB="36576" anchor="ctr">
                    <a:lnL w="7620" cap="flat" cmpd="sng" algn="ctr">
                      <a:solidFill>
                        <a:srgbClr val="CBD5E1"/>
                      </a:solidFill>
                      <a:prstDash val="solid"/>
                      <a:round/>
                      <a:headEnd type="none" w="med" len="med"/>
                      <a:tailEnd type="none" w="med" len="med"/>
                    </a:lnL>
                    <a:lnR w="7620" cap="flat" cmpd="sng" algn="ctr">
                      <a:solidFill>
                        <a:srgbClr val="CBD5E1"/>
                      </a:solidFill>
                      <a:prstDash val="solid"/>
                      <a:round/>
                      <a:headEnd type="none" w="med" len="med"/>
                      <a:tailEnd type="none" w="med" len="med"/>
                    </a:lnR>
                    <a:lnT w="7620" cap="flat" cmpd="sng" algn="ctr">
                      <a:solidFill>
                        <a:srgbClr val="CBD5E1"/>
                      </a:solidFill>
                      <a:prstDash val="solid"/>
                      <a:round/>
                      <a:headEnd type="none" w="med" len="med"/>
                      <a:tailEnd type="none" w="med" len="med"/>
                    </a:lnT>
                    <a:lnB w="7620"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Hostinger Node.js 22 · /api/health có commit</a:t>
                      </a:r>
                      <a:endParaRPr lang="en-US" sz="900" dirty="0"/>
                    </a:p>
                  </a:txBody>
                  <a:tcPr marL="36576" marR="36576" marT="36576" marB="36576" anchor="ctr">
                    <a:lnL w="7620" cap="flat" cmpd="sng" algn="ctr">
                      <a:solidFill>
                        <a:srgbClr val="CBD5E1"/>
                      </a:solidFill>
                      <a:prstDash val="solid"/>
                      <a:round/>
                      <a:headEnd type="none" w="med" len="med"/>
                      <a:tailEnd type="none" w="med" len="med"/>
                    </a:lnL>
                    <a:lnR w="7620" cap="flat" cmpd="sng" algn="ctr">
                      <a:solidFill>
                        <a:srgbClr val="CBD5E1"/>
                      </a:solidFill>
                      <a:prstDash val="solid"/>
                      <a:round/>
                      <a:headEnd type="none" w="med" len="med"/>
                      <a:tailEnd type="none" w="med" len="med"/>
                    </a:lnR>
                    <a:lnT w="7620" cap="flat" cmpd="sng" algn="ctr">
                      <a:solidFill>
                        <a:srgbClr val="CBD5E1"/>
                      </a:solidFill>
                      <a:prstDash val="solid"/>
                      <a:round/>
                      <a:headEnd type="none" w="med" len="med"/>
                      <a:tailEnd type="none" w="med" len="med"/>
                    </a:lnT>
                    <a:lnB w="7620"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900" b="1" dirty="0">
                          <a:solidFill>
                            <a:schemeClr val="accent1"/>
                          </a:solidFill>
                        </a:rPr>
                        <a:t>Thật</a:t>
                      </a:r>
                      <a:endParaRPr lang="en-US" sz="900" dirty="0"/>
                    </a:p>
                  </a:txBody>
                  <a:tcPr marL="36576" marR="36576" marT="36576" marB="36576" anchor="ctr">
                    <a:lnL w="7620" cap="flat" cmpd="sng" algn="ctr">
                      <a:solidFill>
                        <a:srgbClr val="CBD5E1"/>
                      </a:solidFill>
                      <a:prstDash val="solid"/>
                      <a:round/>
                      <a:headEnd type="none" w="med" len="med"/>
                      <a:tailEnd type="none" w="med" len="med"/>
                    </a:lnL>
                    <a:lnR w="7620" cap="flat" cmpd="sng" algn="ctr">
                      <a:solidFill>
                        <a:srgbClr val="CBD5E1"/>
                      </a:solidFill>
                      <a:prstDash val="solid"/>
                      <a:round/>
                      <a:headEnd type="none" w="med" len="med"/>
                      <a:tailEnd type="none" w="med" len="med"/>
                    </a:lnR>
                    <a:lnT w="7620" cap="flat" cmpd="sng" algn="ctr">
                      <a:solidFill>
                        <a:srgbClr val="CBD5E1"/>
                      </a:solidFill>
                      <a:prstDash val="solid"/>
                      <a:round/>
                      <a:headEnd type="none" w="med" len="med"/>
                      <a:tailEnd type="none" w="med" len="med"/>
                    </a:lnT>
                    <a:lnB w="7620" cap="flat" cmpd="sng" algn="ctr">
                      <a:solidFill>
                        <a:srgbClr val="CBD5E1"/>
                      </a:solidFill>
                      <a:prstDash val="solid"/>
                      <a:round/>
                      <a:headEnd type="none" w="med" len="med"/>
                      <a:tailEnd type="none" w="med" len="med"/>
                    </a:lnB>
                    <a:solidFill>
                      <a:schemeClr val="bg1"/>
                    </a:solidFill>
                  </a:tcPr>
                </a:tc>
              </a:tr>
              <a:tr h="301752">
                <a:tc>
                  <a:txBody>
                    <a:bodyPr/>
                    <a:lstStyle/>
                    <a:p>
                      <a:pPr indent="0" marL="0">
                        <a:buNone/>
                      </a:pPr>
                      <a:r>
                        <a:rPr lang="en-US" sz="900" b="1" dirty="0">
                          <a:solidFill>
                            <a:schemeClr val="tx1"/>
                          </a:solidFill>
                        </a:rPr>
                        <a:t>ERP, ngân hàng, TCT</a:t>
                      </a:r>
                      <a:endParaRPr lang="en-US" sz="900" dirty="0"/>
                    </a:p>
                  </a:txBody>
                  <a:tcPr marL="36576" marR="36576" marT="36576" marB="36576" anchor="ctr">
                    <a:lnL w="7620" cap="flat" cmpd="sng" algn="ctr">
                      <a:solidFill>
                        <a:srgbClr val="CBD5E1"/>
                      </a:solidFill>
                      <a:prstDash val="solid"/>
                      <a:round/>
                      <a:headEnd type="none" w="med" len="med"/>
                      <a:tailEnd type="none" w="med" len="med"/>
                    </a:lnL>
                    <a:lnR w="7620" cap="flat" cmpd="sng" algn="ctr">
                      <a:solidFill>
                        <a:srgbClr val="CBD5E1"/>
                      </a:solidFill>
                      <a:prstDash val="solid"/>
                      <a:round/>
                      <a:headEnd type="none" w="med" len="med"/>
                      <a:tailEnd type="none" w="med" len="med"/>
                    </a:lnR>
                    <a:lnT w="7620" cap="flat" cmpd="sng" algn="ctr">
                      <a:solidFill>
                        <a:srgbClr val="CBD5E1"/>
                      </a:solidFill>
                      <a:prstDash val="solid"/>
                      <a:round/>
                      <a:headEnd type="none" w="med" len="med"/>
                      <a:tailEnd type="none" w="med" len="med"/>
                    </a:lnT>
                    <a:lnB w="7620"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Chỉ xuất payload (Mở rộng · beta)</a:t>
                      </a:r>
                      <a:endParaRPr lang="en-US" sz="900" dirty="0"/>
                    </a:p>
                  </a:txBody>
                  <a:tcPr marL="36576" marR="36576" marT="36576" marB="36576" anchor="ctr">
                    <a:lnL w="7620" cap="flat" cmpd="sng" algn="ctr">
                      <a:solidFill>
                        <a:srgbClr val="CBD5E1"/>
                      </a:solidFill>
                      <a:prstDash val="solid"/>
                      <a:round/>
                      <a:headEnd type="none" w="med" len="med"/>
                      <a:tailEnd type="none" w="med" len="med"/>
                    </a:lnL>
                    <a:lnR w="7620" cap="flat" cmpd="sng" algn="ctr">
                      <a:solidFill>
                        <a:srgbClr val="CBD5E1"/>
                      </a:solidFill>
                      <a:prstDash val="solid"/>
                      <a:round/>
                      <a:headEnd type="none" w="med" len="med"/>
                      <a:tailEnd type="none" w="med" len="med"/>
                    </a:lnR>
                    <a:lnT w="7620" cap="flat" cmpd="sng" algn="ctr">
                      <a:solidFill>
                        <a:srgbClr val="CBD5E1"/>
                      </a:solidFill>
                      <a:prstDash val="solid"/>
                      <a:round/>
                      <a:headEnd type="none" w="med" len="med"/>
                      <a:tailEnd type="none" w="med" len="med"/>
                    </a:lnT>
                    <a:lnB w="7620"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900" b="1" dirty="0">
                          <a:solidFill>
                            <a:schemeClr val="tx2"/>
                          </a:solidFill>
                        </a:rPr>
                        <a:t>Giả lập</a:t>
                      </a:r>
                      <a:endParaRPr lang="en-US" sz="900" dirty="0"/>
                    </a:p>
                  </a:txBody>
                  <a:tcPr marL="36576" marR="36576" marT="36576" marB="36576" anchor="ctr">
                    <a:lnL w="7620" cap="flat" cmpd="sng" algn="ctr">
                      <a:solidFill>
                        <a:srgbClr val="CBD5E1"/>
                      </a:solidFill>
                      <a:prstDash val="solid"/>
                      <a:round/>
                      <a:headEnd type="none" w="med" len="med"/>
                      <a:tailEnd type="none" w="med" len="med"/>
                    </a:lnL>
                    <a:lnR w="7620" cap="flat" cmpd="sng" algn="ctr">
                      <a:solidFill>
                        <a:srgbClr val="CBD5E1"/>
                      </a:solidFill>
                      <a:prstDash val="solid"/>
                      <a:round/>
                      <a:headEnd type="none" w="med" len="med"/>
                      <a:tailEnd type="none" w="med" len="med"/>
                    </a:lnR>
                    <a:lnT w="7620" cap="flat" cmpd="sng" algn="ctr">
                      <a:solidFill>
                        <a:srgbClr val="CBD5E1"/>
                      </a:solidFill>
                      <a:prstDash val="solid"/>
                      <a:round/>
                      <a:headEnd type="none" w="med" len="med"/>
                      <a:tailEnd type="none" w="med" len="med"/>
                    </a:lnT>
                    <a:lnB w="7620" cap="flat" cmpd="sng" algn="ctr">
                      <a:solidFill>
                        <a:srgbClr val="CBD5E1"/>
                      </a:solidFill>
                      <a:prstDash val="solid"/>
                      <a:round/>
                      <a:headEnd type="none" w="med" len="med"/>
                      <a:tailEnd type="none" w="med" len="med"/>
                    </a:lnB>
                    <a:solidFill>
                      <a:schemeClr val="bg1"/>
                    </a:solidFill>
                  </a:tcPr>
                </a:tc>
              </a:tr>
              <a:tr h="301752">
                <a:tc>
                  <a:txBody>
                    <a:bodyPr/>
                    <a:lstStyle/>
                    <a:p>
                      <a:pPr indent="0" marL="0">
                        <a:buNone/>
                      </a:pPr>
                      <a:r>
                        <a:rPr lang="en-US" sz="900" b="1" dirty="0">
                          <a:solidFill>
                            <a:schemeClr val="tx1"/>
                          </a:solidFill>
                        </a:rPr>
                        <a:t>Dữ liệu kiểm thử</a:t>
                      </a:r>
                      <a:endParaRPr lang="en-US" sz="900" dirty="0"/>
                    </a:p>
                  </a:txBody>
                  <a:tcPr marL="36576" marR="36576" marT="36576" marB="36576" anchor="ctr">
                    <a:lnL w="7620" cap="flat" cmpd="sng" algn="ctr">
                      <a:solidFill>
                        <a:srgbClr val="CBD5E1"/>
                      </a:solidFill>
                      <a:prstDash val="solid"/>
                      <a:round/>
                      <a:headEnd type="none" w="med" len="med"/>
                      <a:tailEnd type="none" w="med" len="med"/>
                    </a:lnL>
                    <a:lnR w="7620" cap="flat" cmpd="sng" algn="ctr">
                      <a:solidFill>
                        <a:srgbClr val="CBD5E1"/>
                      </a:solidFill>
                      <a:prstDash val="solid"/>
                      <a:round/>
                      <a:headEnd type="none" w="med" len="med"/>
                      <a:tailEnd type="none" w="med" len="med"/>
                    </a:lnR>
                    <a:lnT w="7620" cap="flat" cmpd="sng" algn="ctr">
                      <a:solidFill>
                        <a:srgbClr val="CBD5E1"/>
                      </a:solidFill>
                      <a:prstDash val="solid"/>
                      <a:round/>
                      <a:headEnd type="none" w="med" len="med"/>
                      <a:tailEnd type="none" w="med" len="med"/>
                    </a:lnT>
                    <a:lnB w="7620"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900" dirty="0">
                          <a:solidFill>
                            <a:schemeClr val="tx1"/>
                          </a:solidFill>
                        </a:rPr>
                        <a:t>Verify, 60 ca, 72 ca red team; XML mẫu</a:t>
                      </a:r>
                      <a:endParaRPr lang="en-US" sz="900" dirty="0"/>
                    </a:p>
                  </a:txBody>
                  <a:tcPr marL="36576" marR="36576" marT="36576" marB="36576" anchor="ctr">
                    <a:lnL w="7620" cap="flat" cmpd="sng" algn="ctr">
                      <a:solidFill>
                        <a:srgbClr val="CBD5E1"/>
                      </a:solidFill>
                      <a:prstDash val="solid"/>
                      <a:round/>
                      <a:headEnd type="none" w="med" len="med"/>
                      <a:tailEnd type="none" w="med" len="med"/>
                    </a:lnL>
                    <a:lnR w="7620" cap="flat" cmpd="sng" algn="ctr">
                      <a:solidFill>
                        <a:srgbClr val="CBD5E1"/>
                      </a:solidFill>
                      <a:prstDash val="solid"/>
                      <a:round/>
                      <a:headEnd type="none" w="med" len="med"/>
                      <a:tailEnd type="none" w="med" len="med"/>
                    </a:lnR>
                    <a:lnT w="7620" cap="flat" cmpd="sng" algn="ctr">
                      <a:solidFill>
                        <a:srgbClr val="CBD5E1"/>
                      </a:solidFill>
                      <a:prstDash val="solid"/>
                      <a:round/>
                      <a:headEnd type="none" w="med" len="med"/>
                      <a:tailEnd type="none" w="med" len="med"/>
                    </a:lnT>
                    <a:lnB w="7620"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900" b="1" dirty="0">
                          <a:solidFill>
                            <a:schemeClr val="accent3"/>
                          </a:solidFill>
                        </a:rPr>
                        <a:t>Tổng hợp</a:t>
                      </a:r>
                      <a:endParaRPr lang="en-US" sz="900" dirty="0"/>
                    </a:p>
                  </a:txBody>
                  <a:tcPr marL="36576" marR="36576" marT="36576" marB="36576" anchor="ctr">
                    <a:lnL w="7620" cap="flat" cmpd="sng" algn="ctr">
                      <a:solidFill>
                        <a:srgbClr val="CBD5E1"/>
                      </a:solidFill>
                      <a:prstDash val="solid"/>
                      <a:round/>
                      <a:headEnd type="none" w="med" len="med"/>
                      <a:tailEnd type="none" w="med" len="med"/>
                    </a:lnL>
                    <a:lnR w="7620" cap="flat" cmpd="sng" algn="ctr">
                      <a:solidFill>
                        <a:srgbClr val="CBD5E1"/>
                      </a:solidFill>
                      <a:prstDash val="solid"/>
                      <a:round/>
                      <a:headEnd type="none" w="med" len="med"/>
                      <a:tailEnd type="none" w="med" len="med"/>
                    </a:lnR>
                    <a:lnT w="7620" cap="flat" cmpd="sng" algn="ctr">
                      <a:solidFill>
                        <a:srgbClr val="CBD5E1"/>
                      </a:solidFill>
                      <a:prstDash val="solid"/>
                      <a:round/>
                      <a:headEnd type="none" w="med" len="med"/>
                      <a:tailEnd type="none" w="med" len="med"/>
                    </a:lnT>
                    <a:lnB w="7620" cap="flat" cmpd="sng" algn="ctr">
                      <a:solidFill>
                        <a:srgbClr val="CBD5E1"/>
                      </a:solidFill>
                      <a:prstDash val="solid"/>
                      <a:round/>
                      <a:headEnd type="none" w="med" len="med"/>
                      <a:tailEnd type="none" w="med" len="med"/>
                    </a:lnB>
                    <a:solidFill>
                      <a:schemeClr val="bg1"/>
                    </a:solidFill>
                  </a:tcPr>
                </a:tc>
              </a:tr>
            </a:tbl>
          </a:graphicData>
        </a:graphic>
      </p:graphicFrame>
      <p:sp>
        <p:nvSpPr>
          <p:cNvPr id="5" name="Architecture notes"/>
          <p:cNvSpPr txBox="1"/>
          <p:nvPr/>
        </p:nvSpPr>
        <p:spPr>
          <a:xfrm>
            <a:off x="4526280" y="4160520"/>
            <a:ext cx="4160520" cy="457200"/>
          </a:xfrm>
          <a:prstGeom prst="rect">
            <a:avLst/>
          </a:prstGeom>
          <a:noFill/>
          <a:ln/>
        </p:spPr>
        <p:txBody>
          <a:bodyPr wrap="square" lIns="0" tIns="0" rIns="0" bIns="0" rtlCol="0" anchor="ctr"/>
          <a:lstStyle/>
          <a:p>
            <a:pPr indent="0" marL="0">
              <a:buNone/>
            </a:pPr>
            <a:r>
              <a:rPr lang="en-US" sz="1050" b="1" dirty="0">
                <a:solidFill>
                  <a:schemeClr val="accent1"/>
                </a:solidFill>
              </a:rPr>
              <a:t>Không có vòng lặp agent: </a:t>
            </a:r>
            <a:pPr indent="0" marL="0">
              <a:buNone/>
            </a:pPr>
            <a:r>
              <a:rPr lang="en-US" sz="1050" dirty="0">
                <a:solidFill>
                  <a:schemeClr val="tx1"/>
                </a:solidFill>
              </a:rPr>
              <a:t>một lượt quy tắc mỗi hồ sơ, AI có timeout, quá hạn → giữ hồ sơ.</a:t>
            </a:r>
            <a:endParaRPr lang="en-US" sz="105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Giới hạn, rủi ro và hướng xử lý</a:t>
            </a:r>
            <a:endParaRPr lang="en-US" sz="3000" dirty="0"/>
          </a:p>
        </p:txBody>
      </p:sp>
      <p:graphicFrame>
        <p:nvGraphicFramePr>
          <p:cNvPr id="6" name="Risk table"/>
          <p:cNvGraphicFramePr>
            <a:graphicFrameLocks noGrp="1"/>
          </p:cNvGraphicFramePr>
          <p:nvPr>
            <p:extLst>
              <p:ext uri="{D42A27DB-BD31-4B8C-83A1-F6EECF244321}">
                <p14:modId xmlns:p14="http://schemas.microsoft.com/office/powerpoint/2010/main" val="1579011935"/>
              </p:ext>
            </p:extLst>
          </p:nvPr>
        </p:nvGraphicFramePr>
        <p:xfrm>
          <a:off x="457200" y="1005840"/>
          <a:ext cx="5486400" cy="914400"/>
        </p:xfrm>
        <a:graphic>
          <a:graphicData uri="http://schemas.openxmlformats.org/drawingml/2006/table">
            <a:tbl>
              <a:tblPr/>
              <a:tblGrid>
                <a:gridCol w="2514600"/>
                <a:gridCol w="502920"/>
                <a:gridCol w="2468880"/>
              </a:tblGrid>
              <a:tr h="274320">
                <a:tc>
                  <a:txBody>
                    <a:bodyPr/>
                    <a:lstStyle/>
                    <a:p>
                      <a:pPr indent="0" marL="0">
                        <a:buNone/>
                      </a:pPr>
                      <a:r>
                        <a:rPr lang="en-US" sz="1200" b="1" dirty="0">
                          <a:solidFill>
                            <a:schemeClr val="bg1"/>
                          </a:solidFill>
                        </a:rPr>
                        <a:t>Rủi ro / giới hạn</a:t>
                      </a:r>
                      <a:endParaRPr lang="en-US" sz="1200" dirty="0"/>
                    </a:p>
                  </a:txBody>
                  <a:tcPr marL="54864" marR="54864" marT="54864" marB="54864">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Mức</a:t>
                      </a:r>
                      <a:endParaRPr lang="en-US" sz="1200" dirty="0"/>
                    </a:p>
                  </a:txBody>
                  <a:tcPr marL="54864" marR="54864" marT="54864" marB="54864">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Hướng xử lý</a:t>
                      </a:r>
                      <a:endParaRPr lang="en-US" sz="1200" dirty="0"/>
                    </a:p>
                  </a:txBody>
                  <a:tcPr marL="54864" marR="54864" marT="54864" marB="54864">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1"/>
                    </a:solidFill>
                  </a:tcPr>
                </a:tc>
              </a:tr>
              <a:tr h="548640">
                <a:tc>
                  <a:txBody>
                    <a:bodyPr/>
                    <a:lstStyle/>
                    <a:p>
                      <a:pPr indent="0" marL="0">
                        <a:buNone/>
                      </a:pPr>
                      <a:r>
                        <a:rPr lang="en-US" sz="1100" dirty="0">
                          <a:solidFill>
                            <a:schemeClr val="tx1"/>
                          </a:solidFill>
                        </a:rPr>
                        <a:t>Khoản chi lạ ngoài danh mục rủi ro vẫn có thể tự duyệt (VD chi cá nhân đặt tên khác)</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b="1" dirty="0">
                          <a:solidFill>
                            <a:schemeClr val="accent4"/>
                          </a:solidFill>
                        </a:rPr>
                        <a:t>Cao</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Mở rộng danh mục “ngoài phạm vi SOP” theo phản hồi; hậu kiểm ngẫu nhiên ca tự duyệt</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457200">
                <a:tc>
                  <a:txBody>
                    <a:bodyPr/>
                    <a:lstStyle/>
                    <a:p>
                      <a:pPr indent="0" marL="0">
                        <a:buNone/>
                      </a:pPr>
                      <a:r>
                        <a:rPr lang="en-US" sz="1100" dirty="0">
                          <a:solidFill>
                            <a:schemeClr val="tx1"/>
                          </a:solidFill>
                        </a:rPr>
                        <a:t>Người dùng tin danh sách “tự xử lý” mà không xem lại</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b="1" dirty="0">
                          <a:solidFill>
                            <a:schemeClr val="accent4"/>
                          </a:solidFill>
                        </a:rPr>
                        <a:t>Cao</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Đo bằng ca kiểm tra trong buổi thử; hiện lý do tự duyệt; hậu kiểm định kỳ</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457200">
                <a:tc>
                  <a:txBody>
                    <a:bodyPr/>
                    <a:lstStyle/>
                    <a:p>
                      <a:pPr indent="0" marL="0">
                        <a:buNone/>
                      </a:pPr>
                      <a:r>
                        <a:rPr lang="en-US" sz="1100" dirty="0">
                          <a:solidFill>
                            <a:schemeClr val="tx1"/>
                          </a:solidFill>
                        </a:rPr>
                        <a:t>Ngoại lệ dồn về KTT/CFO cuối tháng</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b="1" dirty="0">
                          <a:solidFill>
                            <a:schemeClr val="accent3"/>
                          </a:solidFill>
                        </a:rPr>
                        <a:t>TB</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Gộp mọi vấn đề thành một câu hỏi; công tắc dừng tự động hóa khi cần rà soát</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457200">
                <a:tc>
                  <a:txBody>
                    <a:bodyPr/>
                    <a:lstStyle/>
                    <a:p>
                      <a:pPr indent="0" marL="0">
                        <a:buNone/>
                      </a:pPr>
                      <a:r>
                        <a:rPr lang="en-US" sz="1100" dirty="0">
                          <a:solidFill>
                            <a:schemeClr val="tx1"/>
                          </a:solidFill>
                        </a:rPr>
                        <a:t>Diễn giải pháp lý của quy tắc chưa được chuyên gia thuế xác nhận</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b="1" dirty="0">
                          <a:solidFill>
                            <a:schemeClr val="accent3"/>
                          </a:solidFill>
                        </a:rPr>
                        <a:t>TB</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Mỗi quy tắc dẫn nguồn văn bản; KTT ký xác nhận bộ quy tắc trước khi dùng thật</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48640">
                <a:tc>
                  <a:txBody>
                    <a:bodyPr/>
                    <a:lstStyle/>
                    <a:p>
                      <a:pPr indent="0" marL="0">
                        <a:buNone/>
                      </a:pPr>
                      <a:r>
                        <a:rPr lang="en-US" sz="1100" dirty="0">
                          <a:solidFill>
                            <a:schemeClr val="tx1"/>
                          </a:solidFill>
                        </a:rPr>
                        <a:t>Ảnh/PDF gửi tới dịch vụ AI bên thứ ba; dữ liệu kiểm thử là tổng hợp</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b="1" dirty="0">
                          <a:solidFill>
                            <a:schemeClr val="accent3"/>
                          </a:solidFill>
                        </a:rPr>
                        <a:t>TB</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XML không qua AI; triển khai thật cần API có thỏa thuận dữ liệu; nhãn độc lập từ người dùng</a:t>
                      </a:r>
                      <a:endParaRPr lang="en-US" sz="1100" dirty="0"/>
                    </a:p>
                  </a:txBody>
                  <a:tcPr marL="54864" marR="54864" marT="54864" marB="54864" anchor="t">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bl>
          </a:graphicData>
        </a:graphic>
      </p:graphicFrame>
      <p:sp>
        <p:nvSpPr>
          <p:cNvPr id="4" name="Negative impact slot"/>
          <p:cNvSpPr/>
          <p:nvPr/>
        </p:nvSpPr>
        <p:spPr>
          <a:xfrm>
            <a:off x="6172200" y="1005840"/>
            <a:ext cx="2514600" cy="1600200"/>
          </a:xfrm>
          <a:prstGeom prst="roundRect">
            <a:avLst>
              <a:gd name="adj" fmla="val 4571"/>
            </a:avLst>
          </a:prstGeom>
          <a:solidFill>
            <a:schemeClr val="bg1"/>
          </a:solidFill>
          <a:ln w="15875">
            <a:solidFill>
              <a:schemeClr val="accent1"/>
            </a:solidFill>
            <a:prstDash val="dash"/>
          </a:ln>
        </p:spPr>
      </p:sp>
      <p:sp>
        <p:nvSpPr>
          <p:cNvPr id="5" name="Negative impact slot text"/>
          <p:cNvSpPr txBox="1"/>
          <p:nvPr/>
        </p:nvSpPr>
        <p:spPr>
          <a:xfrm>
            <a:off x="6281928" y="1060704"/>
            <a:ext cx="2295144" cy="1490472"/>
          </a:xfrm>
          <a:prstGeom prst="rect">
            <a:avLst/>
          </a:prstGeom>
          <a:noFill/>
          <a:ln/>
        </p:spPr>
        <p:txBody>
          <a:bodyPr wrap="square" lIns="0" tIns="0" rIns="0" bIns="0" rtlCol="0" anchor="ctr"/>
          <a:lstStyle/>
          <a:p>
            <a:pPr indent="0" marL="0">
              <a:buNone/>
            </a:pPr>
            <a:r>
              <a:rPr lang="en-US" sz="1100" i="1" dirty="0">
                <a:solidFill>
                  <a:schemeClr val="tx2"/>
                </a:solidFill>
              </a:rPr>
              <a:t>[Cập nhật 16/10] Tác động tiêu cực / bất cập do người dùng nêu — trích nguyên văn, kèm chức danh. (Thể lệ: “không có bất cập” = 0 điểm.)</a:t>
            </a:r>
            <a:endParaRPr lang="en-US" sz="1100" dirty="0"/>
          </a:p>
        </p:txBody>
      </p:sp>
      <p:sp>
        <p:nvSpPr>
          <p:cNvPr id="6" name="Improvement slot"/>
          <p:cNvSpPr/>
          <p:nvPr/>
        </p:nvSpPr>
        <p:spPr>
          <a:xfrm>
            <a:off x="6172200" y="2743200"/>
            <a:ext cx="2514600" cy="1280160"/>
          </a:xfrm>
          <a:prstGeom prst="roundRect">
            <a:avLst>
              <a:gd name="adj" fmla="val 5714"/>
            </a:avLst>
          </a:prstGeom>
          <a:solidFill>
            <a:schemeClr val="bg1"/>
          </a:solidFill>
          <a:ln w="15875">
            <a:solidFill>
              <a:schemeClr val="accent1"/>
            </a:solidFill>
            <a:prstDash val="dash"/>
          </a:ln>
        </p:spPr>
      </p:sp>
      <p:sp>
        <p:nvSpPr>
          <p:cNvPr id="7" name="Improvement slot text"/>
          <p:cNvSpPr txBox="1"/>
          <p:nvPr/>
        </p:nvSpPr>
        <p:spPr>
          <a:xfrm>
            <a:off x="6281928" y="2798064"/>
            <a:ext cx="2295144" cy="1170432"/>
          </a:xfrm>
          <a:prstGeom prst="rect">
            <a:avLst/>
          </a:prstGeom>
          <a:noFill/>
          <a:ln/>
        </p:spPr>
        <p:txBody>
          <a:bodyPr wrap="square" lIns="0" tIns="0" rIns="0" bIns="0" rtlCol="0" anchor="ctr"/>
          <a:lstStyle/>
          <a:p>
            <a:pPr indent="0" marL="0">
              <a:buNone/>
            </a:pPr>
            <a:r>
              <a:rPr lang="en-US" sz="1100" i="1" dirty="0">
                <a:solidFill>
                  <a:schemeClr val="tx2"/>
                </a:solidFill>
              </a:rPr>
              <a:t>[Cập nhật 16/10] Một cải tiến từ phản hồi: phản hồi gốc → thay đổi → commit &lt;hash&gt; → trước/sau.</a:t>
            </a:r>
            <a:endParaRPr lang="en-US" sz="1100" dirty="0"/>
          </a:p>
        </p:txBody>
      </p:sp>
      <p:sp>
        <p:nvSpPr>
          <p:cNvPr id="8" name="Fixed since sprint 1"/>
          <p:cNvSpPr txBox="1"/>
          <p:nvPr/>
        </p:nvSpPr>
        <p:spPr>
          <a:xfrm>
            <a:off x="457200" y="4160520"/>
            <a:ext cx="8229600" cy="457200"/>
          </a:xfrm>
          <a:prstGeom prst="rect">
            <a:avLst/>
          </a:prstGeom>
          <a:noFill/>
          <a:ln/>
        </p:spPr>
        <p:txBody>
          <a:bodyPr wrap="square" lIns="0" tIns="0" rIns="0" bIns="0" rtlCol="0" anchor="ctr"/>
          <a:lstStyle/>
          <a:p>
            <a:pPr indent="0" marL="0">
              <a:buNone/>
            </a:pPr>
            <a:r>
              <a:rPr lang="en-US" sz="1200" dirty="0">
                <a:solidFill>
                  <a:schemeClr val="tx2"/>
                </a:solidFill>
              </a:rPr>
              <a:t>Đã xử lý từ Sprint 1: lưu trên RAM → SQLite bền; XXE → chặn; leo thang quyền → chặn; test → npm test + CI.</a:t>
            </a:r>
            <a:endParaRPr lang="en-US" sz="1200" dirty="0"/>
          </a:p>
        </p:txBody>
      </p:sp>
      <p:sp>
        <p:nvSpPr>
          <p:cNvPr id="25" name="Slide Number Placeholder 0"/>
          <p:cNvSpPr>
            <a:spLocks noGrp="1"/>
          </p:cNvSpPr>
          <p:nvPr>
            <p:ph type="sldNum" sz="quarter" idx="4294967295"/>
          </p:nvPr>
        </p:nvSpPr>
        <p:spPr>
          <a:xfrm>
            <a:off x="8229600" y="475488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Tax Referee">
  <a:themeElements>
    <a:clrScheme name="Tax Referee">
      <a:dk1>
        <a:srgbClr val="0F172A"/>
      </a:dk1>
      <a:lt1>
        <a:srgbClr val="FFFFFF"/>
      </a:lt1>
      <a:dk2>
        <a:srgbClr val="334155"/>
      </a:dk2>
      <a:lt2>
        <a:srgbClr val="F1F5F9"/>
      </a:lt2>
      <a:accent1>
        <a:srgbClr val="4D7C0F"/>
      </a:accent1>
      <a:accent2>
        <a:srgbClr val="D9F99D"/>
      </a:accent2>
      <a:accent3>
        <a:srgbClr val="B45309"/>
      </a:accent3>
      <a:accent4>
        <a:srgbClr val="BE123C"/>
      </a:accent4>
      <a:accent5>
        <a:srgbClr val="6D28D9"/>
      </a:accent5>
      <a:accent6>
        <a:srgbClr val="0F766E"/>
      </a:accent6>
      <a:hlink>
        <a:srgbClr val="4D7C0F"/>
      </a:hlink>
      <a:folHlink>
        <a:srgbClr val="6D28D9"/>
      </a:folHlink>
    </a:clrScheme>
    <a:fontScheme name="Tax Refere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Tax Referee — Đề A The Escalation Referee</dc:title>
  <dc:subject>MLAI Hackathon 2026 · Track VNG</dc:subject>
  <dc:creator>Đội Fprinciples</dc:creator>
  <cp:lastModifiedBy>Đội Fprinciples</cp:lastModifiedBy>
  <cp:revision>1</cp:revision>
  <dcterms:created xsi:type="dcterms:W3CDTF">2026-10-15T11:13:42Z</dcterms:created>
  <dcterms:modified xsi:type="dcterms:W3CDTF">2026-10-15T11:13:42Z</dcterms:modified>
</cp:coreProperties>
</file>